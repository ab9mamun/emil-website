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83" r:id="rId3"/>
    <p:sldId id="280" r:id="rId4"/>
    <p:sldId id="282" r:id="rId5"/>
    <p:sldId id="285" r:id="rId6"/>
    <p:sldId id="286" r:id="rId7"/>
    <p:sldId id="281" r:id="rId8"/>
    <p:sldId id="269" r:id="rId9"/>
    <p:sldId id="276" r:id="rId10"/>
    <p:sldId id="258" r:id="rId11"/>
    <p:sldId id="287" r:id="rId12"/>
    <p:sldId id="288" r:id="rId13"/>
    <p:sldId id="279" r:id="rId14"/>
    <p:sldId id="265"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gV+A7cNk8Cg9lle7zAQBW7D5eN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302" autoAdjust="0"/>
  </p:normalViewPr>
  <p:slideViewPr>
    <p:cSldViewPr snapToGrid="0">
      <p:cViewPr varScale="1">
        <p:scale>
          <a:sx n="85" d="100"/>
          <a:sy n="85" d="100"/>
        </p:scale>
        <p:origin x="155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notesMaster" Target="notesMasters/notesMaster1.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Kim" userId="f3af028d46f0bb00" providerId="LiveId" clId="{65DA6EE4-C713-4EBA-B503-F8294E0DF8CB}"/>
    <pc:docChg chg="undo redo custSel addSld delSld modSld sldOrd">
      <pc:chgData name="Eric Kim" userId="f3af028d46f0bb00" providerId="LiveId" clId="{65DA6EE4-C713-4EBA-B503-F8294E0DF8CB}" dt="2025-11-25T01:43:42.700" v="12165" actId="20577"/>
      <pc:docMkLst>
        <pc:docMk/>
      </pc:docMkLst>
      <pc:sldChg chg="modSp mod">
        <pc:chgData name="Eric Kim" userId="f3af028d46f0bb00" providerId="LiveId" clId="{65DA6EE4-C713-4EBA-B503-F8294E0DF8CB}" dt="2025-11-10T00:18:01.669" v="1386" actId="404"/>
        <pc:sldMkLst>
          <pc:docMk/>
          <pc:sldMk cId="0" sldId="256"/>
        </pc:sldMkLst>
        <pc:spChg chg="mod">
          <ac:chgData name="Eric Kim" userId="f3af028d46f0bb00" providerId="LiveId" clId="{65DA6EE4-C713-4EBA-B503-F8294E0DF8CB}" dt="2025-11-10T00:18:01.669" v="1386" actId="404"/>
          <ac:spMkLst>
            <pc:docMk/>
            <pc:sldMk cId="0" sldId="256"/>
            <ac:spMk id="101" creationId="{00000000-0000-0000-0000-000000000000}"/>
          </ac:spMkLst>
        </pc:spChg>
      </pc:sldChg>
      <pc:sldChg chg="addSp delSp modSp mod modNotesTx">
        <pc:chgData name="Eric Kim" userId="f3af028d46f0bb00" providerId="LiveId" clId="{65DA6EE4-C713-4EBA-B503-F8294E0DF8CB}" dt="2025-11-10T03:20:12.512" v="5251" actId="20577"/>
        <pc:sldMkLst>
          <pc:docMk/>
          <pc:sldMk cId="0" sldId="258"/>
        </pc:sldMkLst>
        <pc:spChg chg="mod">
          <ac:chgData name="Eric Kim" userId="f3af028d46f0bb00" providerId="LiveId" clId="{65DA6EE4-C713-4EBA-B503-F8294E0DF8CB}" dt="2025-11-10T01:20:48.255" v="3405" actId="20577"/>
          <ac:spMkLst>
            <pc:docMk/>
            <pc:sldMk cId="0" sldId="258"/>
            <ac:spMk id="113" creationId="{00000000-0000-0000-0000-000000000000}"/>
          </ac:spMkLst>
        </pc:spChg>
        <pc:graphicFrameChg chg="add mod modGraphic">
          <ac:chgData name="Eric Kim" userId="f3af028d46f0bb00" providerId="LiveId" clId="{65DA6EE4-C713-4EBA-B503-F8294E0DF8CB}" dt="2025-11-10T03:13:18.817" v="4725" actId="2165"/>
          <ac:graphicFrameMkLst>
            <pc:docMk/>
            <pc:sldMk cId="0" sldId="258"/>
            <ac:graphicFrameMk id="2" creationId="{A3E66161-5D03-F57A-A373-51FBF5D118FE}"/>
          </ac:graphicFrameMkLst>
        </pc:graphicFrameChg>
      </pc:sldChg>
      <pc:sldChg chg="modSp mod modNotesTx">
        <pc:chgData name="Eric Kim" userId="f3af028d46f0bb00" providerId="LiveId" clId="{65DA6EE4-C713-4EBA-B503-F8294E0DF8CB}" dt="2025-11-10T04:02:35.624" v="6276" actId="20577"/>
        <pc:sldMkLst>
          <pc:docMk/>
          <pc:sldMk cId="3718560053" sldId="269"/>
        </pc:sldMkLst>
        <pc:spChg chg="mod">
          <ac:chgData name="Eric Kim" userId="f3af028d46f0bb00" providerId="LiveId" clId="{65DA6EE4-C713-4EBA-B503-F8294E0DF8CB}" dt="2025-11-10T03:21:08.946" v="5276" actId="20577"/>
          <ac:spMkLst>
            <pc:docMk/>
            <pc:sldMk cId="3718560053" sldId="269"/>
            <ac:spMk id="119" creationId="{AA47B138-A989-95F0-A5C4-B2EF27516315}"/>
          </ac:spMkLst>
        </pc:spChg>
        <pc:spChg chg="mod">
          <ac:chgData name="Eric Kim" userId="f3af028d46f0bb00" providerId="LiveId" clId="{65DA6EE4-C713-4EBA-B503-F8294E0DF8CB}" dt="2025-11-10T03:47:30.198" v="5739" actId="20577"/>
          <ac:spMkLst>
            <pc:docMk/>
            <pc:sldMk cId="3718560053" sldId="269"/>
            <ac:spMk id="120" creationId="{2D8DEB7E-5267-747E-BF33-7AF3A9FC3CD9}"/>
          </ac:spMkLst>
        </pc:spChg>
      </pc:sldChg>
      <pc:sldChg chg="modSp mod modNotesTx">
        <pc:chgData name="Eric Kim" userId="f3af028d46f0bb00" providerId="LiveId" clId="{65DA6EE4-C713-4EBA-B503-F8294E0DF8CB}" dt="2025-11-25T00:43:06.468" v="11852" actId="20577"/>
        <pc:sldMkLst>
          <pc:docMk/>
          <pc:sldMk cId="2739310943" sldId="280"/>
        </pc:sldMkLst>
        <pc:spChg chg="mod">
          <ac:chgData name="Eric Kim" userId="f3af028d46f0bb00" providerId="LiveId" clId="{65DA6EE4-C713-4EBA-B503-F8294E0DF8CB}" dt="2025-11-25T00:40:09.594" v="11252" actId="27636"/>
          <ac:spMkLst>
            <pc:docMk/>
            <pc:sldMk cId="2739310943" sldId="280"/>
            <ac:spMk id="3" creationId="{50FF7F81-4EF7-C2AB-1A53-F25CFF13CA4F}"/>
          </ac:spMkLst>
        </pc:spChg>
      </pc:sldChg>
      <pc:sldChg chg="addSp delSp modSp mod">
        <pc:chgData name="Eric Kim" userId="f3af028d46f0bb00" providerId="LiveId" clId="{65DA6EE4-C713-4EBA-B503-F8294E0DF8CB}" dt="2025-11-25T00:02:29.447" v="8215" actId="14734"/>
        <pc:sldMkLst>
          <pc:docMk/>
          <pc:sldMk cId="3706283091" sldId="281"/>
        </pc:sldMkLst>
        <pc:spChg chg="del">
          <ac:chgData name="Eric Kim" userId="f3af028d46f0bb00" providerId="LiveId" clId="{65DA6EE4-C713-4EBA-B503-F8294E0DF8CB}" dt="2025-11-24T03:27:47.140" v="7973" actId="478"/>
          <ac:spMkLst>
            <pc:docMk/>
            <pc:sldMk cId="3706283091" sldId="281"/>
            <ac:spMk id="3" creationId="{CE935F44-E525-69BF-18FC-4DB52BD199C3}"/>
          </ac:spMkLst>
        </pc:spChg>
        <pc:graphicFrameChg chg="add mod modGraphic">
          <ac:chgData name="Eric Kim" userId="f3af028d46f0bb00" providerId="LiveId" clId="{65DA6EE4-C713-4EBA-B503-F8294E0DF8CB}" dt="2025-11-25T00:02:29.447" v="8215" actId="14734"/>
          <ac:graphicFrameMkLst>
            <pc:docMk/>
            <pc:sldMk cId="3706283091" sldId="281"/>
            <ac:graphicFrameMk id="4" creationId="{85CDD176-EB12-C682-B45B-56444F522933}"/>
          </ac:graphicFrameMkLst>
        </pc:graphicFrameChg>
      </pc:sldChg>
      <pc:sldChg chg="modNotesTx">
        <pc:chgData name="Eric Kim" userId="f3af028d46f0bb00" providerId="LiveId" clId="{65DA6EE4-C713-4EBA-B503-F8294E0DF8CB}" dt="2025-11-25T00:20:35.779" v="9988" actId="20577"/>
        <pc:sldMkLst>
          <pc:docMk/>
          <pc:sldMk cId="830663830" sldId="283"/>
        </pc:sldMkLst>
      </pc:sldChg>
      <pc:sldChg chg="modSp new mod">
        <pc:chgData name="Eric Kim" userId="f3af028d46f0bb00" providerId="LiveId" clId="{65DA6EE4-C713-4EBA-B503-F8294E0DF8CB}" dt="2025-11-25T00:04:40.921" v="8436" actId="20577"/>
        <pc:sldMkLst>
          <pc:docMk/>
          <pc:sldMk cId="172445108" sldId="284"/>
        </pc:sldMkLst>
        <pc:spChg chg="mod">
          <ac:chgData name="Eric Kim" userId="f3af028d46f0bb00" providerId="LiveId" clId="{65DA6EE4-C713-4EBA-B503-F8294E0DF8CB}" dt="2025-11-25T00:03:42.461" v="8238" actId="20577"/>
          <ac:spMkLst>
            <pc:docMk/>
            <pc:sldMk cId="172445108" sldId="284"/>
            <ac:spMk id="2" creationId="{773D903C-0111-DF0C-B707-F7A101813B72}"/>
          </ac:spMkLst>
        </pc:spChg>
        <pc:spChg chg="mod">
          <ac:chgData name="Eric Kim" userId="f3af028d46f0bb00" providerId="LiveId" clId="{65DA6EE4-C713-4EBA-B503-F8294E0DF8CB}" dt="2025-11-25T00:04:40.921" v="8436" actId="20577"/>
          <ac:spMkLst>
            <pc:docMk/>
            <pc:sldMk cId="172445108" sldId="284"/>
            <ac:spMk id="3" creationId="{CB0E8324-AC77-F273-F097-E5C863375E59}"/>
          </ac:spMkLst>
        </pc:spChg>
      </pc:sldChg>
      <pc:sldChg chg="modSp new mod">
        <pc:chgData name="Eric Kim" userId="f3af028d46f0bb00" providerId="LiveId" clId="{65DA6EE4-C713-4EBA-B503-F8294E0DF8CB}" dt="2025-11-25T01:43:42.700" v="12165" actId="20577"/>
        <pc:sldMkLst>
          <pc:docMk/>
          <pc:sldMk cId="2462981176" sldId="285"/>
        </pc:sldMkLst>
        <pc:spChg chg="mod">
          <ac:chgData name="Eric Kim" userId="f3af028d46f0bb00" providerId="LiveId" clId="{65DA6EE4-C713-4EBA-B503-F8294E0DF8CB}" dt="2025-11-25T00:32:44.510" v="10600" actId="20577"/>
          <ac:spMkLst>
            <pc:docMk/>
            <pc:sldMk cId="2462981176" sldId="285"/>
            <ac:spMk id="2" creationId="{7762616F-491C-9641-1FCC-CDB6EA3FF635}"/>
          </ac:spMkLst>
        </pc:spChg>
        <pc:spChg chg="mod">
          <ac:chgData name="Eric Kim" userId="f3af028d46f0bb00" providerId="LiveId" clId="{65DA6EE4-C713-4EBA-B503-F8294E0DF8CB}" dt="2025-11-25T01:43:42.700" v="12165" actId="20577"/>
          <ac:spMkLst>
            <pc:docMk/>
            <pc:sldMk cId="2462981176" sldId="285"/>
            <ac:spMk id="3" creationId="{FC8D5803-10F7-A572-8B6F-A96A1CD9DA38}"/>
          </ac:spMkLst>
        </pc:spChg>
      </pc:sldChg>
    </pc:docChg>
  </pc:docChgLst>
  <pc:docChgLst>
    <pc:chgData name="Eric Kim" userId="f3af028d46f0bb00" providerId="LiveId" clId="{1E1C29BC-925D-412A-8126-C21905786C34}"/>
    <pc:docChg chg="undo redo custSel addSld delSld modSld sldOrd">
      <pc:chgData name="Eric Kim" userId="f3af028d46f0bb00" providerId="LiveId" clId="{1E1C29BC-925D-412A-8126-C21905786C34}" dt="2025-11-25T08:38:10.575" v="18119" actId="20577"/>
      <pc:docMkLst>
        <pc:docMk/>
      </pc:docMkLst>
      <pc:sldChg chg="modNotesTx">
        <pc:chgData name="Eric Kim" userId="f3af028d46f0bb00" providerId="LiveId" clId="{1E1C29BC-925D-412A-8126-C21905786C34}" dt="2025-11-21T20:44:24.532" v="7053" actId="20577"/>
        <pc:sldMkLst>
          <pc:docMk/>
          <pc:sldMk cId="0" sldId="256"/>
        </pc:sldMkLst>
      </pc:sldChg>
      <pc:sldChg chg="modSp mod ord">
        <pc:chgData name="Eric Kim" userId="f3af028d46f0bb00" providerId="LiveId" clId="{1E1C29BC-925D-412A-8126-C21905786C34}" dt="2025-11-25T07:38:55.636" v="14558"/>
        <pc:sldMkLst>
          <pc:docMk/>
          <pc:sldMk cId="0" sldId="258"/>
        </pc:sldMkLst>
      </pc:sldChg>
      <pc:sldChg chg="addSp modSp mod">
        <pc:chgData name="Eric Kim" userId="f3af028d46f0bb00" providerId="LiveId" clId="{1E1C29BC-925D-412A-8126-C21905786C34}" dt="2025-11-25T07:28:17.358" v="13213" actId="12"/>
        <pc:sldMkLst>
          <pc:docMk/>
          <pc:sldMk cId="0" sldId="265"/>
        </pc:sldMkLst>
        <pc:spChg chg="add">
          <ac:chgData name="Eric Kim" userId="f3af028d46f0bb00" providerId="LiveId" clId="{1E1C29BC-925D-412A-8126-C21905786C34}" dt="2025-11-25T07:23:05.013" v="13137"/>
          <ac:spMkLst>
            <pc:docMk/>
            <pc:sldMk cId="0" sldId="265"/>
            <ac:spMk id="2" creationId="{C01A63C8-75BB-7DA0-B80D-C00782B97AF2}"/>
          </ac:spMkLst>
        </pc:spChg>
        <pc:spChg chg="add">
          <ac:chgData name="Eric Kim" userId="f3af028d46f0bb00" providerId="LiveId" clId="{1E1C29BC-925D-412A-8126-C21905786C34}" dt="2025-11-25T07:23:11.812" v="13138"/>
          <ac:spMkLst>
            <pc:docMk/>
            <pc:sldMk cId="0" sldId="265"/>
            <ac:spMk id="3" creationId="{82D0CC43-99D1-0F5C-2B76-8826492E6A53}"/>
          </ac:spMkLst>
        </pc:spChg>
        <pc:spChg chg="mod">
          <ac:chgData name="Eric Kim" userId="f3af028d46f0bb00" providerId="LiveId" clId="{1E1C29BC-925D-412A-8126-C21905786C34}" dt="2025-11-25T07:28:17.358" v="13213" actId="12"/>
          <ac:spMkLst>
            <pc:docMk/>
            <pc:sldMk cId="0" sldId="265"/>
            <ac:spMk id="160" creationId="{00000000-0000-0000-0000-000000000000}"/>
          </ac:spMkLst>
        </pc:spChg>
      </pc:sldChg>
      <pc:sldChg chg="modSp mod modNotesTx">
        <pc:chgData name="Eric Kim" userId="f3af028d46f0bb00" providerId="LiveId" clId="{1E1C29BC-925D-412A-8126-C21905786C34}" dt="2025-11-25T07:31:34.135" v="13290" actId="20577"/>
        <pc:sldMkLst>
          <pc:docMk/>
          <pc:sldMk cId="3718560053" sldId="269"/>
        </pc:sldMkLst>
        <pc:spChg chg="mod">
          <ac:chgData name="Eric Kim" userId="f3af028d46f0bb00" providerId="LiveId" clId="{1E1C29BC-925D-412A-8126-C21905786C34}" dt="2025-11-25T07:30:27.376" v="13230" actId="20577"/>
          <ac:spMkLst>
            <pc:docMk/>
            <pc:sldMk cId="3718560053" sldId="269"/>
            <ac:spMk id="119" creationId="{AA47B138-A989-95F0-A5C4-B2EF27516315}"/>
          </ac:spMkLst>
        </pc:spChg>
        <pc:spChg chg="mod">
          <ac:chgData name="Eric Kim" userId="f3af028d46f0bb00" providerId="LiveId" clId="{1E1C29BC-925D-412A-8126-C21905786C34}" dt="2025-11-25T07:31:00.270" v="13254" actId="20577"/>
          <ac:spMkLst>
            <pc:docMk/>
            <pc:sldMk cId="3718560053" sldId="269"/>
            <ac:spMk id="120" creationId="{2D8DEB7E-5267-747E-BF33-7AF3A9FC3CD9}"/>
          </ac:spMkLst>
        </pc:spChg>
      </pc:sldChg>
      <pc:sldChg chg="addSp delSp modSp del mod">
        <pc:chgData name="Eric Kim" userId="f3af028d46f0bb00" providerId="LiveId" clId="{1E1C29BC-925D-412A-8126-C21905786C34}" dt="2025-11-25T07:49:32.815" v="15239" actId="47"/>
        <pc:sldMkLst>
          <pc:docMk/>
          <pc:sldMk cId="4021483494" sldId="271"/>
        </pc:sldMkLst>
      </pc:sldChg>
      <pc:sldChg chg="del ord">
        <pc:chgData name="Eric Kim" userId="f3af028d46f0bb00" providerId="LiveId" clId="{1E1C29BC-925D-412A-8126-C21905786C34}" dt="2025-11-25T07:49:19.255" v="15238" actId="47"/>
        <pc:sldMkLst>
          <pc:docMk/>
          <pc:sldMk cId="3622170685" sldId="274"/>
        </pc:sldMkLst>
      </pc:sldChg>
      <pc:sldChg chg="modSp del mod ord modNotesTx">
        <pc:chgData name="Eric Kim" userId="f3af028d46f0bb00" providerId="LiveId" clId="{1E1C29BC-925D-412A-8126-C21905786C34}" dt="2025-11-25T07:40:40.623" v="14663" actId="47"/>
        <pc:sldMkLst>
          <pc:docMk/>
          <pc:sldMk cId="3287005452" sldId="275"/>
        </pc:sldMkLst>
      </pc:sldChg>
      <pc:sldChg chg="addSp delSp modSp new mod modNotesTx">
        <pc:chgData name="Eric Kim" userId="f3af028d46f0bb00" providerId="LiveId" clId="{1E1C29BC-925D-412A-8126-C21905786C34}" dt="2025-11-25T07:40:18.435" v="14660" actId="20577"/>
        <pc:sldMkLst>
          <pc:docMk/>
          <pc:sldMk cId="429639562" sldId="276"/>
        </pc:sldMkLst>
        <pc:spChg chg="mod">
          <ac:chgData name="Eric Kim" userId="f3af028d46f0bb00" providerId="LiveId" clId="{1E1C29BC-925D-412A-8126-C21905786C34}" dt="2025-11-25T07:31:19.857" v="13255"/>
          <ac:spMkLst>
            <pc:docMk/>
            <pc:sldMk cId="429639562" sldId="276"/>
            <ac:spMk id="2" creationId="{C88B8DA4-EBC7-1363-B748-FDC7FCE34A2C}"/>
          </ac:spMkLst>
        </pc:spChg>
        <pc:spChg chg="add mod">
          <ac:chgData name="Eric Kim" userId="f3af028d46f0bb00" providerId="LiveId" clId="{1E1C29BC-925D-412A-8126-C21905786C34}" dt="2025-11-12T20:16:20.955" v="6952" actId="20577"/>
          <ac:spMkLst>
            <pc:docMk/>
            <pc:sldMk cId="429639562" sldId="276"/>
            <ac:spMk id="6" creationId="{BB000194-4CB8-78CA-E985-F70420E62919}"/>
          </ac:spMkLst>
        </pc:spChg>
        <pc:graphicFrameChg chg="add mod modGraphic">
          <ac:chgData name="Eric Kim" userId="f3af028d46f0bb00" providerId="LiveId" clId="{1E1C29BC-925D-412A-8126-C21905786C34}" dt="2025-11-12T20:11:34.137" v="6699" actId="1076"/>
          <ac:graphicFrameMkLst>
            <pc:docMk/>
            <pc:sldMk cId="429639562" sldId="276"/>
            <ac:graphicFrameMk id="5" creationId="{93A5D70C-905C-15ED-2F72-53942597BBFB}"/>
          </ac:graphicFrameMkLst>
        </pc:graphicFrameChg>
      </pc:sldChg>
      <pc:sldChg chg="modSp add del mod modNotesTx">
        <pc:chgData name="Eric Kim" userId="f3af028d46f0bb00" providerId="LiveId" clId="{1E1C29BC-925D-412A-8126-C21905786C34}" dt="2025-11-25T08:31:20.460" v="17213" actId="47"/>
        <pc:sldMkLst>
          <pc:docMk/>
          <pc:sldMk cId="3789116462" sldId="277"/>
        </pc:sldMkLst>
        <pc:spChg chg="mod">
          <ac:chgData name="Eric Kim" userId="f3af028d46f0bb00" providerId="LiveId" clId="{1E1C29BC-925D-412A-8126-C21905786C34}" dt="2025-11-25T08:31:10.732" v="17204" actId="20577"/>
          <ac:spMkLst>
            <pc:docMk/>
            <pc:sldMk cId="3789116462" sldId="277"/>
            <ac:spMk id="119" creationId="{9EE773B3-4BFC-2CAD-EB86-3EA0EA44294D}"/>
          </ac:spMkLst>
        </pc:spChg>
      </pc:sldChg>
      <pc:sldChg chg="modSp add del mod">
        <pc:chgData name="Eric Kim" userId="f3af028d46f0bb00" providerId="LiveId" clId="{1E1C29BC-925D-412A-8126-C21905786C34}" dt="2025-11-25T07:49:34.681" v="15240" actId="47"/>
        <pc:sldMkLst>
          <pc:docMk/>
          <pc:sldMk cId="17265357" sldId="278"/>
        </pc:sldMkLst>
      </pc:sldChg>
      <pc:sldChg chg="modSp add mod modNotesTx">
        <pc:chgData name="Eric Kim" userId="f3af028d46f0bb00" providerId="LiveId" clId="{1E1C29BC-925D-412A-8126-C21905786C34}" dt="2025-11-25T07:50:09.822" v="15329" actId="20577"/>
        <pc:sldMkLst>
          <pc:docMk/>
          <pc:sldMk cId="2464023436" sldId="279"/>
        </pc:sldMkLst>
        <pc:spChg chg="mod">
          <ac:chgData name="Eric Kim" userId="f3af028d46f0bb00" providerId="LiveId" clId="{1E1C29BC-925D-412A-8126-C21905786C34}" dt="2025-11-10T06:49:09.293" v="6486" actId="20577"/>
          <ac:spMkLst>
            <pc:docMk/>
            <pc:sldMk cId="2464023436" sldId="279"/>
            <ac:spMk id="2" creationId="{0730D627-0400-8B15-39F1-D2EC118893BF}"/>
          </ac:spMkLst>
        </pc:spChg>
        <pc:spChg chg="mod">
          <ac:chgData name="Eric Kim" userId="f3af028d46f0bb00" providerId="LiveId" clId="{1E1C29BC-925D-412A-8126-C21905786C34}" dt="2025-11-10T06:42:03.680" v="5878" actId="20577"/>
          <ac:spMkLst>
            <pc:docMk/>
            <pc:sldMk cId="2464023436" sldId="279"/>
            <ac:spMk id="119" creationId="{710D85B3-9E3F-304B-A8B1-E78D8B87C6E9}"/>
          </ac:spMkLst>
        </pc:spChg>
      </pc:sldChg>
      <pc:sldChg chg="modSp new mod ord modNotesTx">
        <pc:chgData name="Eric Kim" userId="f3af028d46f0bb00" providerId="LiveId" clId="{1E1C29BC-925D-412A-8126-C21905786C34}" dt="2025-11-21T22:02:14.946" v="9603" actId="20577"/>
        <pc:sldMkLst>
          <pc:docMk/>
          <pc:sldMk cId="2739310943" sldId="280"/>
        </pc:sldMkLst>
        <pc:spChg chg="mod">
          <ac:chgData name="Eric Kim" userId="f3af028d46f0bb00" providerId="LiveId" clId="{1E1C29BC-925D-412A-8126-C21905786C34}" dt="2025-11-21T21:13:54.776" v="7865" actId="20577"/>
          <ac:spMkLst>
            <pc:docMk/>
            <pc:sldMk cId="2739310943" sldId="280"/>
            <ac:spMk id="2" creationId="{FB9D2920-0220-641A-CD1E-268C86154DD9}"/>
          </ac:spMkLst>
        </pc:spChg>
        <pc:spChg chg="mod">
          <ac:chgData name="Eric Kim" userId="f3af028d46f0bb00" providerId="LiveId" clId="{1E1C29BC-925D-412A-8126-C21905786C34}" dt="2025-11-21T21:39:28.246" v="8585" actId="20577"/>
          <ac:spMkLst>
            <pc:docMk/>
            <pc:sldMk cId="2739310943" sldId="280"/>
            <ac:spMk id="3" creationId="{50FF7F81-4EF7-C2AB-1A53-F25CFF13CA4F}"/>
          </ac:spMkLst>
        </pc:spChg>
      </pc:sldChg>
      <pc:sldChg chg="addSp delSp modSp new mod modNotesTx">
        <pc:chgData name="Eric Kim" userId="f3af028d46f0bb00" providerId="LiveId" clId="{1E1C29BC-925D-412A-8126-C21905786C34}" dt="2025-11-25T07:29:53.315" v="13222" actId="20577"/>
        <pc:sldMkLst>
          <pc:docMk/>
          <pc:sldMk cId="3706283091" sldId="281"/>
        </pc:sldMkLst>
        <pc:spChg chg="mod">
          <ac:chgData name="Eric Kim" userId="f3af028d46f0bb00" providerId="LiveId" clId="{1E1C29BC-925D-412A-8126-C21905786C34}" dt="2025-11-21T20:44:45.138" v="7084" actId="20577"/>
          <ac:spMkLst>
            <pc:docMk/>
            <pc:sldMk cId="3706283091" sldId="281"/>
            <ac:spMk id="2" creationId="{83EE3CF3-C806-BA96-5973-EC0BD0DBEB5E}"/>
          </ac:spMkLst>
        </pc:spChg>
        <pc:graphicFrameChg chg="add mod modGraphic">
          <ac:chgData name="Eric Kim" userId="f3af028d46f0bb00" providerId="LiveId" clId="{1E1C29BC-925D-412A-8126-C21905786C34}" dt="2025-11-25T07:14:40.006" v="13066" actId="20577"/>
          <ac:graphicFrameMkLst>
            <pc:docMk/>
            <pc:sldMk cId="3706283091" sldId="281"/>
            <ac:graphicFrameMk id="3" creationId="{6B0862C9-53F8-9662-D81D-8C05410F4C17}"/>
          </ac:graphicFrameMkLst>
        </pc:graphicFrameChg>
        <pc:graphicFrameChg chg="del">
          <ac:chgData name="Eric Kim" userId="f3af028d46f0bb00" providerId="LiveId" clId="{1E1C29BC-925D-412A-8126-C21905786C34}" dt="2025-11-25T06:32:38.065" v="10009" actId="478"/>
          <ac:graphicFrameMkLst>
            <pc:docMk/>
            <pc:sldMk cId="3706283091" sldId="281"/>
            <ac:graphicFrameMk id="4" creationId="{85CDD176-EB12-C682-B45B-56444F522933}"/>
          </ac:graphicFrameMkLst>
        </pc:graphicFrameChg>
      </pc:sldChg>
      <pc:sldChg chg="addSp delSp modSp new mod ord modNotesTx">
        <pc:chgData name="Eric Kim" userId="f3af028d46f0bb00" providerId="LiveId" clId="{1E1C29BC-925D-412A-8126-C21905786C34}" dt="2025-11-25T07:10:39.843" v="13065" actId="20577"/>
        <pc:sldMkLst>
          <pc:docMk/>
          <pc:sldMk cId="14366233" sldId="282"/>
        </pc:sldMkLst>
        <pc:spChg chg="mod">
          <ac:chgData name="Eric Kim" userId="f3af028d46f0bb00" providerId="LiveId" clId="{1E1C29BC-925D-412A-8126-C21905786C34}" dt="2025-11-25T07:00:03.158" v="11194" actId="20577"/>
          <ac:spMkLst>
            <pc:docMk/>
            <pc:sldMk cId="14366233" sldId="282"/>
            <ac:spMk id="2" creationId="{09EB262F-F4F2-C48E-8794-BFA108B02EAB}"/>
          </ac:spMkLst>
        </pc:spChg>
        <pc:spChg chg="mod">
          <ac:chgData name="Eric Kim" userId="f3af028d46f0bb00" providerId="LiveId" clId="{1E1C29BC-925D-412A-8126-C21905786C34}" dt="2025-11-25T06:59:10.658" v="10987" actId="20577"/>
          <ac:spMkLst>
            <pc:docMk/>
            <pc:sldMk cId="14366233" sldId="282"/>
            <ac:spMk id="3" creationId="{508E157D-8603-067F-B722-5CDCAE0D889C}"/>
          </ac:spMkLst>
        </pc:spChg>
      </pc:sldChg>
      <pc:sldChg chg="modSp new mod modNotesTx">
        <pc:chgData name="Eric Kim" userId="f3af028d46f0bb00" providerId="LiveId" clId="{1E1C29BC-925D-412A-8126-C21905786C34}" dt="2025-11-21T22:01:39.201" v="9416" actId="20577"/>
        <pc:sldMkLst>
          <pc:docMk/>
          <pc:sldMk cId="830663830" sldId="283"/>
        </pc:sldMkLst>
        <pc:spChg chg="mod">
          <ac:chgData name="Eric Kim" userId="f3af028d46f0bb00" providerId="LiveId" clId="{1E1C29BC-925D-412A-8126-C21905786C34}" dt="2025-11-21T20:50:33.949" v="7118" actId="20577"/>
          <ac:spMkLst>
            <pc:docMk/>
            <pc:sldMk cId="830663830" sldId="283"/>
            <ac:spMk id="2" creationId="{798A2580-F4B9-D60E-7628-6D0AB0379CEC}"/>
          </ac:spMkLst>
        </pc:spChg>
        <pc:spChg chg="mod">
          <ac:chgData name="Eric Kim" userId="f3af028d46f0bb00" providerId="LiveId" clId="{1E1C29BC-925D-412A-8126-C21905786C34}" dt="2025-11-21T21:41:32.757" v="8741" actId="20577"/>
          <ac:spMkLst>
            <pc:docMk/>
            <pc:sldMk cId="830663830" sldId="283"/>
            <ac:spMk id="3" creationId="{D4A536D0-F6B9-D5AA-12C9-126D470FA26A}"/>
          </ac:spMkLst>
        </pc:spChg>
      </pc:sldChg>
      <pc:sldChg chg="del">
        <pc:chgData name="Eric Kim" userId="f3af028d46f0bb00" providerId="LiveId" clId="{1E1C29BC-925D-412A-8126-C21905786C34}" dt="2025-11-25T07:30:08.302" v="13223" actId="47"/>
        <pc:sldMkLst>
          <pc:docMk/>
          <pc:sldMk cId="172445108" sldId="284"/>
        </pc:sldMkLst>
      </pc:sldChg>
      <pc:sldChg chg="modSp mod modNotesTx">
        <pc:chgData name="Eric Kim" userId="f3af028d46f0bb00" providerId="LiveId" clId="{1E1C29BC-925D-412A-8126-C21905786C34}" dt="2025-11-25T06:49:50.969" v="10576" actId="20577"/>
        <pc:sldMkLst>
          <pc:docMk/>
          <pc:sldMk cId="2462981176" sldId="285"/>
        </pc:sldMkLst>
        <pc:spChg chg="mod">
          <ac:chgData name="Eric Kim" userId="f3af028d46f0bb00" providerId="LiveId" clId="{1E1C29BC-925D-412A-8126-C21905786C34}" dt="2025-11-25T06:49:50.969" v="10576" actId="20577"/>
          <ac:spMkLst>
            <pc:docMk/>
            <pc:sldMk cId="2462981176" sldId="285"/>
            <ac:spMk id="2" creationId="{7762616F-491C-9641-1FCC-CDB6EA3FF635}"/>
          </ac:spMkLst>
        </pc:spChg>
        <pc:spChg chg="mod">
          <ac:chgData name="Eric Kim" userId="f3af028d46f0bb00" providerId="LiveId" clId="{1E1C29BC-925D-412A-8126-C21905786C34}" dt="2025-11-25T06:37:34.591" v="10562" actId="20577"/>
          <ac:spMkLst>
            <pc:docMk/>
            <pc:sldMk cId="2462981176" sldId="285"/>
            <ac:spMk id="3" creationId="{FC8D5803-10F7-A572-8B6F-A96A1CD9DA38}"/>
          </ac:spMkLst>
        </pc:spChg>
      </pc:sldChg>
      <pc:sldChg chg="modSp new mod modNotesTx">
        <pc:chgData name="Eric Kim" userId="f3af028d46f0bb00" providerId="LiveId" clId="{1E1C29BC-925D-412A-8126-C21905786C34}" dt="2025-11-25T06:57:59.064" v="10968" actId="20577"/>
        <pc:sldMkLst>
          <pc:docMk/>
          <pc:sldMk cId="1047817318" sldId="286"/>
        </pc:sldMkLst>
        <pc:spChg chg="mod">
          <ac:chgData name="Eric Kim" userId="f3af028d46f0bb00" providerId="LiveId" clId="{1E1C29BC-925D-412A-8126-C21905786C34}" dt="2025-11-25T06:49:48.837" v="10575" actId="20577"/>
          <ac:spMkLst>
            <pc:docMk/>
            <pc:sldMk cId="1047817318" sldId="286"/>
            <ac:spMk id="2" creationId="{807630BC-7AEA-4394-A605-38984CBA30E2}"/>
          </ac:spMkLst>
        </pc:spChg>
        <pc:spChg chg="mod">
          <ac:chgData name="Eric Kim" userId="f3af028d46f0bb00" providerId="LiveId" clId="{1E1C29BC-925D-412A-8126-C21905786C34}" dt="2025-11-25T06:57:00.597" v="10941" actId="20577"/>
          <ac:spMkLst>
            <pc:docMk/>
            <pc:sldMk cId="1047817318" sldId="286"/>
            <ac:spMk id="3" creationId="{63C1AB7B-BCD2-D703-DAAC-595B6EB59097}"/>
          </ac:spMkLst>
        </pc:spChg>
      </pc:sldChg>
      <pc:sldChg chg="modSp new mod ord modNotesTx">
        <pc:chgData name="Eric Kim" userId="f3af028d46f0bb00" providerId="LiveId" clId="{1E1C29BC-925D-412A-8126-C21905786C34}" dt="2025-11-25T08:30:33.600" v="17193" actId="20577"/>
        <pc:sldMkLst>
          <pc:docMk/>
          <pc:sldMk cId="1628329709" sldId="287"/>
        </pc:sldMkLst>
        <pc:spChg chg="mod">
          <ac:chgData name="Eric Kim" userId="f3af028d46f0bb00" providerId="LiveId" clId="{1E1C29BC-925D-412A-8126-C21905786C34}" dt="2025-11-25T07:40:58.881" v="14686" actId="20577"/>
          <ac:spMkLst>
            <pc:docMk/>
            <pc:sldMk cId="1628329709" sldId="287"/>
            <ac:spMk id="2" creationId="{5E5E1533-08C9-6352-6E6D-8EFA1136BEE0}"/>
          </ac:spMkLst>
        </pc:spChg>
        <pc:spChg chg="mod">
          <ac:chgData name="Eric Kim" userId="f3af028d46f0bb00" providerId="LiveId" clId="{1E1C29BC-925D-412A-8126-C21905786C34}" dt="2025-11-25T08:20:35.247" v="16269" actId="20577"/>
          <ac:spMkLst>
            <pc:docMk/>
            <pc:sldMk cId="1628329709" sldId="287"/>
            <ac:spMk id="3" creationId="{8098B237-D2C4-DAD0-5B3A-9A081B9CA96E}"/>
          </ac:spMkLst>
        </pc:spChg>
      </pc:sldChg>
      <pc:sldChg chg="add del">
        <pc:chgData name="Eric Kim" userId="f3af028d46f0bb00" providerId="LiveId" clId="{1E1C29BC-925D-412A-8126-C21905786C34}" dt="2025-11-25T07:54:01.444" v="15478" actId="47"/>
        <pc:sldMkLst>
          <pc:docMk/>
          <pc:sldMk cId="1645274815" sldId="288"/>
        </pc:sldMkLst>
      </pc:sldChg>
      <pc:sldChg chg="addSp modSp new mod">
        <pc:chgData name="Eric Kim" userId="f3af028d46f0bb00" providerId="LiveId" clId="{1E1C29BC-925D-412A-8126-C21905786C34}" dt="2025-11-25T08:38:10.575" v="18119" actId="20577"/>
        <pc:sldMkLst>
          <pc:docMk/>
          <pc:sldMk cId="2779567230" sldId="288"/>
        </pc:sldMkLst>
        <pc:spChg chg="mod">
          <ac:chgData name="Eric Kim" userId="f3af028d46f0bb00" providerId="LiveId" clId="{1E1C29BC-925D-412A-8126-C21905786C34}" dt="2025-11-25T08:31:16.910" v="17212" actId="20577"/>
          <ac:spMkLst>
            <pc:docMk/>
            <pc:sldMk cId="2779567230" sldId="288"/>
            <ac:spMk id="2" creationId="{F0F1F001-2B8B-B950-D8F9-E0C4B8555570}"/>
          </ac:spMkLst>
        </pc:spChg>
        <pc:spChg chg="mod">
          <ac:chgData name="Eric Kim" userId="f3af028d46f0bb00" providerId="LiveId" clId="{1E1C29BC-925D-412A-8126-C21905786C34}" dt="2025-11-25T08:38:10.575" v="18119" actId="20577"/>
          <ac:spMkLst>
            <pc:docMk/>
            <pc:sldMk cId="2779567230" sldId="288"/>
            <ac:spMk id="3" creationId="{8980B2DB-CAFC-3E4E-1005-6FAA148DB231}"/>
          </ac:spMkLst>
        </pc:spChg>
        <pc:graphicFrameChg chg="add mod modGraphic">
          <ac:chgData name="Eric Kim" userId="f3af028d46f0bb00" providerId="LiveId" clId="{1E1C29BC-925D-412A-8126-C21905786C34}" dt="2025-11-25T08:36:36.221" v="17881" actId="20577"/>
          <ac:graphicFrameMkLst>
            <pc:docMk/>
            <pc:sldMk cId="2779567230" sldId="288"/>
            <ac:graphicFrameMk id="4" creationId="{CBB65540-1F76-B0FB-1EDB-8FA38294CC7C}"/>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pmc.ncbi.nlm.nih.gov/articles/PMC7191289/?utm_source=chatgpt.com" TargetMode="External"/><Relationship Id="rId3" Type="http://schemas.openxmlformats.org/officeDocument/2006/relationships/hyperlink" Target="https://www2.census.gov/programs-surveys/popest/geographies/1990-2000/90s-fips.txt?utm_source=chatgpt.com" TargetMode="External"/><Relationship Id="rId7" Type="http://schemas.openxmlformats.org/officeDocument/2006/relationships/hyperlink" Target="https://stacks.cdc.gov/view/cdc/156923/cdc_156923_DS1.pdf?utm_source=chatgpt.com"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www.cdc.gov/nwss/about-data.html?utm_source=chatgpt.com" TargetMode="External"/><Relationship Id="rId5" Type="http://schemas.openxmlformats.org/officeDocument/2006/relationships/hyperlink" Target="https://agacis.rcc-acis.org/help/fipsList.txt?utm_source=chatgpt.com" TargetMode="External"/><Relationship Id="rId10" Type="http://schemas.openxmlformats.org/officeDocument/2006/relationships/hyperlink" Target="https://archive.cdc.gov/www_cdc_gov/nwss/wastewater-surveillance/Flu-A-data.html?utm_source=chatgpt.com" TargetMode="External"/><Relationship Id="rId4" Type="http://schemas.openxmlformats.org/officeDocument/2006/relationships/hyperlink" Target="https://www.geocod.io/geoids/alabama/baldwin-county-01003/?utm_source=chatgpt.com" TargetMode="External"/><Relationship Id="rId9" Type="http://schemas.openxmlformats.org/officeDocument/2006/relationships/hyperlink" Target="https://stacks.cdc.gov/view/cdc/117807/cdc_117807_DS1.pdf?utm_source=chatgpt.com"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pmc.ncbi.nlm.nih.gov/articles/PMC9169704/?utm_source=chatgpt.com" TargetMode="External"/><Relationship Id="rId7" Type="http://schemas.openxmlformats.org/officeDocument/2006/relationships/hyperlink" Target="https://pmc.ncbi.nlm.nih.gov/articles/PMC12219587/?utm_source=chatgpt.com"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covidactnow.org/covid-community-level-metrics?utm_source=chatgpt.com" TargetMode="External"/><Relationship Id="rId5" Type="http://schemas.openxmlformats.org/officeDocument/2006/relationships/hyperlink" Target="https://www.cdc.gov/cfa-modeling-and-forecasting/covid19-data-vis/index.html?utm_source=chatgpt.com" TargetMode="External"/><Relationship Id="rId4" Type="http://schemas.openxmlformats.org/officeDocument/2006/relationships/hyperlink" Target="https://www.cdc.gov/mmwr/volumes/72/wr/mm7219e2.htm?utm_source=chatgpt.com"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*Note for self.</a:t>
            </a:r>
          </a:p>
          <a:p>
            <a:pPr marL="0" lvl="0" indent="0" algn="l" rtl="0">
              <a:lnSpc>
                <a:spcPct val="100000"/>
              </a:lnSpc>
              <a:spcBef>
                <a:spcPts val="0"/>
              </a:spcBef>
              <a:spcAft>
                <a:spcPts val="0"/>
              </a:spcAft>
              <a:buSzPts val="1100"/>
              <a:buNone/>
            </a:pPr>
            <a:r>
              <a:rPr lang="en-US" dirty="0"/>
              <a:t>Produce a Proposal document like Mike and Courtney are doing</a:t>
            </a:r>
            <a:endParaRPr dirty="0"/>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The focus of my research in the past couple of weeks has been predicting Covid-19 prevalence using wastewater, WBE data.</a:t>
            </a:r>
          </a:p>
          <a:p>
            <a:pPr marL="158750" indent="0">
              <a:buNone/>
            </a:pPr>
            <a:r>
              <a:rPr lang="en-US" dirty="0"/>
              <a:t>There are many existing models that do this already, my research so far has been on current methods, it’s downsides and a potential better method.</a:t>
            </a:r>
          </a:p>
          <a:p>
            <a:pPr marL="158750" indent="0">
              <a:buNone/>
            </a:pPr>
            <a:r>
              <a:rPr lang="en-US" dirty="0"/>
              <a:t>Currently, existing models use hierarchical approaches and often require retraining when new regions, usually a county is added.</a:t>
            </a:r>
          </a:p>
          <a:p>
            <a:pPr marL="158750" indent="0">
              <a:buNone/>
            </a:pPr>
            <a:r>
              <a:rPr lang="en-US" dirty="0"/>
              <a:t>Furthermore, roughly a year’s worth of continuous data is required from the new region for accurate predictions.</a:t>
            </a:r>
          </a:p>
          <a:p>
            <a:pPr marL="158750" indent="0">
              <a:buNone/>
            </a:pPr>
            <a:r>
              <a:rPr lang="en-US" dirty="0"/>
              <a:t>The primary model to compare my proposed methods with is the “Li et al. model from 2023”.</a:t>
            </a:r>
          </a:p>
          <a:p>
            <a:pPr marL="158750" indent="0">
              <a:buNone/>
            </a:pPr>
            <a:r>
              <a:rPr lang="en-US" dirty="0"/>
              <a:t>It’s often used as a benchmark model, because it has large area coverage and good accuracy to compare against.</a:t>
            </a:r>
          </a:p>
          <a:p>
            <a:pPr marL="158750" indent="0">
              <a:buNone/>
            </a:pPr>
            <a:r>
              <a:rPr lang="en-US" dirty="0"/>
              <a:t>My idea to compete with the current methods is a “meta-learning” approach.</a:t>
            </a:r>
          </a:p>
          <a:p>
            <a:pPr marL="158750" indent="0">
              <a:buNone/>
            </a:pPr>
            <a:r>
              <a:rPr lang="en-US" dirty="0"/>
              <a:t>Meta learning means “learning to learn”.</a:t>
            </a:r>
          </a:p>
          <a:p>
            <a:pPr marL="158750" indent="0">
              <a:buNone/>
            </a:pPr>
            <a:r>
              <a:rPr lang="en-US" dirty="0"/>
              <a:t>Essentially, the model I develop will treat each region as a separate prediction task for training.</a:t>
            </a:r>
          </a:p>
          <a:p>
            <a:pPr marL="158750" indent="0">
              <a:buNone/>
            </a:pPr>
            <a:r>
              <a:rPr lang="en-US" dirty="0"/>
              <a:t>Then model then learns internally to complete a similar task, which allows it to rapidly adapt to a new region.</a:t>
            </a:r>
          </a:p>
          <a:p>
            <a:pPr marL="158750" indent="0">
              <a:buNone/>
            </a:pPr>
            <a:endParaRPr lang="en-US" dirty="0"/>
          </a:p>
          <a:p>
            <a:pPr marL="158750" indent="0">
              <a:buNone/>
            </a:pPr>
            <a:r>
              <a:rPr lang="en-US" dirty="0"/>
              <a:t>Make sure to create speaker notes because that sure as hell helped</a:t>
            </a:r>
          </a:p>
          <a:p>
            <a:pPr marL="158750" indent="0">
              <a:buNone/>
            </a:pPr>
            <a:endParaRPr lang="en-US" dirty="0"/>
          </a:p>
        </p:txBody>
      </p:sp>
    </p:spTree>
    <p:extLst>
      <p:ext uri="{BB962C8B-B14F-4D97-AF65-F5344CB8AC3E}">
        <p14:creationId xmlns:p14="http://schemas.microsoft.com/office/powerpoint/2010/main" val="2089283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So, what is the Li et al model?</a:t>
            </a:r>
          </a:p>
          <a:p>
            <a:pPr marL="158750" indent="0">
              <a:buNone/>
            </a:pPr>
            <a:r>
              <a:rPr lang="en-US" dirty="0"/>
              <a:t>Li et al. is the model that the WBE – covid-19 prediction community uses as a benchmark.</a:t>
            </a:r>
          </a:p>
          <a:p>
            <a:pPr marL="158750" indent="0">
              <a:buNone/>
            </a:pPr>
            <a:r>
              <a:rPr lang="en-US" dirty="0"/>
              <a:t>The goal of this model is to predict how many people will be hospitalized with covid-19 in a given county.</a:t>
            </a:r>
          </a:p>
          <a:p>
            <a:pPr marL="158750" indent="0">
              <a:buNone/>
            </a:pPr>
            <a:r>
              <a:rPr lang="en-US" dirty="0"/>
              <a:t>Input data, at the minimum, is WBE data, I’ll go over that in the next slide, hospitalization data and some context, like population, of the target county.</a:t>
            </a:r>
          </a:p>
          <a:p>
            <a:pPr marL="158750" indent="0">
              <a:buNone/>
            </a:pPr>
            <a:r>
              <a:rPr lang="en-US" dirty="0"/>
              <a:t>Output predictions are up to 4 weeks and the exact number is cases per 100k people.</a:t>
            </a:r>
          </a:p>
          <a:p>
            <a:pPr marL="158750" indent="0">
              <a:buNone/>
            </a:pPr>
            <a:r>
              <a:rPr lang="en-US" dirty="0"/>
              <a:t>This model actually uses a fairly simple random forest model, but it does require 20 weeks worth of data per county.</a:t>
            </a:r>
          </a:p>
          <a:p>
            <a:pPr marL="158750" indent="0">
              <a:buNone/>
            </a:pPr>
            <a:r>
              <a:rPr lang="en-US" dirty="0"/>
              <a:t>The Mean Average Error is actually pretty good, with a miss rate of 4-6 patients every 100k people.</a:t>
            </a:r>
          </a:p>
          <a:p>
            <a:pPr marL="158750" indent="0">
              <a:buNone/>
            </a:pPr>
            <a:r>
              <a:rPr lang="en-US" dirty="0"/>
              <a:t>However, one of the downsides of the model is that if the population count or actual number of cases is very small, the MAE of 4-6 people every 100k is actually really big!</a:t>
            </a:r>
          </a:p>
          <a:p>
            <a:pPr marL="158750" indent="0">
              <a:buNone/>
            </a:pPr>
            <a:r>
              <a:rPr lang="en-US" dirty="0"/>
              <a:t>Other issues can arise from poor wastewater sampling, requiring rigorous methods to clean and smooth data. </a:t>
            </a:r>
          </a:p>
          <a:p>
            <a:pPr marL="158750" indent="0">
              <a:buNone/>
            </a:pPr>
            <a:r>
              <a:rPr lang="en-US" dirty="0"/>
              <a:t>The reason why I wanted to look into this model was that it highlights WBE data’s ability to circumvent clinical testing or case reporting and current modeling methods don’t take into consideration of different approaches like meta-learning.</a:t>
            </a:r>
          </a:p>
        </p:txBody>
      </p:sp>
    </p:spTree>
    <p:extLst>
      <p:ext uri="{BB962C8B-B14F-4D97-AF65-F5344CB8AC3E}">
        <p14:creationId xmlns:p14="http://schemas.microsoft.com/office/powerpoint/2010/main" val="73031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Here are the datasets used in Li et al.</a:t>
            </a:r>
          </a:p>
          <a:p>
            <a:pPr marL="158750" indent="0">
              <a:buNone/>
            </a:pPr>
            <a:r>
              <a:rPr lang="en-US" dirty="0"/>
              <a:t>The primary datasets, besides population, is the CDC_NWSS dataset, which is our wastewater data and HHS dataset, which is our hospitalizations.</a:t>
            </a:r>
          </a:p>
          <a:p>
            <a:pPr marL="158750" indent="0">
              <a:buNone/>
            </a:pPr>
            <a:r>
              <a:rPr lang="en-US" dirty="0"/>
              <a:t>I’ll go over those in more detail in the following slides.</a:t>
            </a:r>
          </a:p>
          <a:p>
            <a:pPr marL="158750" indent="0">
              <a:buNone/>
            </a:pPr>
            <a:r>
              <a:rPr lang="en-US" dirty="0"/>
              <a:t>For now, here are all the datasets that the model can use in its enhanced version.</a:t>
            </a:r>
          </a:p>
          <a:p>
            <a:pPr marL="158750" indent="0">
              <a:buNone/>
            </a:pPr>
            <a:r>
              <a:rPr lang="en-US" dirty="0"/>
              <a:t>The simplest model only requires the first two datasets, the rest of these are used to enhance accuracy.</a:t>
            </a:r>
          </a:p>
          <a:p>
            <a:pPr marL="158750" indent="0">
              <a:buNone/>
            </a:pPr>
            <a:endParaRPr lang="en-US" dirty="0"/>
          </a:p>
          <a:p>
            <a:pPr marL="158750" indent="0">
              <a:buNone/>
            </a:pPr>
            <a:r>
              <a:rPr lang="en-US" dirty="0"/>
              <a:t>The CCVI index is a numerical value that represents a community’s risk to Covid-19.</a:t>
            </a:r>
          </a:p>
          <a:p>
            <a:pPr marL="158750" indent="0">
              <a:buNone/>
            </a:pPr>
            <a:r>
              <a:rPr lang="en-US" dirty="0"/>
              <a:t>Essentially, it is an indicator of how vulnerable the population is, whether that might be due to age, poor infrastructure, etc.</a:t>
            </a:r>
          </a:p>
          <a:p>
            <a:pPr marL="158750" indent="0">
              <a:buNone/>
            </a:pPr>
            <a:r>
              <a:rPr lang="en-US" dirty="0"/>
              <a:t>This was mainly used as context for the model when it does its predictions.</a:t>
            </a:r>
          </a:p>
          <a:p>
            <a:pPr marL="158750" indent="0">
              <a:buNone/>
            </a:pPr>
            <a:endParaRPr lang="en-US" dirty="0"/>
          </a:p>
          <a:p>
            <a:pPr marL="158750" indent="0">
              <a:buNone/>
            </a:pPr>
            <a:r>
              <a:rPr lang="en-US" dirty="0"/>
              <a:t>County level vaccination coverage is used to help the model predict lower infection numbers when there is high vaccination coverage.</a:t>
            </a:r>
          </a:p>
          <a:p>
            <a:pPr marL="158750" indent="0">
              <a:buNone/>
            </a:pPr>
            <a:r>
              <a:rPr lang="en-US" dirty="0"/>
              <a:t>Basically, another context feature.</a:t>
            </a:r>
          </a:p>
          <a:p>
            <a:pPr marL="158750" indent="0">
              <a:buNone/>
            </a:pPr>
            <a:endParaRPr lang="en-US" dirty="0"/>
          </a:p>
          <a:p>
            <a:pPr marL="158750" indent="0">
              <a:buNone/>
            </a:pPr>
            <a:r>
              <a:rPr lang="en-US" dirty="0"/>
              <a:t>This one is cool, so I didn’t really know about this before, but exposure to warmer temperatures means that RNA decays faster.</a:t>
            </a:r>
          </a:p>
          <a:p>
            <a:pPr marL="158750" indent="0">
              <a:buNone/>
            </a:pPr>
            <a:r>
              <a:rPr lang="en-US" dirty="0"/>
              <a:t>Which means that if we take a sample in higher temperature areas, we may have smaller sample sizes even though it should be greater.</a:t>
            </a:r>
          </a:p>
          <a:p>
            <a:pPr marL="158750" indent="0">
              <a:buNone/>
            </a:pPr>
            <a:r>
              <a:rPr lang="en-US" dirty="0"/>
              <a:t>This dataset allows the model to adjust for this effect.</a:t>
            </a:r>
          </a:p>
          <a:p>
            <a:pPr marL="158750" indent="0">
              <a:buNone/>
            </a:pPr>
            <a:endParaRPr lang="en-US" dirty="0"/>
          </a:p>
          <a:p>
            <a:pPr marL="158750" indent="0">
              <a:buNone/>
            </a:pPr>
            <a:r>
              <a:rPr lang="en-US" dirty="0"/>
              <a:t>Similarly, we have daily precipitation. More water flow means that the viral sample can be diluted because there is more water!</a:t>
            </a:r>
          </a:p>
          <a:p>
            <a:pPr marL="158750" indent="0">
              <a:buNone/>
            </a:pPr>
            <a:endParaRPr lang="en-US" dirty="0"/>
          </a:p>
          <a:p>
            <a:pPr marL="158750" indent="0">
              <a:buNone/>
            </a:pPr>
            <a:r>
              <a:rPr lang="en-US" dirty="0"/>
              <a:t>These are the datasets that the Li et al model used, there are definitely more datasets that can be used and I’d like to see what kind of datasets are specifically valuable for my meta-learning method.</a:t>
            </a:r>
          </a:p>
        </p:txBody>
      </p:sp>
    </p:spTree>
    <p:extLst>
      <p:ext uri="{BB962C8B-B14F-4D97-AF65-F5344CB8AC3E}">
        <p14:creationId xmlns:p14="http://schemas.microsoft.com/office/powerpoint/2010/main" val="2229251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b="1" dirty="0"/>
              <a:t>1. </a:t>
            </a:r>
            <a:r>
              <a:rPr lang="en-US" sz="1100" b="1" i="0" u="none" strike="noStrike" cap="none" dirty="0" err="1">
                <a:solidFill>
                  <a:srgbClr val="000000"/>
                </a:solidFill>
                <a:latin typeface="Arial"/>
                <a:ea typeface="Arial"/>
                <a:cs typeface="Arial"/>
                <a:sym typeface="Arial"/>
              </a:rPr>
              <a:t>fips_code</a:t>
            </a:r>
            <a:endParaRPr lang="en-US" b="1" dirty="0"/>
          </a:p>
          <a:p>
            <a:pPr marL="158750" indent="0">
              <a:buNone/>
            </a:pPr>
            <a:r>
              <a:rPr lang="en-US" b="1" dirty="0"/>
              <a:t>What it means (plain)</a:t>
            </a:r>
            <a:br>
              <a:rPr lang="en-US" dirty="0"/>
            </a:br>
            <a:r>
              <a:rPr lang="en-US" dirty="0"/>
              <a:t>A 5-digit ID code for the county. It is a government standard code (FIPS) that uniquely identifies each county in the U.S.</a:t>
            </a:r>
            <a:r>
              <a:rPr lang="en-US" dirty="0">
                <a:hlinkClick r:id="rId3"/>
              </a:rPr>
              <a:t>www2.census.gov+1</a:t>
            </a:r>
            <a:endParaRPr lang="en-US" dirty="0"/>
          </a:p>
          <a:p>
            <a:pPr marL="158750" indent="0">
              <a:buNone/>
            </a:pPr>
            <a:r>
              <a:rPr lang="en-US" b="1" dirty="0"/>
              <a:t>Example from your data</a:t>
            </a:r>
            <a:br>
              <a:rPr lang="en-US" dirty="0"/>
            </a:br>
            <a:r>
              <a:rPr lang="en-US" sz="1100" b="0" i="0" u="none" strike="noStrike" cap="none" dirty="0">
                <a:solidFill>
                  <a:srgbClr val="000000"/>
                </a:solidFill>
                <a:latin typeface="Arial"/>
                <a:ea typeface="Arial"/>
                <a:cs typeface="Arial"/>
                <a:sym typeface="Arial"/>
              </a:rPr>
              <a:t>01003</a:t>
            </a:r>
            <a:r>
              <a:rPr lang="en-US" dirty="0"/>
              <a:t> = Baldwin County, Alabama.</a:t>
            </a:r>
            <a:r>
              <a:rPr lang="en-US" dirty="0">
                <a:hlinkClick r:id="rId4"/>
              </a:rPr>
              <a:t>Geocodio+1</a:t>
            </a:r>
            <a:endParaRPr lang="en-US" dirty="0"/>
          </a:p>
          <a:p>
            <a:pPr marL="158750" indent="0">
              <a:buNone/>
            </a:pPr>
            <a:r>
              <a:rPr lang="en-US" b="1" dirty="0"/>
              <a:t>Rough range</a:t>
            </a:r>
            <a:endParaRPr lang="en-US" dirty="0"/>
          </a:p>
          <a:p>
            <a:pPr marL="615950" lvl="1" indent="0">
              <a:buNone/>
            </a:pPr>
            <a:r>
              <a:rPr lang="en-US" dirty="0"/>
              <a:t>Always 5 digits, string-like: </a:t>
            </a:r>
            <a:r>
              <a:rPr lang="en-US" sz="1100" b="0" i="0" u="none" strike="noStrike" cap="none" dirty="0">
                <a:solidFill>
                  <a:srgbClr val="000000"/>
                </a:solidFill>
                <a:latin typeface="Arial"/>
                <a:ea typeface="Arial"/>
                <a:cs typeface="Arial"/>
                <a:sym typeface="Arial"/>
              </a:rPr>
              <a:t>01001</a:t>
            </a:r>
            <a:r>
              <a:rPr lang="en-US" dirty="0"/>
              <a:t>, </a:t>
            </a:r>
            <a:r>
              <a:rPr lang="en-US" sz="1100" b="0" i="0" u="none" strike="noStrike" cap="none" dirty="0">
                <a:solidFill>
                  <a:srgbClr val="000000"/>
                </a:solidFill>
                <a:latin typeface="Arial"/>
                <a:ea typeface="Arial"/>
                <a:cs typeface="Arial"/>
                <a:sym typeface="Arial"/>
              </a:rPr>
              <a:t>06037</a:t>
            </a:r>
            <a:r>
              <a:rPr lang="en-US" dirty="0"/>
              <a:t>, </a:t>
            </a:r>
            <a:r>
              <a:rPr lang="en-US" sz="1100" b="0" i="0" u="none" strike="noStrike" cap="none" dirty="0">
                <a:solidFill>
                  <a:srgbClr val="000000"/>
                </a:solidFill>
                <a:latin typeface="Arial"/>
                <a:ea typeface="Arial"/>
                <a:cs typeface="Arial"/>
                <a:sym typeface="Arial"/>
              </a:rPr>
              <a:t>36061</a:t>
            </a:r>
            <a:r>
              <a:rPr lang="en-US" dirty="0"/>
              <a:t>, etc.</a:t>
            </a:r>
          </a:p>
          <a:p>
            <a:pPr marL="615950" lvl="1" indent="0">
              <a:buNone/>
            </a:pPr>
            <a:r>
              <a:rPr lang="en-US" dirty="0"/>
              <a:t>Valid U.S. county codes span roughly </a:t>
            </a:r>
            <a:r>
              <a:rPr lang="en-US" sz="1100" b="0" i="0" u="none" strike="noStrike" cap="none" dirty="0">
                <a:solidFill>
                  <a:srgbClr val="000000"/>
                </a:solidFill>
                <a:latin typeface="Arial"/>
                <a:ea typeface="Arial"/>
                <a:cs typeface="Arial"/>
                <a:sym typeface="Arial"/>
              </a:rPr>
              <a:t>01001</a:t>
            </a:r>
            <a:r>
              <a:rPr lang="en-US" dirty="0"/>
              <a:t> (Autauga County, AL) through ~</a:t>
            </a:r>
            <a:r>
              <a:rPr lang="en-US" sz="1100" b="0" i="0" u="none" strike="noStrike" cap="none" dirty="0">
                <a:solidFill>
                  <a:srgbClr val="000000"/>
                </a:solidFill>
                <a:latin typeface="Arial"/>
                <a:ea typeface="Arial"/>
                <a:cs typeface="Arial"/>
                <a:sym typeface="Arial"/>
              </a:rPr>
              <a:t>56045</a:t>
            </a:r>
            <a:r>
              <a:rPr lang="en-US" dirty="0"/>
              <a:t> (Weston County, WY).</a:t>
            </a:r>
            <a:r>
              <a:rPr lang="en-US" dirty="0">
                <a:hlinkClick r:id="rId5"/>
              </a:rPr>
              <a:t>agacis.rcc-acis.org</a:t>
            </a:r>
            <a:endParaRPr lang="en-US" dirty="0"/>
          </a:p>
          <a:p>
            <a:pPr marL="158750" indent="0">
              <a:buNone/>
            </a:pPr>
            <a:br>
              <a:rPr lang="en-US" dirty="0"/>
            </a:br>
            <a:endParaRPr lang="en-US" dirty="0"/>
          </a:p>
          <a:p>
            <a:pPr marL="158750" indent="0">
              <a:buNone/>
            </a:pPr>
            <a:r>
              <a:rPr lang="en-US" b="1" dirty="0"/>
              <a:t>2. </a:t>
            </a:r>
            <a:r>
              <a:rPr lang="en-US" sz="1100" b="1" i="0" u="none" strike="noStrike" cap="none" dirty="0" err="1">
                <a:solidFill>
                  <a:srgbClr val="000000"/>
                </a:solidFill>
                <a:latin typeface="Arial"/>
                <a:ea typeface="Arial"/>
                <a:cs typeface="Arial"/>
                <a:sym typeface="Arial"/>
              </a:rPr>
              <a:t>week_end_date</a:t>
            </a:r>
            <a:endParaRPr lang="en-US" b="1" dirty="0"/>
          </a:p>
          <a:p>
            <a:pPr marL="158750" indent="0">
              <a:buNone/>
            </a:pPr>
            <a:r>
              <a:rPr lang="en-US" b="1" dirty="0"/>
              <a:t>What it means (plain)</a:t>
            </a:r>
            <a:br>
              <a:rPr lang="en-US" dirty="0"/>
            </a:br>
            <a:r>
              <a:rPr lang="en-US" dirty="0"/>
              <a:t>The calendar date for the </a:t>
            </a:r>
            <a:r>
              <a:rPr lang="en-US" b="1" dirty="0"/>
              <a:t>end of the reporting week</a:t>
            </a:r>
            <a:r>
              <a:rPr lang="en-US" dirty="0"/>
              <a:t>. All wastewater samples for that county in that week are rolled up to this one date.</a:t>
            </a:r>
          </a:p>
          <a:p>
            <a:pPr marL="158750" indent="0">
              <a:buNone/>
            </a:pPr>
            <a:r>
              <a:rPr lang="en-US" b="1" dirty="0"/>
              <a:t>Example from your data</a:t>
            </a:r>
            <a:br>
              <a:rPr lang="en-US" dirty="0"/>
            </a:br>
            <a:r>
              <a:rPr lang="en-US" sz="1100" b="0" i="0" u="none" strike="noStrike" cap="none" dirty="0">
                <a:solidFill>
                  <a:srgbClr val="000000"/>
                </a:solidFill>
                <a:latin typeface="Arial"/>
                <a:ea typeface="Arial"/>
                <a:cs typeface="Arial"/>
                <a:sym typeface="Arial"/>
              </a:rPr>
              <a:t>2025-05-10</a:t>
            </a:r>
            <a:r>
              <a:rPr lang="en-US" dirty="0"/>
              <a:t> → summarizes all samples for the week ending May 10, 2025.</a:t>
            </a:r>
          </a:p>
          <a:p>
            <a:pPr marL="158750" indent="0">
              <a:buNone/>
            </a:pPr>
            <a:r>
              <a:rPr lang="en-US" b="1" dirty="0"/>
              <a:t>Rough range</a:t>
            </a:r>
            <a:endParaRPr lang="en-US" dirty="0"/>
          </a:p>
          <a:p>
            <a:pPr marL="615950" lvl="1" indent="0">
              <a:buNone/>
            </a:pPr>
            <a:r>
              <a:rPr lang="en-US" dirty="0"/>
              <a:t>ISO date format </a:t>
            </a:r>
            <a:r>
              <a:rPr lang="en-US" sz="1100" b="0" i="0" u="none" strike="noStrike" cap="none" dirty="0">
                <a:solidFill>
                  <a:srgbClr val="000000"/>
                </a:solidFill>
                <a:latin typeface="Arial"/>
                <a:ea typeface="Arial"/>
                <a:cs typeface="Arial"/>
                <a:sym typeface="Arial"/>
              </a:rPr>
              <a:t>YYYY-MM-DD</a:t>
            </a:r>
            <a:r>
              <a:rPr lang="en-US" dirty="0"/>
              <a:t>.</a:t>
            </a:r>
          </a:p>
          <a:p>
            <a:pPr marL="615950" lvl="1" indent="0">
              <a:buNone/>
            </a:pPr>
            <a:r>
              <a:rPr lang="en-US" dirty="0"/>
              <a:t>In your dataset: weekly dates over the COVID-19 monitoring period (e.g., 2020–2025). CDC updates wastewater data weekly.</a:t>
            </a:r>
            <a:r>
              <a:rPr lang="en-US" dirty="0">
                <a:hlinkClick r:id="rId6"/>
              </a:rPr>
              <a:t>CDC+1</a:t>
            </a:r>
            <a:endParaRPr lang="en-US" dirty="0"/>
          </a:p>
          <a:p>
            <a:pPr marL="158750" indent="0">
              <a:buNone/>
            </a:pPr>
            <a:br>
              <a:rPr lang="en-US" dirty="0"/>
            </a:br>
            <a:endParaRPr lang="en-US" dirty="0"/>
          </a:p>
          <a:p>
            <a:pPr marL="158750" indent="0">
              <a:buNone/>
            </a:pPr>
            <a:r>
              <a:rPr lang="en-US" b="1" dirty="0"/>
              <a:t>3. </a:t>
            </a:r>
            <a:r>
              <a:rPr lang="en-US" sz="1100" b="1" i="0" u="none" strike="noStrike" cap="none" dirty="0" err="1">
                <a:solidFill>
                  <a:srgbClr val="000000"/>
                </a:solidFill>
                <a:latin typeface="Arial"/>
                <a:ea typeface="Arial"/>
                <a:cs typeface="Arial"/>
                <a:sym typeface="Arial"/>
              </a:rPr>
              <a:t>n_samples</a:t>
            </a:r>
            <a:endParaRPr lang="en-US" b="1" dirty="0"/>
          </a:p>
          <a:p>
            <a:pPr marL="158750" indent="0">
              <a:buNone/>
            </a:pPr>
            <a:r>
              <a:rPr lang="en-US" b="1" dirty="0"/>
              <a:t>What it means (plain)</a:t>
            </a:r>
            <a:br>
              <a:rPr lang="en-US" dirty="0"/>
            </a:br>
            <a:r>
              <a:rPr lang="en-US" dirty="0"/>
              <a:t>How many </a:t>
            </a:r>
            <a:r>
              <a:rPr lang="en-US" b="1" dirty="0"/>
              <a:t>individual wastewater samples</a:t>
            </a:r>
            <a:r>
              <a:rPr lang="en-US" dirty="0"/>
              <a:t> were collected for that county during that week (across all contributing sites).</a:t>
            </a:r>
          </a:p>
          <a:p>
            <a:pPr marL="158750" indent="0">
              <a:buNone/>
            </a:pPr>
            <a:r>
              <a:rPr lang="en-US" b="1" dirty="0"/>
              <a:t>Example from your data</a:t>
            </a:r>
            <a:br>
              <a:rPr lang="en-US" dirty="0"/>
            </a:br>
            <a:r>
              <a:rPr lang="en-US" dirty="0"/>
              <a:t>Values like </a:t>
            </a:r>
            <a:r>
              <a:rPr lang="en-US" sz="1100" b="0" i="0" u="none" strike="noStrike" cap="none" dirty="0">
                <a:solidFill>
                  <a:srgbClr val="000000"/>
                </a:solidFill>
                <a:latin typeface="Arial"/>
                <a:ea typeface="Arial"/>
                <a:cs typeface="Arial"/>
                <a:sym typeface="Arial"/>
              </a:rPr>
              <a:t>1</a:t>
            </a:r>
            <a:r>
              <a:rPr lang="en-US" dirty="0"/>
              <a:t>, </a:t>
            </a:r>
            <a:r>
              <a:rPr lang="en-US" sz="1100" b="0" i="0" u="none" strike="noStrike" cap="none" dirty="0">
                <a:solidFill>
                  <a:srgbClr val="000000"/>
                </a:solidFill>
                <a:latin typeface="Arial"/>
                <a:ea typeface="Arial"/>
                <a:cs typeface="Arial"/>
                <a:sym typeface="Arial"/>
              </a:rPr>
              <a:t>2</a:t>
            </a:r>
            <a:r>
              <a:rPr lang="en-US" dirty="0"/>
              <a:t> in the sample rows.</a:t>
            </a:r>
          </a:p>
          <a:p>
            <a:pPr marL="158750" indent="0">
              <a:buNone/>
            </a:pPr>
            <a:r>
              <a:rPr lang="en-US" b="1" dirty="0"/>
              <a:t>Rough range / interpretation</a:t>
            </a:r>
            <a:endParaRPr lang="en-US" dirty="0"/>
          </a:p>
          <a:p>
            <a:pPr marL="615950" lvl="1" indent="0">
              <a:buNone/>
            </a:pPr>
            <a:r>
              <a:rPr lang="en-US" dirty="0"/>
              <a:t>Small integer, typically </a:t>
            </a:r>
            <a:r>
              <a:rPr lang="en-US" sz="1100" b="0" i="0" u="none" strike="noStrike" cap="none" dirty="0">
                <a:solidFill>
                  <a:srgbClr val="000000"/>
                </a:solidFill>
                <a:latin typeface="Arial"/>
                <a:ea typeface="Arial"/>
                <a:cs typeface="Arial"/>
                <a:sym typeface="Arial"/>
              </a:rPr>
              <a:t>1–7</a:t>
            </a:r>
            <a:r>
              <a:rPr lang="en-US" dirty="0"/>
              <a:t> for routine programs (1–2 times per week is common NWSS practice; some programs go higher).</a:t>
            </a:r>
            <a:r>
              <a:rPr lang="en-US" dirty="0">
                <a:hlinkClick r:id="rId6"/>
              </a:rPr>
              <a:t>CDC+1</a:t>
            </a:r>
            <a:endParaRPr lang="en-US" dirty="0"/>
          </a:p>
          <a:p>
            <a:pPr marL="615950" lvl="1" indent="0">
              <a:buNone/>
            </a:pPr>
            <a:r>
              <a:rPr lang="en-US" dirty="0"/>
              <a:t>Higher </a:t>
            </a:r>
            <a:r>
              <a:rPr lang="en-US" sz="1100" b="0" i="0" u="none" strike="noStrike" cap="none" dirty="0" err="1">
                <a:solidFill>
                  <a:srgbClr val="000000"/>
                </a:solidFill>
                <a:latin typeface="Arial"/>
                <a:ea typeface="Arial"/>
                <a:cs typeface="Arial"/>
                <a:sym typeface="Arial"/>
              </a:rPr>
              <a:t>n_samples</a:t>
            </a:r>
            <a:r>
              <a:rPr lang="en-US" dirty="0"/>
              <a:t> = more measurements → more stable weekly estimate.</a:t>
            </a:r>
          </a:p>
          <a:p>
            <a:pPr marL="615950" lvl="1" indent="0">
              <a:buNone/>
            </a:pPr>
            <a:r>
              <a:rPr lang="en-US" sz="1100" b="0" i="0" u="none" strike="noStrike" cap="none" dirty="0">
                <a:solidFill>
                  <a:srgbClr val="000000"/>
                </a:solidFill>
                <a:latin typeface="Arial"/>
                <a:ea typeface="Arial"/>
                <a:cs typeface="Arial"/>
                <a:sym typeface="Arial"/>
              </a:rPr>
              <a:t>0</a:t>
            </a:r>
            <a:r>
              <a:rPr lang="en-US" dirty="0"/>
              <a:t> would mean “no sample that week” (those weeks are usually filtered out for modeling).</a:t>
            </a:r>
          </a:p>
          <a:p>
            <a:pPr marL="158750" indent="0">
              <a:buNone/>
            </a:pPr>
            <a:br>
              <a:rPr lang="en-US" dirty="0"/>
            </a:br>
            <a:endParaRPr lang="en-US" dirty="0"/>
          </a:p>
          <a:p>
            <a:pPr marL="158750" indent="0">
              <a:buNone/>
            </a:pPr>
            <a:r>
              <a:rPr lang="en-US" b="1" dirty="0"/>
              <a:t>4. </a:t>
            </a:r>
            <a:r>
              <a:rPr lang="en-US" sz="1100" b="1" i="0" u="none" strike="noStrike" cap="none" dirty="0" err="1">
                <a:solidFill>
                  <a:srgbClr val="000000"/>
                </a:solidFill>
                <a:latin typeface="Arial"/>
                <a:ea typeface="Arial"/>
                <a:cs typeface="Arial"/>
                <a:sym typeface="Arial"/>
              </a:rPr>
              <a:t>n_sites</a:t>
            </a:r>
            <a:endParaRPr lang="en-US" b="1" dirty="0"/>
          </a:p>
          <a:p>
            <a:pPr marL="158750" indent="0">
              <a:buNone/>
            </a:pPr>
            <a:r>
              <a:rPr lang="en-US" b="1" dirty="0"/>
              <a:t>What it means (plain)</a:t>
            </a:r>
            <a:br>
              <a:rPr lang="en-US" dirty="0"/>
            </a:br>
            <a:r>
              <a:rPr lang="en-US" dirty="0"/>
              <a:t>How many </a:t>
            </a:r>
            <a:r>
              <a:rPr lang="en-US" b="1" dirty="0"/>
              <a:t>wastewater treatment plants (sites)</a:t>
            </a:r>
            <a:r>
              <a:rPr lang="en-US" dirty="0"/>
              <a:t> contributed data for that county in that week.</a:t>
            </a:r>
          </a:p>
          <a:p>
            <a:pPr marL="158750" indent="0">
              <a:buNone/>
            </a:pPr>
            <a:r>
              <a:rPr lang="en-US" b="1" dirty="0"/>
              <a:t>Example from your data</a:t>
            </a:r>
            <a:br>
              <a:rPr lang="en-US" dirty="0"/>
            </a:br>
            <a:r>
              <a:rPr lang="en-US" dirty="0"/>
              <a:t>All shown rows have </a:t>
            </a:r>
            <a:r>
              <a:rPr lang="en-US" sz="1100" b="0" i="0" u="none" strike="noStrike" cap="none" dirty="0" err="1">
                <a:solidFill>
                  <a:srgbClr val="000000"/>
                </a:solidFill>
                <a:latin typeface="Arial"/>
                <a:ea typeface="Arial"/>
                <a:cs typeface="Arial"/>
                <a:sym typeface="Arial"/>
              </a:rPr>
              <a:t>n_sites</a:t>
            </a:r>
            <a:r>
              <a:rPr lang="en-US" sz="1100" b="0" i="0" u="none" strike="noStrike" cap="none" dirty="0">
                <a:solidFill>
                  <a:srgbClr val="000000"/>
                </a:solidFill>
                <a:latin typeface="Arial"/>
                <a:ea typeface="Arial"/>
                <a:cs typeface="Arial"/>
                <a:sym typeface="Arial"/>
              </a:rPr>
              <a:t> = 1</a:t>
            </a:r>
            <a:r>
              <a:rPr lang="en-US" dirty="0"/>
              <a:t> → one plant for that county.</a:t>
            </a:r>
          </a:p>
          <a:p>
            <a:pPr marL="158750" indent="0">
              <a:buNone/>
            </a:pPr>
            <a:r>
              <a:rPr lang="en-US" b="1" dirty="0"/>
              <a:t>Rough range / interpretation</a:t>
            </a:r>
            <a:endParaRPr lang="en-US" dirty="0"/>
          </a:p>
          <a:p>
            <a:pPr marL="615950" lvl="1" indent="0">
              <a:buNone/>
            </a:pPr>
            <a:r>
              <a:rPr lang="en-US" dirty="0"/>
              <a:t>Typically </a:t>
            </a:r>
            <a:r>
              <a:rPr lang="en-US" sz="1100" b="0" i="0" u="none" strike="noStrike" cap="none" dirty="0">
                <a:solidFill>
                  <a:srgbClr val="000000"/>
                </a:solidFill>
                <a:latin typeface="Arial"/>
                <a:ea typeface="Arial"/>
                <a:cs typeface="Arial"/>
                <a:sym typeface="Arial"/>
              </a:rPr>
              <a:t>1–5</a:t>
            </a:r>
            <a:r>
              <a:rPr lang="en-US" dirty="0"/>
              <a:t> for most counties. Larger urban counties can have more participating plants. CDC notes ~1,500+ sites nationally, often concentrated in bigger </a:t>
            </a:r>
            <a:r>
              <a:rPr lang="en-US" dirty="0" err="1"/>
              <a:t>systems.</a:t>
            </a:r>
            <a:r>
              <a:rPr lang="en-US" dirty="0" err="1">
                <a:hlinkClick r:id="rId7"/>
              </a:rPr>
              <a:t>CDC</a:t>
            </a:r>
            <a:r>
              <a:rPr lang="en-US" dirty="0">
                <a:hlinkClick r:id="rId7"/>
              </a:rPr>
              <a:t> Stacks+1</a:t>
            </a:r>
            <a:endParaRPr lang="en-US" dirty="0"/>
          </a:p>
          <a:p>
            <a:pPr marL="615950" lvl="1" indent="0">
              <a:buNone/>
            </a:pPr>
            <a:r>
              <a:rPr lang="en-US" sz="1100" b="0" i="0" u="none" strike="noStrike" cap="none" dirty="0">
                <a:solidFill>
                  <a:srgbClr val="000000"/>
                </a:solidFill>
                <a:latin typeface="Arial"/>
                <a:ea typeface="Arial"/>
                <a:cs typeface="Arial"/>
                <a:sym typeface="Arial"/>
              </a:rPr>
              <a:t>1</a:t>
            </a:r>
            <a:r>
              <a:rPr lang="en-US" dirty="0"/>
              <a:t> = single site, straightforward.</a:t>
            </a:r>
          </a:p>
          <a:p>
            <a:pPr marL="615950" lvl="1" indent="0">
              <a:buNone/>
            </a:pPr>
            <a:r>
              <a:rPr lang="en-US" sz="1100" b="0" i="0" u="none" strike="noStrike" cap="none" dirty="0">
                <a:solidFill>
                  <a:srgbClr val="000000"/>
                </a:solidFill>
                <a:latin typeface="Arial"/>
                <a:ea typeface="Arial"/>
                <a:cs typeface="Arial"/>
                <a:sym typeface="Arial"/>
              </a:rPr>
              <a:t>&gt;1</a:t>
            </a:r>
            <a:r>
              <a:rPr lang="en-US" dirty="0"/>
              <a:t> = multiple plants; their data are combined.</a:t>
            </a:r>
          </a:p>
          <a:p>
            <a:pPr marL="158750" indent="0">
              <a:buNone/>
            </a:pPr>
            <a:br>
              <a:rPr lang="en-US" dirty="0"/>
            </a:br>
            <a:endParaRPr lang="en-US" dirty="0"/>
          </a:p>
          <a:p>
            <a:pPr marL="158750" indent="0">
              <a:buNone/>
            </a:pPr>
            <a:r>
              <a:rPr lang="en-US" b="1" dirty="0"/>
              <a:t>5. </a:t>
            </a:r>
            <a:r>
              <a:rPr lang="en-US" sz="1100" b="1" i="0" u="none" strike="noStrike" cap="none" dirty="0" err="1">
                <a:solidFill>
                  <a:srgbClr val="000000"/>
                </a:solidFill>
                <a:latin typeface="Arial"/>
                <a:ea typeface="Arial"/>
                <a:cs typeface="Arial"/>
                <a:sym typeface="Arial"/>
              </a:rPr>
              <a:t>sum_population_served</a:t>
            </a:r>
            <a:endParaRPr lang="en-US" b="1" dirty="0"/>
          </a:p>
          <a:p>
            <a:pPr marL="158750" indent="0">
              <a:buNone/>
            </a:pPr>
            <a:r>
              <a:rPr lang="en-US" b="1" dirty="0"/>
              <a:t>What it means (plain)</a:t>
            </a:r>
            <a:br>
              <a:rPr lang="en-US" dirty="0"/>
            </a:br>
            <a:r>
              <a:rPr lang="en-US" dirty="0"/>
              <a:t>The </a:t>
            </a:r>
            <a:r>
              <a:rPr lang="en-US" b="1" dirty="0"/>
              <a:t>total number of people whose sewage flows into the sites</a:t>
            </a:r>
            <a:r>
              <a:rPr lang="en-US" dirty="0"/>
              <a:t> that reported data that week. It is essentially the population “covered” by the wastewater sampling.</a:t>
            </a:r>
          </a:p>
          <a:p>
            <a:pPr marL="158750" indent="0">
              <a:buNone/>
            </a:pPr>
            <a:r>
              <a:rPr lang="en-US" b="1" dirty="0"/>
              <a:t>Example from your data</a:t>
            </a:r>
            <a:endParaRPr lang="en-US" dirty="0"/>
          </a:p>
          <a:p>
            <a:pPr marL="615950" lvl="1" indent="0">
              <a:buNone/>
            </a:pPr>
            <a:r>
              <a:rPr lang="en-US" dirty="0"/>
              <a:t>Row 0: </a:t>
            </a:r>
            <a:r>
              <a:rPr lang="en-US" sz="1100" b="0" i="0" u="none" strike="noStrike" cap="none" dirty="0">
                <a:solidFill>
                  <a:srgbClr val="000000"/>
                </a:solidFill>
                <a:latin typeface="Arial"/>
                <a:ea typeface="Arial"/>
                <a:cs typeface="Arial"/>
                <a:sym typeface="Arial"/>
              </a:rPr>
              <a:t>6500</a:t>
            </a:r>
            <a:r>
              <a:rPr lang="en-US" dirty="0"/>
              <a:t> people.</a:t>
            </a:r>
          </a:p>
          <a:p>
            <a:pPr marL="615950" lvl="1" indent="0">
              <a:buNone/>
            </a:pPr>
            <a:r>
              <a:rPr lang="en-US" dirty="0"/>
              <a:t>Rows 1–4: </a:t>
            </a:r>
            <a:r>
              <a:rPr lang="en-US" sz="1100" b="0" i="0" u="none" strike="noStrike" cap="none" dirty="0">
                <a:solidFill>
                  <a:srgbClr val="000000"/>
                </a:solidFill>
                <a:latin typeface="Arial"/>
                <a:ea typeface="Arial"/>
                <a:cs typeface="Arial"/>
                <a:sym typeface="Arial"/>
              </a:rPr>
              <a:t>13000</a:t>
            </a:r>
            <a:r>
              <a:rPr lang="en-US" dirty="0"/>
              <a:t> people.</a:t>
            </a:r>
          </a:p>
          <a:p>
            <a:pPr marL="158750" indent="0">
              <a:buNone/>
            </a:pPr>
            <a:r>
              <a:rPr lang="en-US" b="1" dirty="0"/>
              <a:t>Rough range / interpretation</a:t>
            </a:r>
            <a:endParaRPr lang="en-US" dirty="0"/>
          </a:p>
          <a:p>
            <a:pPr marL="615950" lvl="1" indent="0">
              <a:buNone/>
            </a:pPr>
            <a:r>
              <a:rPr lang="en-US" dirty="0"/>
              <a:t>Can be as low as a few thousand (small town) up to hundreds of thousands or more for large cities. NWSS generally focuses on wastewater plants that together cover tens to hundreds of millions of people </a:t>
            </a:r>
            <a:r>
              <a:rPr lang="en-US" dirty="0" err="1"/>
              <a:t>nationally.</a:t>
            </a:r>
            <a:r>
              <a:rPr lang="en-US" dirty="0" err="1">
                <a:hlinkClick r:id="rId7"/>
              </a:rPr>
              <a:t>CDC</a:t>
            </a:r>
            <a:r>
              <a:rPr lang="en-US" dirty="0">
                <a:hlinkClick r:id="rId7"/>
              </a:rPr>
              <a:t> Stacks+1</a:t>
            </a:r>
            <a:endParaRPr lang="en-US" dirty="0"/>
          </a:p>
          <a:p>
            <a:pPr marL="615950" lvl="1" indent="0">
              <a:buNone/>
            </a:pPr>
            <a:r>
              <a:rPr lang="en-US" dirty="0"/>
              <a:t>Higher values mean the signal represents a larger fraction of the county.</a:t>
            </a:r>
          </a:p>
          <a:p>
            <a:pPr marL="158750" indent="0">
              <a:buNone/>
            </a:pPr>
            <a:br>
              <a:rPr lang="en-US" dirty="0"/>
            </a:br>
            <a:endParaRPr lang="en-US" dirty="0"/>
          </a:p>
          <a:p>
            <a:pPr marL="158750" indent="0">
              <a:buNone/>
            </a:pPr>
            <a:r>
              <a:rPr lang="en-US" b="1" dirty="0"/>
              <a:t>6. </a:t>
            </a:r>
            <a:r>
              <a:rPr lang="en-US" sz="1100" b="1" i="0" u="none" strike="noStrike" cap="none" dirty="0" err="1">
                <a:solidFill>
                  <a:srgbClr val="000000"/>
                </a:solidFill>
                <a:latin typeface="Arial"/>
                <a:ea typeface="Arial"/>
                <a:cs typeface="Arial"/>
                <a:sym typeface="Arial"/>
              </a:rPr>
              <a:t>crna_median</a:t>
            </a:r>
            <a:endParaRPr lang="en-US" b="1" dirty="0"/>
          </a:p>
          <a:p>
            <a:pPr marL="158750" indent="0">
              <a:buNone/>
            </a:pPr>
            <a:r>
              <a:rPr lang="en-US" b="1" dirty="0"/>
              <a:t>What it means (plain)</a:t>
            </a:r>
            <a:br>
              <a:rPr lang="en-US" dirty="0"/>
            </a:br>
            <a:r>
              <a:rPr lang="en-US" dirty="0"/>
              <a:t>The </a:t>
            </a:r>
            <a:r>
              <a:rPr lang="en-US" b="1" dirty="0"/>
              <a:t>median measured concentration of SARS-CoV-2 RNA in wastewater</a:t>
            </a:r>
            <a:r>
              <a:rPr lang="en-US" dirty="0"/>
              <a:t> for that week (across all samples), usually in “gene copies per liter” or similar units. It’s the middle value if you sort all sample concentrations.</a:t>
            </a:r>
          </a:p>
          <a:p>
            <a:pPr marL="158750" indent="0">
              <a:buNone/>
            </a:pPr>
            <a:r>
              <a:rPr lang="en-US" b="1" dirty="0"/>
              <a:t>Example from your data</a:t>
            </a:r>
            <a:endParaRPr lang="en-US" dirty="0"/>
          </a:p>
          <a:p>
            <a:pPr marL="615950" lvl="1" indent="0">
              <a:buNone/>
            </a:pPr>
            <a:r>
              <a:rPr lang="en-US" dirty="0"/>
              <a:t>Row 0: </a:t>
            </a:r>
            <a:r>
              <a:rPr lang="en-US" sz="1100" b="0" i="0" u="none" strike="noStrike" cap="none" dirty="0">
                <a:solidFill>
                  <a:srgbClr val="000000"/>
                </a:solidFill>
                <a:latin typeface="Arial"/>
                <a:ea typeface="Arial"/>
                <a:cs typeface="Arial"/>
                <a:sym typeface="Arial"/>
              </a:rPr>
              <a:t>0.000141</a:t>
            </a:r>
            <a:r>
              <a:rPr lang="en-US" dirty="0"/>
              <a:t> (very low; essentially near background / limit of detection).</a:t>
            </a:r>
          </a:p>
          <a:p>
            <a:pPr marL="615950" lvl="1" indent="0">
              <a:buNone/>
            </a:pPr>
            <a:r>
              <a:rPr lang="en-US" dirty="0"/>
              <a:t>Row 1: </a:t>
            </a:r>
            <a:r>
              <a:rPr lang="en-US" sz="1100" b="0" i="0" u="none" strike="noStrike" cap="none" dirty="0">
                <a:solidFill>
                  <a:srgbClr val="000000"/>
                </a:solidFill>
                <a:latin typeface="Arial"/>
                <a:ea typeface="Arial"/>
                <a:cs typeface="Arial"/>
                <a:sym typeface="Arial"/>
              </a:rPr>
              <a:t>36194563.143567</a:t>
            </a:r>
            <a:r>
              <a:rPr lang="en-US" dirty="0"/>
              <a:t> (about 3.6×10⁷ copies per unit).</a:t>
            </a:r>
          </a:p>
          <a:p>
            <a:pPr marL="158750" indent="0">
              <a:buNone/>
            </a:pPr>
            <a:r>
              <a:rPr lang="en-US" b="1" dirty="0"/>
              <a:t>Rough range / interpretation</a:t>
            </a:r>
            <a:endParaRPr lang="en-US" dirty="0"/>
          </a:p>
          <a:p>
            <a:pPr marL="615950" lvl="1" indent="0">
              <a:buNone/>
            </a:pPr>
            <a:r>
              <a:rPr lang="en-US" dirty="0"/>
              <a:t>Literature shows SARS-CoV-2 wastewater concentrations often span from below detection up to about 10³–10⁸ gene copies per liter in high-burden settings.</a:t>
            </a:r>
            <a:r>
              <a:rPr lang="en-US" dirty="0">
                <a:hlinkClick r:id="rId8"/>
              </a:rPr>
              <a:t>PMC+2PMC+2</a:t>
            </a:r>
            <a:endParaRPr lang="en-US" dirty="0"/>
          </a:p>
          <a:p>
            <a:pPr marL="615950" lvl="1" indent="0">
              <a:buNone/>
            </a:pPr>
            <a:r>
              <a:rPr lang="en-US" dirty="0"/>
              <a:t>So </a:t>
            </a:r>
            <a:r>
              <a:rPr lang="en-US" sz="1100" b="0" i="0" u="none" strike="noStrike" cap="none" dirty="0" err="1">
                <a:solidFill>
                  <a:srgbClr val="000000"/>
                </a:solidFill>
                <a:latin typeface="Arial"/>
                <a:ea typeface="Arial"/>
                <a:cs typeface="Arial"/>
                <a:sym typeface="Arial"/>
              </a:rPr>
              <a:t>crna_median</a:t>
            </a:r>
            <a:r>
              <a:rPr lang="en-US" dirty="0"/>
              <a:t> might range from </a:t>
            </a:r>
            <a:r>
              <a:rPr lang="en-US" b="1" dirty="0"/>
              <a:t>0 or very small</a:t>
            </a:r>
            <a:r>
              <a:rPr lang="en-US" dirty="0"/>
              <a:t> values (no or very few infections) up to tens or hundreds of millions in large outbreaks.</a:t>
            </a:r>
          </a:p>
          <a:p>
            <a:pPr marL="615950" lvl="1" indent="0">
              <a:buNone/>
            </a:pPr>
            <a:r>
              <a:rPr lang="en-US" sz="1100" b="0" i="0" u="none" strike="noStrike" cap="none" dirty="0">
                <a:solidFill>
                  <a:srgbClr val="000000"/>
                </a:solidFill>
                <a:latin typeface="Arial"/>
                <a:ea typeface="Arial"/>
                <a:cs typeface="Arial"/>
                <a:sym typeface="Arial"/>
              </a:rPr>
              <a:t>&lt;NA&gt;</a:t>
            </a:r>
            <a:r>
              <a:rPr lang="en-US" dirty="0"/>
              <a:t> means not enough valid samples to compute a reliable median.</a:t>
            </a:r>
          </a:p>
          <a:p>
            <a:pPr marL="158750" indent="0">
              <a:buNone/>
            </a:pPr>
            <a:br>
              <a:rPr lang="en-US" dirty="0"/>
            </a:br>
            <a:endParaRPr lang="en-US" dirty="0"/>
          </a:p>
          <a:p>
            <a:pPr marL="158750" indent="0">
              <a:buNone/>
            </a:pPr>
            <a:r>
              <a:rPr lang="en-US" b="1" dirty="0"/>
              <a:t>7. </a:t>
            </a:r>
            <a:r>
              <a:rPr lang="en-US" sz="1100" b="1" i="0" u="none" strike="noStrike" cap="none" dirty="0" err="1">
                <a:solidFill>
                  <a:srgbClr val="000000"/>
                </a:solidFill>
                <a:latin typeface="Arial"/>
                <a:ea typeface="Arial"/>
                <a:cs typeface="Arial"/>
                <a:sym typeface="Arial"/>
              </a:rPr>
              <a:t>crna_mean</a:t>
            </a:r>
            <a:endParaRPr lang="en-US" b="1" dirty="0"/>
          </a:p>
          <a:p>
            <a:pPr marL="158750" indent="0">
              <a:buNone/>
            </a:pPr>
            <a:r>
              <a:rPr lang="en-US" b="1" dirty="0"/>
              <a:t>What it means (plain)</a:t>
            </a:r>
            <a:br>
              <a:rPr lang="en-US" dirty="0"/>
            </a:br>
            <a:r>
              <a:rPr lang="en-US" dirty="0"/>
              <a:t>The </a:t>
            </a:r>
            <a:r>
              <a:rPr lang="en-US" b="1" dirty="0"/>
              <a:t>average</a:t>
            </a:r>
            <a:r>
              <a:rPr lang="en-US" dirty="0"/>
              <a:t> SARS-CoV-2 RNA concentration in wastewater over all samples in that week.</a:t>
            </a:r>
          </a:p>
          <a:p>
            <a:pPr marL="158750" indent="0">
              <a:buNone/>
            </a:pPr>
            <a:r>
              <a:rPr lang="en-US" b="1" dirty="0"/>
              <a:t>Example from your data</a:t>
            </a:r>
            <a:br>
              <a:rPr lang="en-US" dirty="0"/>
            </a:br>
            <a:r>
              <a:rPr lang="en-US" dirty="0"/>
              <a:t>For the first 5 rows, </a:t>
            </a:r>
            <a:r>
              <a:rPr lang="en-US" sz="1100" b="0" i="0" u="none" strike="noStrike" cap="none" dirty="0" err="1">
                <a:solidFill>
                  <a:srgbClr val="000000"/>
                </a:solidFill>
                <a:latin typeface="Arial"/>
                <a:ea typeface="Arial"/>
                <a:cs typeface="Arial"/>
                <a:sym typeface="Arial"/>
              </a:rPr>
              <a:t>crna_mean</a:t>
            </a:r>
            <a:r>
              <a:rPr lang="en-US" dirty="0"/>
              <a:t> equals </a:t>
            </a:r>
            <a:r>
              <a:rPr lang="en-US" sz="1100" b="0" i="0" u="none" strike="noStrike" cap="none" dirty="0" err="1">
                <a:solidFill>
                  <a:srgbClr val="000000"/>
                </a:solidFill>
                <a:latin typeface="Arial"/>
                <a:ea typeface="Arial"/>
                <a:cs typeface="Arial"/>
                <a:sym typeface="Arial"/>
              </a:rPr>
              <a:t>crna_median</a:t>
            </a:r>
            <a:r>
              <a:rPr lang="en-US" dirty="0"/>
              <a:t> because there is effectively only one concentration per week or the values are identical.</a:t>
            </a:r>
          </a:p>
          <a:p>
            <a:pPr marL="158750" indent="0">
              <a:buNone/>
            </a:pPr>
            <a:r>
              <a:rPr lang="en-US" b="1" dirty="0"/>
              <a:t>Rough range / interpretation</a:t>
            </a:r>
            <a:endParaRPr lang="en-US" dirty="0"/>
          </a:p>
          <a:p>
            <a:pPr marL="615950" lvl="1" indent="0">
              <a:buNone/>
            </a:pPr>
            <a:r>
              <a:rPr lang="en-US" dirty="0"/>
              <a:t>Same physical units and order of magnitude as </a:t>
            </a:r>
            <a:r>
              <a:rPr lang="en-US" sz="1100" b="0" i="0" u="none" strike="noStrike" cap="none" dirty="0" err="1">
                <a:solidFill>
                  <a:srgbClr val="000000"/>
                </a:solidFill>
                <a:latin typeface="Arial"/>
                <a:ea typeface="Arial"/>
                <a:cs typeface="Arial"/>
                <a:sym typeface="Arial"/>
              </a:rPr>
              <a:t>crna_median</a:t>
            </a:r>
            <a:r>
              <a:rPr lang="en-US" dirty="0"/>
              <a:t> (≈ 0 to 10⁸ copies/L).</a:t>
            </a:r>
            <a:r>
              <a:rPr lang="en-US" dirty="0">
                <a:hlinkClick r:id="rId8"/>
              </a:rPr>
              <a:t>PMC+1</a:t>
            </a:r>
            <a:endParaRPr lang="en-US" dirty="0"/>
          </a:p>
          <a:p>
            <a:pPr marL="615950" lvl="1" indent="0">
              <a:buNone/>
            </a:pPr>
            <a:r>
              <a:rPr lang="en-US" dirty="0"/>
              <a:t>If </a:t>
            </a:r>
            <a:r>
              <a:rPr lang="en-US" sz="1100" b="0" i="0" u="none" strike="noStrike" cap="none" dirty="0" err="1">
                <a:solidFill>
                  <a:srgbClr val="000000"/>
                </a:solidFill>
                <a:latin typeface="Arial"/>
                <a:ea typeface="Arial"/>
                <a:cs typeface="Arial"/>
                <a:sym typeface="Arial"/>
              </a:rPr>
              <a:t>n_samples</a:t>
            </a:r>
            <a:r>
              <a:rPr lang="en-US" sz="1100" b="0" i="0" u="none" strike="noStrike" cap="none" dirty="0">
                <a:solidFill>
                  <a:srgbClr val="000000"/>
                </a:solidFill>
                <a:latin typeface="Arial"/>
                <a:ea typeface="Arial"/>
                <a:cs typeface="Arial"/>
                <a:sym typeface="Arial"/>
              </a:rPr>
              <a:t> &gt; 1</a:t>
            </a:r>
            <a:r>
              <a:rPr lang="en-US" dirty="0"/>
              <a:t> and there is variability, </a:t>
            </a:r>
            <a:r>
              <a:rPr lang="en-US" sz="1100" b="0" i="0" u="none" strike="noStrike" cap="none" dirty="0" err="1">
                <a:solidFill>
                  <a:srgbClr val="000000"/>
                </a:solidFill>
                <a:latin typeface="Arial"/>
                <a:ea typeface="Arial"/>
                <a:cs typeface="Arial"/>
                <a:sym typeface="Arial"/>
              </a:rPr>
              <a:t>crna_mean</a:t>
            </a:r>
            <a:r>
              <a:rPr lang="en-US" dirty="0"/>
              <a:t> and </a:t>
            </a:r>
            <a:r>
              <a:rPr lang="en-US" sz="1100" b="0" i="0" u="none" strike="noStrike" cap="none" dirty="0" err="1">
                <a:solidFill>
                  <a:srgbClr val="000000"/>
                </a:solidFill>
                <a:latin typeface="Arial"/>
                <a:ea typeface="Arial"/>
                <a:cs typeface="Arial"/>
                <a:sym typeface="Arial"/>
              </a:rPr>
              <a:t>crna_median</a:t>
            </a:r>
            <a:r>
              <a:rPr lang="en-US" dirty="0"/>
              <a:t> may differ.</a:t>
            </a:r>
          </a:p>
          <a:p>
            <a:pPr marL="615950" lvl="1" indent="0">
              <a:buNone/>
            </a:pPr>
            <a:r>
              <a:rPr lang="en-US" dirty="0"/>
              <a:t>Used as another summary of “how much virus is in the sewage this week.”</a:t>
            </a:r>
          </a:p>
          <a:p>
            <a:pPr marL="158750" indent="0">
              <a:buNone/>
            </a:pPr>
            <a:br>
              <a:rPr lang="en-US" dirty="0"/>
            </a:br>
            <a:endParaRPr lang="en-US" dirty="0"/>
          </a:p>
          <a:p>
            <a:pPr marL="158750" indent="0">
              <a:buNone/>
            </a:pPr>
            <a:r>
              <a:rPr lang="en-US" b="1" dirty="0"/>
              <a:t>8. </a:t>
            </a:r>
            <a:r>
              <a:rPr lang="en-US" sz="1100" b="1" i="0" u="none" strike="noStrike" cap="none" dirty="0">
                <a:solidFill>
                  <a:srgbClr val="000000"/>
                </a:solidFill>
                <a:latin typeface="Arial"/>
                <a:ea typeface="Arial"/>
                <a:cs typeface="Arial"/>
                <a:sym typeface="Arial"/>
              </a:rPr>
              <a:t>ptc_15d_median</a:t>
            </a:r>
            <a:endParaRPr lang="en-US" b="1" dirty="0"/>
          </a:p>
          <a:p>
            <a:pPr marL="158750" indent="0">
              <a:buNone/>
            </a:pPr>
            <a:r>
              <a:rPr lang="en-US" b="1" dirty="0"/>
              <a:t>What it means (plain)</a:t>
            </a:r>
            <a:br>
              <a:rPr lang="en-US" dirty="0"/>
            </a:br>
            <a:r>
              <a:rPr lang="en-US" dirty="0"/>
              <a:t>“</a:t>
            </a:r>
            <a:r>
              <a:rPr lang="en-US" b="1" dirty="0"/>
              <a:t>15-day percent change</a:t>
            </a:r>
            <a:r>
              <a:rPr lang="en-US" dirty="0"/>
              <a:t>” in the viral concentration (median across sites). It tells you </a:t>
            </a:r>
            <a:r>
              <a:rPr lang="en-US" b="1" dirty="0"/>
              <a:t>how quickly the virus levels are going up or down</a:t>
            </a:r>
            <a:r>
              <a:rPr lang="en-US" dirty="0"/>
              <a:t> over the last 15 days.</a:t>
            </a:r>
          </a:p>
          <a:p>
            <a:pPr marL="615950" lvl="1" indent="0">
              <a:buNone/>
            </a:pPr>
            <a:r>
              <a:rPr lang="en-US" dirty="0"/>
              <a:t>Positive = increasing.</a:t>
            </a:r>
          </a:p>
          <a:p>
            <a:pPr marL="615950" lvl="1" indent="0">
              <a:buNone/>
            </a:pPr>
            <a:r>
              <a:rPr lang="en-US" dirty="0"/>
              <a:t>Negative = decreasing.</a:t>
            </a:r>
          </a:p>
          <a:p>
            <a:pPr marL="615950" lvl="1" indent="0">
              <a:buNone/>
            </a:pPr>
            <a:r>
              <a:rPr lang="en-US" dirty="0"/>
              <a:t>Defined by CDC as the modeled percentage change over 15 days using regression on log-transformed </a:t>
            </a:r>
            <a:r>
              <a:rPr lang="en-US" dirty="0" err="1"/>
              <a:t>levels.</a:t>
            </a:r>
            <a:r>
              <a:rPr lang="en-US" dirty="0" err="1">
                <a:hlinkClick r:id="rId9"/>
              </a:rPr>
              <a:t>CDC</a:t>
            </a:r>
            <a:r>
              <a:rPr lang="en-US" dirty="0">
                <a:hlinkClick r:id="rId9"/>
              </a:rPr>
              <a:t> Stacks+2CDC Stacks+2</a:t>
            </a:r>
            <a:endParaRPr lang="en-US" dirty="0"/>
          </a:p>
          <a:p>
            <a:pPr marL="158750" indent="0">
              <a:buNone/>
            </a:pPr>
            <a:r>
              <a:rPr lang="en-US" b="1" dirty="0"/>
              <a:t>Example from your data</a:t>
            </a:r>
            <a:endParaRPr lang="en-US" dirty="0"/>
          </a:p>
          <a:p>
            <a:pPr marL="615950" lvl="1" indent="0">
              <a:buNone/>
            </a:pPr>
            <a:r>
              <a:rPr lang="en-US" dirty="0"/>
              <a:t>Row 1: </a:t>
            </a:r>
            <a:r>
              <a:rPr lang="en-US" sz="1100" b="0" i="0" u="none" strike="noStrike" cap="none" dirty="0">
                <a:solidFill>
                  <a:srgbClr val="000000"/>
                </a:solidFill>
                <a:latin typeface="Arial"/>
                <a:ea typeface="Arial"/>
                <a:cs typeface="Arial"/>
                <a:sym typeface="Arial"/>
              </a:rPr>
              <a:t>1674235.5</a:t>
            </a:r>
            <a:endParaRPr lang="en-US" dirty="0"/>
          </a:p>
          <a:p>
            <a:pPr marL="615950" lvl="1" indent="0">
              <a:buNone/>
            </a:pPr>
            <a:r>
              <a:rPr lang="en-US" dirty="0"/>
              <a:t>Row 2: </a:t>
            </a:r>
            <a:r>
              <a:rPr lang="en-US" sz="1100" b="0" i="0" u="none" strike="noStrike" cap="none" dirty="0">
                <a:solidFill>
                  <a:srgbClr val="000000"/>
                </a:solidFill>
                <a:latin typeface="Arial"/>
                <a:ea typeface="Arial"/>
                <a:cs typeface="Arial"/>
                <a:sym typeface="Arial"/>
              </a:rPr>
              <a:t>-76.5</a:t>
            </a:r>
            <a:endParaRPr lang="en-US" dirty="0"/>
          </a:p>
          <a:p>
            <a:pPr marL="615950" lvl="1" indent="0">
              <a:buNone/>
            </a:pPr>
            <a:r>
              <a:rPr lang="en-US" dirty="0"/>
              <a:t>Row 3: </a:t>
            </a:r>
            <a:r>
              <a:rPr lang="en-US" sz="1100" b="0" i="0" u="none" strike="noStrike" cap="none" dirty="0">
                <a:solidFill>
                  <a:srgbClr val="000000"/>
                </a:solidFill>
                <a:latin typeface="Arial"/>
                <a:ea typeface="Arial"/>
                <a:cs typeface="Arial"/>
                <a:sym typeface="Arial"/>
              </a:rPr>
              <a:t>-93.5</a:t>
            </a:r>
            <a:endParaRPr lang="en-US" dirty="0"/>
          </a:p>
          <a:p>
            <a:pPr marL="615950" lvl="1" indent="0">
              <a:buNone/>
            </a:pPr>
            <a:r>
              <a:rPr lang="en-US" dirty="0"/>
              <a:t>Row 4: </a:t>
            </a:r>
            <a:r>
              <a:rPr lang="en-US" sz="1100" b="0" i="0" u="none" strike="noStrike" cap="none" dirty="0">
                <a:solidFill>
                  <a:srgbClr val="000000"/>
                </a:solidFill>
                <a:latin typeface="Arial"/>
                <a:ea typeface="Arial"/>
                <a:cs typeface="Arial"/>
                <a:sym typeface="Arial"/>
              </a:rPr>
              <a:t>1722.0</a:t>
            </a:r>
            <a:br>
              <a:rPr lang="en-US" dirty="0"/>
            </a:br>
            <a:r>
              <a:rPr lang="en-US" dirty="0"/>
              <a:t>These huge positive values (e.g., 1,674,235%) reflect going from </a:t>
            </a:r>
            <a:r>
              <a:rPr lang="en-US" b="1" dirty="0"/>
              <a:t>near-zero</a:t>
            </a:r>
            <a:r>
              <a:rPr lang="en-US" dirty="0"/>
              <a:t> to a big spike; percent change can explode mathematically when the baseline is tiny (CDC explicitly notes this behavior).</a:t>
            </a:r>
            <a:r>
              <a:rPr lang="en-US" dirty="0">
                <a:hlinkClick r:id="rId9"/>
              </a:rPr>
              <a:t>CDC Stacks+1</a:t>
            </a:r>
            <a:endParaRPr lang="en-US" dirty="0"/>
          </a:p>
          <a:p>
            <a:pPr marL="158750" indent="0">
              <a:buNone/>
            </a:pPr>
            <a:r>
              <a:rPr lang="en-US" b="1" dirty="0"/>
              <a:t>Rough range / interpretation</a:t>
            </a:r>
            <a:endParaRPr lang="en-US" dirty="0"/>
          </a:p>
          <a:p>
            <a:pPr marL="615950" lvl="1" indent="0">
              <a:buNone/>
            </a:pPr>
            <a:r>
              <a:rPr lang="en-US" dirty="0"/>
              <a:t>No fixed upper bound.</a:t>
            </a:r>
          </a:p>
          <a:p>
            <a:pPr marL="615950" lvl="1" indent="0">
              <a:buNone/>
            </a:pPr>
            <a:r>
              <a:rPr lang="en-US" dirty="0"/>
              <a:t>Common “stable” weeks might show roughly −50% to +100% changes.</a:t>
            </a:r>
          </a:p>
          <a:p>
            <a:pPr marL="615950" lvl="1" indent="0">
              <a:buNone/>
            </a:pPr>
            <a:r>
              <a:rPr lang="en-US" dirty="0"/>
              <a:t>Extreme jumps from nearly 0 to high levels can produce </a:t>
            </a:r>
            <a:r>
              <a:rPr lang="en-US" b="1" dirty="0"/>
              <a:t>very large positive numbers</a:t>
            </a:r>
            <a:r>
              <a:rPr lang="en-US" dirty="0"/>
              <a:t> (hundreds or millions of percent).</a:t>
            </a:r>
          </a:p>
          <a:p>
            <a:pPr marL="615950" lvl="1" indent="0">
              <a:buNone/>
            </a:pPr>
            <a:r>
              <a:rPr lang="en-US" sz="1100" b="0" i="0" u="none" strike="noStrike" cap="none" dirty="0">
                <a:solidFill>
                  <a:srgbClr val="000000"/>
                </a:solidFill>
                <a:latin typeface="Arial"/>
                <a:ea typeface="Arial"/>
                <a:cs typeface="Arial"/>
                <a:sym typeface="Arial"/>
              </a:rPr>
              <a:t>&lt;NA&gt;</a:t>
            </a:r>
            <a:r>
              <a:rPr lang="en-US" dirty="0"/>
              <a:t> means not enough data in the last 15 days to estimate.</a:t>
            </a:r>
          </a:p>
          <a:p>
            <a:pPr marL="158750" indent="0">
              <a:buNone/>
            </a:pPr>
            <a:br>
              <a:rPr lang="en-US" dirty="0"/>
            </a:br>
            <a:endParaRPr lang="en-US" dirty="0"/>
          </a:p>
          <a:p>
            <a:pPr marL="158750" indent="0">
              <a:buNone/>
            </a:pPr>
            <a:r>
              <a:rPr lang="en-US" b="1" dirty="0"/>
              <a:t>9. </a:t>
            </a:r>
            <a:r>
              <a:rPr lang="en-US" sz="1100" b="1" i="0" u="none" strike="noStrike" cap="none" dirty="0" err="1">
                <a:solidFill>
                  <a:srgbClr val="000000"/>
                </a:solidFill>
                <a:latin typeface="Arial"/>
                <a:ea typeface="Arial"/>
                <a:cs typeface="Arial"/>
                <a:sym typeface="Arial"/>
              </a:rPr>
              <a:t>percentile_median</a:t>
            </a:r>
            <a:endParaRPr lang="en-US" b="1" dirty="0"/>
          </a:p>
          <a:p>
            <a:pPr marL="158750" indent="0">
              <a:buNone/>
            </a:pPr>
            <a:r>
              <a:rPr lang="en-US" b="1" dirty="0"/>
              <a:t>What it means (plain)</a:t>
            </a:r>
            <a:br>
              <a:rPr lang="en-US" dirty="0"/>
            </a:br>
            <a:r>
              <a:rPr lang="en-US" dirty="0"/>
              <a:t>A </a:t>
            </a:r>
            <a:r>
              <a:rPr lang="en-US" b="1" dirty="0"/>
              <a:t>0–100 score comparing this week’s viral level to that site’s own past history.</a:t>
            </a:r>
            <a:endParaRPr lang="en-US" dirty="0"/>
          </a:p>
          <a:p>
            <a:pPr marL="615950" lvl="1" indent="0">
              <a:buNone/>
            </a:pPr>
            <a:r>
              <a:rPr lang="en-US" dirty="0"/>
              <a:t>0 = lowest ever recorded.</a:t>
            </a:r>
          </a:p>
          <a:p>
            <a:pPr marL="615950" lvl="1" indent="0">
              <a:buNone/>
            </a:pPr>
            <a:r>
              <a:rPr lang="en-US" dirty="0"/>
              <a:t>100 = highest ever recorded.</a:t>
            </a:r>
            <a:br>
              <a:rPr lang="en-US" dirty="0"/>
            </a:br>
            <a:r>
              <a:rPr lang="en-US" dirty="0"/>
              <a:t>CDC uses the same concept for influenza A and other pathogens: percentile position of current level within historical </a:t>
            </a:r>
            <a:r>
              <a:rPr lang="en-US" dirty="0" err="1"/>
              <a:t>range.</a:t>
            </a:r>
            <a:r>
              <a:rPr lang="en-US" dirty="0" err="1">
                <a:hlinkClick r:id="rId10"/>
              </a:rPr>
              <a:t>CDC</a:t>
            </a:r>
            <a:r>
              <a:rPr lang="en-US" dirty="0">
                <a:hlinkClick r:id="rId10"/>
              </a:rPr>
              <a:t> Archive+2CDC+2</a:t>
            </a:r>
            <a:endParaRPr lang="en-US" dirty="0"/>
          </a:p>
          <a:p>
            <a:pPr marL="158750" indent="0">
              <a:buNone/>
            </a:pPr>
            <a:r>
              <a:rPr lang="en-US" b="1" dirty="0"/>
              <a:t>Example from your data</a:t>
            </a:r>
            <a:endParaRPr lang="en-US" dirty="0"/>
          </a:p>
          <a:p>
            <a:pPr marL="615950" lvl="1" indent="0">
              <a:buNone/>
            </a:pPr>
            <a:r>
              <a:rPr lang="en-US" dirty="0"/>
              <a:t>Row 1: </a:t>
            </a:r>
            <a:r>
              <a:rPr lang="en-US" sz="1100" b="0" i="0" u="none" strike="noStrike" cap="none" dirty="0">
                <a:solidFill>
                  <a:srgbClr val="000000"/>
                </a:solidFill>
                <a:latin typeface="Arial"/>
                <a:ea typeface="Arial"/>
                <a:cs typeface="Arial"/>
                <a:sym typeface="Arial"/>
              </a:rPr>
              <a:t>39.75</a:t>
            </a:r>
            <a:r>
              <a:rPr lang="en-US" dirty="0"/>
              <a:t> → around the 40th percentile: lower-middle compared to that site’s historical levels.</a:t>
            </a:r>
          </a:p>
          <a:p>
            <a:pPr marL="615950" lvl="1" indent="0">
              <a:buNone/>
            </a:pPr>
            <a:r>
              <a:rPr lang="en-US" dirty="0"/>
              <a:t>Row 4: </a:t>
            </a:r>
            <a:r>
              <a:rPr lang="en-US" sz="1100" b="0" i="0" u="none" strike="noStrike" cap="none" dirty="0">
                <a:solidFill>
                  <a:srgbClr val="000000"/>
                </a:solidFill>
                <a:latin typeface="Arial"/>
                <a:ea typeface="Arial"/>
                <a:cs typeface="Arial"/>
                <a:sym typeface="Arial"/>
              </a:rPr>
              <a:t>25.6</a:t>
            </a:r>
            <a:r>
              <a:rPr lang="en-US" dirty="0"/>
              <a:t> → about the 26th percentile: relatively low, but not the minimum.</a:t>
            </a:r>
          </a:p>
          <a:p>
            <a:pPr marL="158750" indent="0">
              <a:buNone/>
            </a:pPr>
            <a:r>
              <a:rPr lang="en-US" b="1" dirty="0"/>
              <a:t>Rough range / interpretation</a:t>
            </a:r>
            <a:endParaRPr lang="en-US" dirty="0"/>
          </a:p>
          <a:p>
            <a:pPr marL="615950" lvl="1" indent="0">
              <a:buNone/>
            </a:pPr>
            <a:r>
              <a:rPr lang="en-US" dirty="0"/>
              <a:t>Always </a:t>
            </a:r>
            <a:r>
              <a:rPr lang="en-US" b="1" dirty="0"/>
              <a:t>0–100</a:t>
            </a:r>
            <a:r>
              <a:rPr lang="en-US" dirty="0"/>
              <a:t> (continuous, not just 5 buckets).</a:t>
            </a:r>
          </a:p>
          <a:p>
            <a:pPr marL="615950" lvl="1" indent="0">
              <a:buNone/>
            </a:pPr>
            <a:r>
              <a:rPr lang="en-US" dirty="0"/>
              <a:t>Rough interpretation:</a:t>
            </a:r>
          </a:p>
          <a:p>
            <a:pPr marL="1073150" lvl="2" indent="0">
              <a:buNone/>
            </a:pPr>
            <a:r>
              <a:rPr lang="en-US" sz="1100" b="0" i="0" u="none" strike="noStrike" cap="none" dirty="0">
                <a:solidFill>
                  <a:srgbClr val="000000"/>
                </a:solidFill>
                <a:latin typeface="Arial"/>
                <a:ea typeface="Arial"/>
                <a:cs typeface="Arial"/>
                <a:sym typeface="Arial"/>
              </a:rPr>
              <a:t>&lt;20</a:t>
            </a:r>
            <a:r>
              <a:rPr lang="en-US" dirty="0"/>
              <a:t> = historically low.</a:t>
            </a:r>
          </a:p>
          <a:p>
            <a:pPr marL="1073150" lvl="2" indent="0">
              <a:buNone/>
            </a:pPr>
            <a:r>
              <a:rPr lang="en-US" sz="1100" b="0" i="0" u="none" strike="noStrike" cap="none" dirty="0">
                <a:solidFill>
                  <a:srgbClr val="000000"/>
                </a:solidFill>
                <a:latin typeface="Arial"/>
                <a:ea typeface="Arial"/>
                <a:cs typeface="Arial"/>
                <a:sym typeface="Arial"/>
              </a:rPr>
              <a:t>20–60</a:t>
            </a:r>
            <a:r>
              <a:rPr lang="en-US" dirty="0"/>
              <a:t> = low to moderate.</a:t>
            </a:r>
          </a:p>
          <a:p>
            <a:pPr marL="1073150" lvl="2" indent="0">
              <a:buNone/>
            </a:pPr>
            <a:r>
              <a:rPr lang="en-US" sz="1100" b="0" i="0" u="none" strike="noStrike" cap="none" dirty="0">
                <a:solidFill>
                  <a:srgbClr val="000000"/>
                </a:solidFill>
                <a:latin typeface="Arial"/>
                <a:ea typeface="Arial"/>
                <a:cs typeface="Arial"/>
                <a:sym typeface="Arial"/>
              </a:rPr>
              <a:t>&gt;80</a:t>
            </a:r>
            <a:r>
              <a:rPr lang="en-US" dirty="0"/>
              <a:t> = very high relative to that site’s history.</a:t>
            </a:r>
          </a:p>
          <a:p>
            <a:pPr marL="158750" indent="0">
              <a:buNone/>
            </a:pPr>
            <a:br>
              <a:rPr lang="en-US" dirty="0"/>
            </a:br>
            <a:endParaRPr lang="en-US" dirty="0"/>
          </a:p>
          <a:p>
            <a:pPr marL="158750" indent="0">
              <a:buNone/>
            </a:pPr>
            <a:r>
              <a:rPr lang="en-US" b="1" dirty="0"/>
              <a:t>10. </a:t>
            </a:r>
            <a:r>
              <a:rPr lang="en-US" sz="1100" b="1" i="0" u="none" strike="noStrike" cap="none" dirty="0">
                <a:solidFill>
                  <a:srgbClr val="000000"/>
                </a:solidFill>
                <a:latin typeface="Arial"/>
                <a:ea typeface="Arial"/>
                <a:cs typeface="Arial"/>
                <a:sym typeface="Arial"/>
              </a:rPr>
              <a:t>pop_2019</a:t>
            </a:r>
            <a:endParaRPr lang="en-US" b="1" dirty="0"/>
          </a:p>
          <a:p>
            <a:pPr marL="158750" indent="0">
              <a:buNone/>
            </a:pPr>
            <a:r>
              <a:rPr lang="en-US" b="1" dirty="0"/>
              <a:t>What it means (plain)</a:t>
            </a:r>
            <a:br>
              <a:rPr lang="en-US" dirty="0"/>
            </a:br>
            <a:r>
              <a:rPr lang="en-US" dirty="0"/>
              <a:t>The </a:t>
            </a:r>
            <a:r>
              <a:rPr lang="en-US" b="1" dirty="0"/>
              <a:t>2019 U.S. Census estimate of the total population of the county.</a:t>
            </a:r>
            <a:r>
              <a:rPr lang="en-US" dirty="0"/>
              <a:t> Used to convert counts (like hospitalizations) into per-population rates.</a:t>
            </a:r>
          </a:p>
          <a:p>
            <a:pPr marL="158750" indent="0">
              <a:buNone/>
            </a:pPr>
            <a:r>
              <a:rPr lang="en-US" b="1" dirty="0"/>
              <a:t>Example from your data</a:t>
            </a:r>
            <a:br>
              <a:rPr lang="en-US" dirty="0"/>
            </a:br>
            <a:r>
              <a:rPr lang="en-US" sz="1100" b="0" i="0" u="none" strike="noStrike" cap="none" dirty="0">
                <a:solidFill>
                  <a:srgbClr val="000000"/>
                </a:solidFill>
                <a:latin typeface="Arial"/>
                <a:ea typeface="Arial"/>
                <a:cs typeface="Arial"/>
                <a:sym typeface="Arial"/>
              </a:rPr>
              <a:t>223234.0</a:t>
            </a:r>
            <a:r>
              <a:rPr lang="en-US" dirty="0"/>
              <a:t> → Baldwin County has about 223k residents. (Public census and other sources place Baldwin County in this ballpark.)</a:t>
            </a:r>
            <a:r>
              <a:rPr lang="en-US" dirty="0">
                <a:hlinkClick r:id="rId4"/>
              </a:rPr>
              <a:t>Geocodio+1</a:t>
            </a:r>
            <a:endParaRPr lang="en-US" dirty="0"/>
          </a:p>
          <a:p>
            <a:pPr marL="158750" indent="0">
              <a:buNone/>
            </a:pPr>
            <a:r>
              <a:rPr lang="en-US" b="1" dirty="0"/>
              <a:t>Rough range / interpretation</a:t>
            </a:r>
            <a:endParaRPr lang="en-US" dirty="0"/>
          </a:p>
          <a:p>
            <a:pPr marL="615950" lvl="1" indent="0">
              <a:buNone/>
            </a:pPr>
            <a:r>
              <a:rPr lang="en-US" dirty="0"/>
              <a:t>U.S. counties range from </a:t>
            </a:r>
            <a:r>
              <a:rPr lang="en-US" b="1" dirty="0"/>
              <a:t>a few thousand people</a:t>
            </a:r>
            <a:r>
              <a:rPr lang="en-US" dirty="0"/>
              <a:t> to </a:t>
            </a:r>
            <a:r>
              <a:rPr lang="en-US" b="1" dirty="0"/>
              <a:t>several million</a:t>
            </a:r>
            <a:r>
              <a:rPr lang="en-US" dirty="0"/>
              <a:t> (e.g., Los Angeles County).</a:t>
            </a:r>
          </a:p>
          <a:p>
            <a:pPr marL="615950" lvl="1" indent="0">
              <a:buNone/>
            </a:pPr>
            <a:r>
              <a:rPr lang="en-US" dirty="0"/>
              <a:t>In your dataset this will be fixed per </a:t>
            </a:r>
            <a:r>
              <a:rPr lang="en-US" sz="1100" b="0" i="0" u="none" strike="noStrike" cap="none" dirty="0" err="1">
                <a:solidFill>
                  <a:srgbClr val="000000"/>
                </a:solidFill>
                <a:latin typeface="Arial"/>
                <a:ea typeface="Arial"/>
                <a:cs typeface="Arial"/>
                <a:sym typeface="Arial"/>
              </a:rPr>
              <a:t>fips_code</a:t>
            </a:r>
            <a:r>
              <a:rPr lang="en-US" dirty="0"/>
              <a:t> and does not change by week.</a:t>
            </a:r>
          </a:p>
          <a:p>
            <a:pPr marL="158750" indent="0">
              <a:buNone/>
            </a:pPr>
            <a:br>
              <a:rPr lang="en-US" dirty="0"/>
            </a:br>
            <a:endParaRPr lang="en-US" dirty="0"/>
          </a:p>
          <a:p>
            <a:pPr marL="158750" indent="0">
              <a:buNone/>
            </a:pPr>
            <a:r>
              <a:rPr lang="en-US" b="1" dirty="0"/>
              <a:t>11. </a:t>
            </a:r>
            <a:r>
              <a:rPr lang="en-US" sz="1100" b="1" i="0" u="none" strike="noStrike" cap="none" dirty="0" err="1">
                <a:solidFill>
                  <a:srgbClr val="000000"/>
                </a:solidFill>
                <a:latin typeface="Arial"/>
                <a:ea typeface="Arial"/>
                <a:cs typeface="Arial"/>
                <a:sym typeface="Arial"/>
              </a:rPr>
              <a:t>crna_popw_mean</a:t>
            </a:r>
            <a:endParaRPr lang="en-US" b="1" dirty="0"/>
          </a:p>
          <a:p>
            <a:pPr marL="158750" indent="0">
              <a:buNone/>
            </a:pPr>
            <a:r>
              <a:rPr lang="en-US" b="1" dirty="0"/>
              <a:t>What it means (plain)</a:t>
            </a:r>
            <a:br>
              <a:rPr lang="en-US" dirty="0"/>
            </a:br>
            <a:r>
              <a:rPr lang="en-US" dirty="0"/>
              <a:t>The </a:t>
            </a:r>
            <a:r>
              <a:rPr lang="en-US" b="1" dirty="0"/>
              <a:t>population-weighted average viral concentration</a:t>
            </a:r>
            <a:r>
              <a:rPr lang="en-US" dirty="0"/>
              <a:t> across all sites serving the county.</a:t>
            </a:r>
          </a:p>
          <a:p>
            <a:pPr marL="615950" lvl="1" indent="0">
              <a:buNone/>
            </a:pPr>
            <a:r>
              <a:rPr lang="en-US" dirty="0"/>
              <a:t>If a county has multiple plants of different sizes, larger plants count more.</a:t>
            </a:r>
          </a:p>
          <a:p>
            <a:pPr marL="615950" lvl="1" indent="0">
              <a:buNone/>
            </a:pPr>
            <a:r>
              <a:rPr lang="en-US" dirty="0"/>
              <a:t>In single-site counties, this is the same as that site’s mean concentration.</a:t>
            </a:r>
          </a:p>
          <a:p>
            <a:pPr marL="158750" indent="0">
              <a:buNone/>
            </a:pPr>
            <a:r>
              <a:rPr lang="en-US" b="1" dirty="0"/>
              <a:t>Example from your data</a:t>
            </a:r>
            <a:br>
              <a:rPr lang="en-US" dirty="0"/>
            </a:br>
            <a:r>
              <a:rPr lang="en-US" dirty="0"/>
              <a:t>For the sample rows, the value equals </a:t>
            </a:r>
            <a:r>
              <a:rPr lang="en-US" sz="1100" b="0" i="0" u="none" strike="noStrike" cap="none" dirty="0" err="1">
                <a:solidFill>
                  <a:srgbClr val="000000"/>
                </a:solidFill>
                <a:latin typeface="Arial"/>
                <a:ea typeface="Arial"/>
                <a:cs typeface="Arial"/>
                <a:sym typeface="Arial"/>
              </a:rPr>
              <a:t>crna_mean</a:t>
            </a:r>
            <a:r>
              <a:rPr lang="en-US" dirty="0"/>
              <a:t>, because </a:t>
            </a:r>
            <a:r>
              <a:rPr lang="en-US" sz="1100" b="0" i="0" u="none" strike="noStrike" cap="none" dirty="0" err="1">
                <a:solidFill>
                  <a:srgbClr val="000000"/>
                </a:solidFill>
                <a:latin typeface="Arial"/>
                <a:ea typeface="Arial"/>
                <a:cs typeface="Arial"/>
                <a:sym typeface="Arial"/>
              </a:rPr>
              <a:t>n_sites</a:t>
            </a:r>
            <a:r>
              <a:rPr lang="en-US" sz="1100" b="0" i="0" u="none" strike="noStrike" cap="none" dirty="0">
                <a:solidFill>
                  <a:srgbClr val="000000"/>
                </a:solidFill>
                <a:latin typeface="Arial"/>
                <a:ea typeface="Arial"/>
                <a:cs typeface="Arial"/>
                <a:sym typeface="Arial"/>
              </a:rPr>
              <a:t> = 1</a:t>
            </a:r>
            <a:r>
              <a:rPr lang="en-US" dirty="0"/>
              <a:t> and all population is from one plant.</a:t>
            </a:r>
          </a:p>
          <a:p>
            <a:pPr marL="158750" indent="0">
              <a:buNone/>
            </a:pPr>
            <a:r>
              <a:rPr lang="en-US" b="1" dirty="0"/>
              <a:t>Rough range / interpretation</a:t>
            </a:r>
            <a:endParaRPr lang="en-US" dirty="0"/>
          </a:p>
          <a:p>
            <a:pPr marL="615950" lvl="1" indent="0">
              <a:buNone/>
            </a:pPr>
            <a:r>
              <a:rPr lang="en-US" dirty="0"/>
              <a:t>Same order of magnitude as </a:t>
            </a:r>
            <a:r>
              <a:rPr lang="en-US" sz="1100" b="0" i="0" u="none" strike="noStrike" cap="none" dirty="0" err="1">
                <a:solidFill>
                  <a:srgbClr val="000000"/>
                </a:solidFill>
                <a:latin typeface="Arial"/>
                <a:ea typeface="Arial"/>
                <a:cs typeface="Arial"/>
                <a:sym typeface="Arial"/>
              </a:rPr>
              <a:t>crna_mean</a:t>
            </a:r>
            <a:r>
              <a:rPr lang="en-US" dirty="0"/>
              <a:t> (≈ 0 to 10⁸ copies/L).</a:t>
            </a:r>
            <a:r>
              <a:rPr lang="en-US" dirty="0">
                <a:hlinkClick r:id="rId8"/>
              </a:rPr>
              <a:t>PMC+2PMC+2</a:t>
            </a:r>
            <a:endParaRPr lang="en-US" dirty="0"/>
          </a:p>
          <a:p>
            <a:pPr marL="615950" lvl="1" indent="0">
              <a:buNone/>
            </a:pPr>
            <a:r>
              <a:rPr lang="en-US" dirty="0"/>
              <a:t>More interpretable than unweighted metrics when multiple sites with very different catchment sizes exist.</a:t>
            </a:r>
          </a:p>
          <a:p>
            <a:pPr marL="158750" indent="0">
              <a:buNone/>
            </a:pPr>
            <a:br>
              <a:rPr lang="en-US" dirty="0"/>
            </a:br>
            <a:endParaRPr lang="en-US" dirty="0"/>
          </a:p>
          <a:p>
            <a:pPr marL="158750" indent="0">
              <a:buNone/>
            </a:pPr>
            <a:r>
              <a:rPr lang="en-US" b="1" dirty="0"/>
              <a:t>12. </a:t>
            </a:r>
            <a:r>
              <a:rPr lang="en-US" sz="1100" b="1" i="0" u="none" strike="noStrike" cap="none" dirty="0">
                <a:solidFill>
                  <a:srgbClr val="000000"/>
                </a:solidFill>
                <a:latin typeface="Arial"/>
                <a:ea typeface="Arial"/>
                <a:cs typeface="Arial"/>
                <a:sym typeface="Arial"/>
              </a:rPr>
              <a:t>crna_popw_log10</a:t>
            </a:r>
            <a:endParaRPr lang="en-US" b="1" dirty="0"/>
          </a:p>
          <a:p>
            <a:pPr marL="158750" indent="0">
              <a:buNone/>
            </a:pPr>
            <a:r>
              <a:rPr lang="en-US" b="1" dirty="0"/>
              <a:t>What it means (plain)</a:t>
            </a:r>
            <a:br>
              <a:rPr lang="en-US" dirty="0"/>
            </a:br>
            <a:r>
              <a:rPr lang="en-US" dirty="0"/>
              <a:t>The </a:t>
            </a:r>
            <a:r>
              <a:rPr lang="en-US" b="1" dirty="0"/>
              <a:t>log₁₀ (base-10) of </a:t>
            </a:r>
            <a:r>
              <a:rPr lang="en-US" sz="1100" b="1" i="0" u="none" strike="noStrike" cap="none" dirty="0" err="1">
                <a:solidFill>
                  <a:srgbClr val="000000"/>
                </a:solidFill>
                <a:latin typeface="Arial"/>
                <a:ea typeface="Arial"/>
                <a:cs typeface="Arial"/>
                <a:sym typeface="Arial"/>
              </a:rPr>
              <a:t>crna_popw_mean</a:t>
            </a:r>
            <a:r>
              <a:rPr lang="en-US" b="1" dirty="0"/>
              <a:t>.</a:t>
            </a:r>
            <a:br>
              <a:rPr lang="en-US" dirty="0"/>
            </a:br>
            <a:r>
              <a:rPr lang="en-US" dirty="0"/>
              <a:t>This compresses the huge numeric range into a more stable scale for statistical models.</a:t>
            </a:r>
          </a:p>
          <a:p>
            <a:pPr marL="615950" lvl="1" indent="0">
              <a:buNone/>
            </a:pPr>
            <a:r>
              <a:rPr lang="en-US" dirty="0"/>
              <a:t>Every increase of +1 means “10× more virus concentration.”</a:t>
            </a:r>
          </a:p>
          <a:p>
            <a:pPr marL="615950" lvl="1" indent="0">
              <a:buNone/>
            </a:pPr>
            <a:r>
              <a:rPr lang="en-US" dirty="0"/>
              <a:t>Example: log10(10⁶) = 6; log10(10⁷) = 7.</a:t>
            </a:r>
          </a:p>
          <a:p>
            <a:pPr marL="158750" indent="0">
              <a:buNone/>
            </a:pPr>
            <a:r>
              <a:rPr lang="en-US" b="1" dirty="0"/>
              <a:t>Example from your data</a:t>
            </a:r>
            <a:endParaRPr lang="en-US" dirty="0"/>
          </a:p>
          <a:p>
            <a:pPr marL="615950" lvl="1" indent="0">
              <a:buNone/>
            </a:pPr>
            <a:r>
              <a:rPr lang="en-US" dirty="0"/>
              <a:t>Row 0: </a:t>
            </a:r>
            <a:r>
              <a:rPr lang="en-US" sz="1100" b="0" i="0" u="none" strike="noStrike" cap="none" dirty="0">
                <a:solidFill>
                  <a:srgbClr val="000000"/>
                </a:solidFill>
                <a:latin typeface="Arial"/>
                <a:ea typeface="Arial"/>
                <a:cs typeface="Arial"/>
                <a:sym typeface="Arial"/>
              </a:rPr>
              <a:t>-3.851252</a:t>
            </a:r>
            <a:r>
              <a:rPr lang="en-US" dirty="0"/>
              <a:t> → log10 of a very tiny concentration (</a:t>
            </a:r>
            <a:r>
              <a:rPr lang="en-US" sz="1100" b="0" i="0" u="none" strike="noStrike" cap="none" dirty="0">
                <a:solidFill>
                  <a:srgbClr val="000000"/>
                </a:solidFill>
                <a:latin typeface="Arial"/>
                <a:ea typeface="Arial"/>
                <a:cs typeface="Arial"/>
                <a:sym typeface="Arial"/>
              </a:rPr>
              <a:t>~10^-3.85</a:t>
            </a:r>
            <a:r>
              <a:rPr lang="en-US" dirty="0"/>
              <a:t>).</a:t>
            </a:r>
          </a:p>
          <a:p>
            <a:pPr marL="615950" lvl="1" indent="0">
              <a:buNone/>
            </a:pPr>
            <a:r>
              <a:rPr lang="en-US" dirty="0"/>
              <a:t>Row 1: </a:t>
            </a:r>
            <a:r>
              <a:rPr lang="en-US" sz="1100" b="0" i="0" u="none" strike="noStrike" cap="none" dirty="0">
                <a:solidFill>
                  <a:srgbClr val="000000"/>
                </a:solidFill>
                <a:latin typeface="Arial"/>
                <a:ea typeface="Arial"/>
                <a:cs typeface="Arial"/>
                <a:sym typeface="Arial"/>
              </a:rPr>
              <a:t>7.558643</a:t>
            </a:r>
            <a:r>
              <a:rPr lang="en-US" dirty="0"/>
              <a:t> → about 3.6×10⁷.</a:t>
            </a:r>
          </a:p>
          <a:p>
            <a:pPr marL="615950" lvl="1" indent="0">
              <a:buNone/>
            </a:pPr>
            <a:r>
              <a:rPr lang="en-US" dirty="0"/>
              <a:t>Row 4: </a:t>
            </a:r>
            <a:r>
              <a:rPr lang="en-US" sz="1100" b="0" i="0" u="none" strike="noStrike" cap="none" dirty="0">
                <a:solidFill>
                  <a:srgbClr val="000000"/>
                </a:solidFill>
                <a:latin typeface="Arial"/>
                <a:ea typeface="Arial"/>
                <a:cs typeface="Arial"/>
                <a:sym typeface="Arial"/>
              </a:rPr>
              <a:t>7.631296</a:t>
            </a:r>
            <a:r>
              <a:rPr lang="en-US" dirty="0"/>
              <a:t> → about 4.3×10⁷.</a:t>
            </a:r>
          </a:p>
          <a:p>
            <a:pPr marL="158750" indent="0">
              <a:buNone/>
            </a:pPr>
            <a:r>
              <a:rPr lang="en-US" b="1" dirty="0"/>
              <a:t>Rough range / interpretation</a:t>
            </a:r>
            <a:endParaRPr lang="en-US" dirty="0"/>
          </a:p>
          <a:p>
            <a:pPr marL="615950" lvl="1" indent="0">
              <a:buNone/>
            </a:pPr>
            <a:r>
              <a:rPr lang="en-US" dirty="0"/>
              <a:t>If raw concentrations are ~10⁰–10⁸ copies/L, log₁₀ values are typically roughly </a:t>
            </a:r>
            <a:r>
              <a:rPr lang="en-US" b="1" dirty="0"/>
              <a:t>0–8</a:t>
            </a:r>
            <a:r>
              <a:rPr lang="en-US" dirty="0"/>
              <a:t>.</a:t>
            </a:r>
            <a:r>
              <a:rPr lang="en-US" dirty="0">
                <a:hlinkClick r:id="rId8"/>
              </a:rPr>
              <a:t>PMC+1</a:t>
            </a:r>
            <a:endParaRPr lang="en-US" dirty="0"/>
          </a:p>
          <a:p>
            <a:pPr marL="615950" lvl="1" indent="0">
              <a:buNone/>
            </a:pPr>
            <a:r>
              <a:rPr lang="en-US" dirty="0"/>
              <a:t>Negative values appear when the mean concentration is well below 1 in the chosen units.</a:t>
            </a:r>
          </a:p>
        </p:txBody>
      </p:sp>
    </p:spTree>
    <p:extLst>
      <p:ext uri="{BB962C8B-B14F-4D97-AF65-F5344CB8AC3E}">
        <p14:creationId xmlns:p14="http://schemas.microsoft.com/office/powerpoint/2010/main" val="1091956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marL="158750" indent="0" algn="l">
                  <a:buNone/>
                </a:pPr>
                <a:r>
                  <a:rPr lang="en-US" b="1" dirty="0"/>
                  <a:t>1. </a:t>
                </a:r>
                <a:r>
                  <a:rPr lang="en-US" sz="1100" b="1" i="0" u="none" strike="noStrike" cap="none" dirty="0" err="1">
                    <a:solidFill>
                      <a:srgbClr val="000000"/>
                    </a:solidFill>
                    <a:latin typeface="Arial"/>
                    <a:ea typeface="Arial"/>
                    <a:cs typeface="Arial"/>
                    <a:sym typeface="Arial"/>
                  </a:rPr>
                  <a:t>fips_code</a:t>
                </a:r>
                <a:endParaRPr lang="en-US" b="1" dirty="0"/>
              </a:p>
              <a:p>
                <a:pPr marL="158750" indent="0" algn="l">
                  <a:buNone/>
                </a:pPr>
                <a:r>
                  <a:rPr lang="en-US" b="1" dirty="0"/>
                  <a:t>What it means (plain)</a:t>
                </a:r>
                <a:br>
                  <a:rPr lang="en-US" dirty="0"/>
                </a:br>
                <a:r>
                  <a:rPr lang="en-US" dirty="0"/>
                  <a:t>Government ID code for the county. Every U.S. county has a unique 5-digit “FIPS” code (Federal Information Processing Standard).</a:t>
                </a:r>
              </a:p>
              <a:p>
                <a:pPr marL="158750" indent="0" algn="l">
                  <a:buNone/>
                </a:pPr>
                <a:r>
                  <a:rPr lang="en-US" b="1" dirty="0"/>
                  <a:t>Example from your data</a:t>
                </a:r>
                <a:endParaRPr lang="en-US" dirty="0"/>
              </a:p>
              <a:p>
                <a:pPr marL="615950" lvl="1" indent="0" algn="l">
                  <a:buNone/>
                </a:pPr>
                <a:r>
                  <a:rPr lang="en-US" sz="1100" b="0" i="0" u="none" strike="noStrike" cap="none" dirty="0">
                    <a:solidFill>
                      <a:srgbClr val="000000"/>
                    </a:solidFill>
                    <a:latin typeface="Arial"/>
                    <a:ea typeface="Arial"/>
                    <a:cs typeface="Arial"/>
                    <a:sym typeface="Arial"/>
                  </a:rPr>
                  <a:t>01001</a:t>
                </a:r>
                <a:r>
                  <a:rPr lang="en-US" dirty="0"/>
                  <a:t> → Autauga County, Alabama.</a:t>
                </a:r>
              </a:p>
              <a:p>
                <a:pPr marL="158750" indent="0" algn="l">
                  <a:buNone/>
                </a:pPr>
                <a:r>
                  <a:rPr lang="en-US" b="1" dirty="0"/>
                  <a:t>Typical format / range</a:t>
                </a:r>
                <a:endParaRPr lang="en-US" dirty="0"/>
              </a:p>
              <a:p>
                <a:pPr marL="615950" lvl="1" indent="0" algn="l">
                  <a:buNone/>
                </a:pPr>
                <a:r>
                  <a:rPr lang="en-US" dirty="0"/>
                  <a:t>Always 5 digits: like </a:t>
                </a:r>
                <a:r>
                  <a:rPr lang="en-US" sz="1100" b="0" i="0" u="none" strike="noStrike" cap="none" dirty="0">
                    <a:solidFill>
                      <a:srgbClr val="000000"/>
                    </a:solidFill>
                    <a:latin typeface="Arial"/>
                    <a:ea typeface="Arial"/>
                    <a:cs typeface="Arial"/>
                    <a:sym typeface="Arial"/>
                  </a:rPr>
                  <a:t>01001</a:t>
                </a:r>
                <a:r>
                  <a:rPr lang="en-US" dirty="0"/>
                  <a:t>, </a:t>
                </a:r>
                <a:r>
                  <a:rPr lang="en-US" sz="1100" b="0" i="0" u="none" strike="noStrike" cap="none" dirty="0">
                    <a:solidFill>
                      <a:srgbClr val="000000"/>
                    </a:solidFill>
                    <a:latin typeface="Arial"/>
                    <a:ea typeface="Arial"/>
                    <a:cs typeface="Arial"/>
                    <a:sym typeface="Arial"/>
                  </a:rPr>
                  <a:t>06037</a:t>
                </a:r>
                <a:r>
                  <a:rPr lang="en-US" dirty="0"/>
                  <a:t>, </a:t>
                </a:r>
                <a:r>
                  <a:rPr lang="en-US" sz="1100" b="0" i="0" u="none" strike="noStrike" cap="none" dirty="0">
                    <a:solidFill>
                      <a:srgbClr val="000000"/>
                    </a:solidFill>
                    <a:latin typeface="Arial"/>
                    <a:ea typeface="Arial"/>
                    <a:cs typeface="Arial"/>
                    <a:sym typeface="Arial"/>
                  </a:rPr>
                  <a:t>36061</a:t>
                </a:r>
                <a:r>
                  <a:rPr lang="en-US" dirty="0"/>
                  <a:t>.</a:t>
                </a:r>
              </a:p>
              <a:p>
                <a:pPr marL="615950" lvl="1" indent="0" algn="l">
                  <a:buNone/>
                </a:pPr>
                <a:r>
                  <a:rPr lang="en-US" dirty="0"/>
                  <a:t>Covers all U.S. counties and county-equivalents.</a:t>
                </a:r>
                <a:r>
                  <a:rPr lang="en-US" dirty="0">
                    <a:hlinkClick r:id="rId3"/>
                  </a:rPr>
                  <a:t>PMC+1</a:t>
                </a:r>
                <a:endParaRPr lang="en-US" dirty="0"/>
              </a:p>
              <a:p>
                <a:pPr marL="158750" indent="0" algn="l">
                  <a:buNone/>
                </a:pPr>
                <a:br>
                  <a:rPr lang="en-US" dirty="0"/>
                </a:br>
                <a:endParaRPr lang="en-US" dirty="0"/>
              </a:p>
              <a:p>
                <a:pPr marL="158750" indent="0" algn="l">
                  <a:buNone/>
                </a:pPr>
                <a:r>
                  <a:rPr lang="en-US" b="1" dirty="0"/>
                  <a:t>2. </a:t>
                </a:r>
                <a:r>
                  <a:rPr lang="en-US" sz="1100" b="1" i="0" u="none" strike="noStrike" cap="none" dirty="0" err="1">
                    <a:solidFill>
                      <a:srgbClr val="000000"/>
                    </a:solidFill>
                    <a:latin typeface="Arial"/>
                    <a:ea typeface="Arial"/>
                    <a:cs typeface="Arial"/>
                    <a:sym typeface="Arial"/>
                  </a:rPr>
                  <a:t>week_end_date</a:t>
                </a:r>
                <a:endParaRPr lang="en-US" b="1" dirty="0"/>
              </a:p>
              <a:p>
                <a:pPr marL="158750" indent="0" algn="l">
                  <a:buNone/>
                </a:pPr>
                <a:r>
                  <a:rPr lang="en-US" b="1" dirty="0"/>
                  <a:t>What it means (plain)</a:t>
                </a:r>
                <a:br>
                  <a:rPr lang="en-US" dirty="0"/>
                </a:br>
                <a:r>
                  <a:rPr lang="en-US" dirty="0"/>
                  <a:t>The calendar date for the </a:t>
                </a:r>
                <a:r>
                  <a:rPr lang="en-US" b="1" dirty="0"/>
                  <a:t>end of the reporting week</a:t>
                </a:r>
                <a:r>
                  <a:rPr lang="en-US" dirty="0"/>
                  <a:t>. All COVID hospitalizations for that county in that week are summarized under this date.</a:t>
                </a:r>
              </a:p>
              <a:p>
                <a:pPr marL="158750" indent="0" algn="l">
                  <a:buNone/>
                </a:pPr>
                <a:r>
                  <a:rPr lang="en-US" b="1" dirty="0"/>
                  <a:t>Example from your data</a:t>
                </a:r>
                <a:endParaRPr lang="en-US" dirty="0"/>
              </a:p>
              <a:p>
                <a:pPr marL="615950" lvl="1" indent="0" algn="l">
                  <a:buNone/>
                </a:pPr>
                <a:r>
                  <a:rPr lang="en-US" sz="1100" b="0" i="0" u="none" strike="noStrike" cap="none" dirty="0">
                    <a:solidFill>
                      <a:srgbClr val="000000"/>
                    </a:solidFill>
                    <a:latin typeface="Arial"/>
                    <a:ea typeface="Arial"/>
                    <a:cs typeface="Arial"/>
                    <a:sym typeface="Arial"/>
                  </a:rPr>
                  <a:t>2020-04-18</a:t>
                </a:r>
                <a:r>
                  <a:rPr lang="en-US" dirty="0"/>
                  <a:t> = week ending April 18, 2020.</a:t>
                </a:r>
              </a:p>
              <a:p>
                <a:pPr marL="158750" indent="0" algn="l">
                  <a:buNone/>
                </a:pPr>
                <a:r>
                  <a:rPr lang="en-US" b="1" dirty="0"/>
                  <a:t>Typical format / range</a:t>
                </a:r>
                <a:endParaRPr lang="en-US" dirty="0"/>
              </a:p>
              <a:p>
                <a:pPr marL="615950" lvl="1" indent="0" algn="l">
                  <a:buNone/>
                </a:pPr>
                <a:r>
                  <a:rPr lang="en-US" dirty="0"/>
                  <a:t>ISO date: </a:t>
                </a:r>
                <a:r>
                  <a:rPr lang="en-US" sz="1100" b="0" i="0" u="none" strike="noStrike" cap="none" dirty="0">
                    <a:solidFill>
                      <a:srgbClr val="000000"/>
                    </a:solidFill>
                    <a:latin typeface="Arial"/>
                    <a:ea typeface="Arial"/>
                    <a:cs typeface="Arial"/>
                    <a:sym typeface="Arial"/>
                  </a:rPr>
                  <a:t>YYYY-MM-DD</a:t>
                </a:r>
                <a:r>
                  <a:rPr lang="en-US" dirty="0"/>
                  <a:t>.</a:t>
                </a:r>
              </a:p>
              <a:p>
                <a:pPr marL="615950" lvl="1" indent="0" algn="l">
                  <a:buNone/>
                </a:pPr>
                <a:r>
                  <a:rPr lang="en-US" dirty="0"/>
                  <a:t>Weekly dates over your analysis period (e.g., 2020–2025).</a:t>
                </a:r>
              </a:p>
              <a:p>
                <a:pPr marL="158750" indent="0" algn="l">
                  <a:buNone/>
                </a:pPr>
                <a:br>
                  <a:rPr lang="en-US" dirty="0"/>
                </a:br>
                <a:endParaRPr lang="en-US" dirty="0"/>
              </a:p>
              <a:p>
                <a:pPr marL="158750" indent="0" algn="l">
                  <a:buNone/>
                </a:pPr>
                <a:r>
                  <a:rPr lang="en-US" b="1" dirty="0"/>
                  <a:t>3. </a:t>
                </a:r>
                <a:r>
                  <a:rPr lang="en-US" sz="1100" b="1" i="0" u="none" strike="noStrike" cap="none" dirty="0">
                    <a:solidFill>
                      <a:srgbClr val="000000"/>
                    </a:solidFill>
                    <a:latin typeface="Arial"/>
                    <a:ea typeface="Arial"/>
                    <a:cs typeface="Arial"/>
                    <a:sym typeface="Arial"/>
                  </a:rPr>
                  <a:t>pop_2019</a:t>
                </a:r>
                <a:endParaRPr lang="en-US" b="1" dirty="0"/>
              </a:p>
              <a:p>
                <a:pPr marL="158750" indent="0" algn="l">
                  <a:buNone/>
                </a:pPr>
                <a:r>
                  <a:rPr lang="en-US" b="1" dirty="0"/>
                  <a:t>What it means (plain)</a:t>
                </a:r>
                <a:br>
                  <a:rPr lang="en-US" dirty="0"/>
                </a:br>
                <a:r>
                  <a:rPr lang="en-US" dirty="0"/>
                  <a:t>Estimated </a:t>
                </a:r>
                <a:r>
                  <a:rPr lang="en-US" b="1" dirty="0"/>
                  <a:t>total number of people living in the county in 2019</a:t>
                </a:r>
                <a:r>
                  <a:rPr lang="en-US" dirty="0"/>
                  <a:t>.</a:t>
                </a:r>
                <a:br>
                  <a:rPr lang="en-US" dirty="0"/>
                </a:br>
                <a:r>
                  <a:rPr lang="en-US" dirty="0"/>
                  <a:t>This is used to convert raw hospital counts into “per 100,000 people” so different-size counties can be compared fairly.</a:t>
                </a:r>
              </a:p>
              <a:p>
                <a:pPr marL="158750" indent="0" algn="l">
                  <a:buNone/>
                </a:pPr>
                <a:r>
                  <a:rPr lang="en-US" b="1" dirty="0"/>
                  <a:t>Example from your data</a:t>
                </a:r>
                <a:endParaRPr lang="en-US" dirty="0"/>
              </a:p>
              <a:p>
                <a:pPr marL="615950" lvl="1" indent="0" algn="l">
                  <a:buNone/>
                </a:pPr>
                <a:r>
                  <a:rPr lang="en-US" sz="1100" b="0" i="0" u="none" strike="noStrike" cap="none" dirty="0">
                    <a:solidFill>
                      <a:srgbClr val="000000"/>
                    </a:solidFill>
                    <a:latin typeface="Arial"/>
                    <a:ea typeface="Arial"/>
                    <a:cs typeface="Arial"/>
                    <a:sym typeface="Arial"/>
                  </a:rPr>
                  <a:t>55869.0</a:t>
                </a:r>
                <a:r>
                  <a:rPr lang="en-US" dirty="0"/>
                  <a:t> → about 55,869 people in Autauga County.</a:t>
                </a:r>
              </a:p>
              <a:p>
                <a:pPr marL="158750" indent="0" algn="l">
                  <a:buNone/>
                </a:pPr>
                <a:r>
                  <a:rPr lang="en-US" b="1" dirty="0"/>
                  <a:t>Typical range / interpretation</a:t>
                </a:r>
                <a:endParaRPr lang="en-US" dirty="0"/>
              </a:p>
              <a:p>
                <a:pPr marL="615950" lvl="1" indent="0" algn="l">
                  <a:buNone/>
                </a:pPr>
                <a:r>
                  <a:rPr lang="en-US" dirty="0"/>
                  <a:t>Small rural counties: tens of thousands of people.</a:t>
                </a:r>
              </a:p>
              <a:p>
                <a:pPr marL="615950" lvl="1" indent="0" algn="l">
                  <a:buNone/>
                </a:pPr>
                <a:r>
                  <a:rPr lang="en-US" dirty="0"/>
                  <a:t>Large urban counties: hundreds of thousands to several million residents.</a:t>
                </a:r>
                <a:r>
                  <a:rPr lang="en-US" dirty="0">
                    <a:hlinkClick r:id="rId3"/>
                  </a:rPr>
                  <a:t>PMC+1</a:t>
                </a:r>
                <a:endParaRPr lang="en-US" dirty="0"/>
              </a:p>
              <a:p>
                <a:pPr marL="158750" indent="0" algn="l">
                  <a:buNone/>
                </a:pPr>
                <a:br>
                  <a:rPr lang="en-US" dirty="0"/>
                </a:br>
                <a:endParaRPr lang="en-US" dirty="0"/>
              </a:p>
              <a:p>
                <a:pPr marL="158750" indent="0" algn="l">
                  <a:buNone/>
                </a:pPr>
                <a:r>
                  <a:rPr lang="en-US" b="1" dirty="0"/>
                  <a:t>4. </a:t>
                </a:r>
                <a:r>
                  <a:rPr lang="en-US" sz="1100" b="1" i="0" u="none" strike="noStrike" cap="none" dirty="0" err="1">
                    <a:solidFill>
                      <a:srgbClr val="000000"/>
                    </a:solidFill>
                    <a:latin typeface="Arial"/>
                    <a:ea typeface="Arial"/>
                    <a:cs typeface="Arial"/>
                    <a:sym typeface="Arial"/>
                  </a:rPr>
                  <a:t>hos_wn_count</a:t>
                </a:r>
                <a:endParaRPr lang="en-US" b="1" dirty="0"/>
              </a:p>
              <a:p>
                <a:pPr marL="158750" indent="0" algn="l">
                  <a:buNone/>
                </a:pPr>
                <a:r>
                  <a:rPr lang="en-US" b="1" dirty="0"/>
                  <a:t>What it means (plain)</a:t>
                </a:r>
                <a:br>
                  <a:rPr lang="en-US" dirty="0"/>
                </a:br>
                <a:r>
                  <a:rPr lang="en-US" dirty="0"/>
                  <a:t>“Hospitalizations – Weekly New (count).”</a:t>
                </a:r>
                <a:br>
                  <a:rPr lang="en-US" dirty="0"/>
                </a:br>
                <a:r>
                  <a:rPr lang="en-US" dirty="0"/>
                  <a:t>Intended to be the </a:t>
                </a:r>
                <a:r>
                  <a:rPr lang="en-US" b="1" dirty="0"/>
                  <a:t>number of new COVID-19 hospital admissions in that county during that week</a:t>
                </a:r>
                <a:r>
                  <a:rPr lang="en-US" dirty="0"/>
                  <a:t> (plain counts of people).</a:t>
                </a:r>
              </a:p>
              <a:p>
                <a:pPr marL="615950" lvl="1" indent="0" algn="l">
                  <a:buNone/>
                </a:pPr>
                <a:r>
                  <a:rPr lang="en-US" dirty="0"/>
                  <a:t>In your snippet it’s </a:t>
                </a:r>
                <a:r>
                  <a:rPr lang="en-US" sz="1100" b="0" i="0" u="none" strike="noStrike" cap="none" dirty="0">
                    <a:solidFill>
                      <a:srgbClr val="000000"/>
                    </a:solidFill>
                    <a:latin typeface="Arial"/>
                    <a:ea typeface="Arial"/>
                    <a:cs typeface="Arial"/>
                    <a:sym typeface="Arial"/>
                  </a:rPr>
                  <a:t>0</a:t>
                </a:r>
                <a:r>
                  <a:rPr lang="en-US" dirty="0"/>
                  <a:t> for the first weeks, but the </a:t>
                </a:r>
                <a:r>
                  <a:rPr lang="en-US" i="1" dirty="0"/>
                  <a:t>intended meaning</a:t>
                </a:r>
                <a:r>
                  <a:rPr lang="en-US" dirty="0"/>
                  <a:t> (based on naming and standard CDC/HHS metrics) is “how many people were newly admitted this week.”</a:t>
                </a:r>
                <a:r>
                  <a:rPr lang="en-US" dirty="0">
                    <a:hlinkClick r:id="rId4"/>
                  </a:rPr>
                  <a:t>CDC+1</a:t>
                </a:r>
                <a:endParaRPr lang="en-US" dirty="0"/>
              </a:p>
              <a:p>
                <a:pPr marL="158750" indent="0" algn="l">
                  <a:buNone/>
                </a:pPr>
                <a:r>
                  <a:rPr lang="en-US" b="1" dirty="0"/>
                  <a:t>Example (conceptual, same county size)</a:t>
                </a:r>
                <a:endParaRPr lang="en-US" dirty="0"/>
              </a:p>
              <a:p>
                <a:pPr marL="615950" lvl="1" indent="0" algn="l">
                  <a:buNone/>
                </a:pPr>
                <a:r>
                  <a:rPr lang="en-US" sz="1100" b="0" i="0" u="none" strike="noStrike" cap="none" dirty="0" err="1">
                    <a:solidFill>
                      <a:srgbClr val="000000"/>
                    </a:solidFill>
                    <a:latin typeface="Arial"/>
                    <a:ea typeface="Arial"/>
                    <a:cs typeface="Arial"/>
                    <a:sym typeface="Arial"/>
                  </a:rPr>
                  <a:t>hos_wn_count</a:t>
                </a:r>
                <a:r>
                  <a:rPr lang="en-US" sz="1100" b="0" i="0" u="none" strike="noStrike" cap="none" dirty="0">
                    <a:solidFill>
                      <a:srgbClr val="000000"/>
                    </a:solidFill>
                    <a:latin typeface="Arial"/>
                    <a:ea typeface="Arial"/>
                    <a:cs typeface="Arial"/>
                    <a:sym typeface="Arial"/>
                  </a:rPr>
                  <a:t> = 7</a:t>
                </a:r>
                <a:r>
                  <a:rPr lang="en-US" dirty="0"/>
                  <a:t> means 7 residents of that county were newly admitted with COVID that week.</a:t>
                </a:r>
              </a:p>
              <a:p>
                <a:pPr marL="158750" indent="0" algn="l">
                  <a:buNone/>
                </a:pPr>
                <a:r>
                  <a:rPr lang="en-US" b="1" dirty="0"/>
                  <a:t>Typical range / interpretation (small county ~50–60k people)</a:t>
                </a:r>
                <a:endParaRPr lang="en-US" dirty="0"/>
              </a:p>
              <a:p>
                <a:pPr marL="615950" lvl="1" indent="0" algn="l">
                  <a:buNone/>
                </a:pPr>
                <a:r>
                  <a:rPr lang="en-US" dirty="0"/>
                  <a:t>Quiet periods: </a:t>
                </a:r>
                <a:r>
                  <a:rPr lang="en-US" sz="1100" b="0" i="0" u="none" strike="noStrike" cap="none" dirty="0">
                    <a:solidFill>
                      <a:srgbClr val="000000"/>
                    </a:solidFill>
                    <a:latin typeface="Arial"/>
                    <a:ea typeface="Arial"/>
                    <a:cs typeface="Arial"/>
                    <a:sym typeface="Arial"/>
                  </a:rPr>
                  <a:t>0–5</a:t>
                </a:r>
                <a:r>
                  <a:rPr lang="en-US" dirty="0"/>
                  <a:t> new admissions per week.</a:t>
                </a:r>
              </a:p>
              <a:p>
                <a:pPr marL="615950" lvl="1" indent="0" algn="l">
                  <a:buNone/>
                </a:pPr>
                <a:r>
                  <a:rPr lang="en-US" dirty="0"/>
                  <a:t>Moderate wave: maybe </a:t>
                </a:r>
                <a:r>
                  <a:rPr lang="en-US" sz="1100" b="0" i="0" u="none" strike="noStrike" cap="none" dirty="0">
                    <a:solidFill>
                      <a:srgbClr val="000000"/>
                    </a:solidFill>
                    <a:latin typeface="Arial"/>
                    <a:ea typeface="Arial"/>
                    <a:cs typeface="Arial"/>
                    <a:sym typeface="Arial"/>
                  </a:rPr>
                  <a:t>5–20</a:t>
                </a:r>
                <a:r>
                  <a:rPr lang="en-US" dirty="0"/>
                  <a:t> per week.</a:t>
                </a:r>
              </a:p>
              <a:p>
                <a:pPr marL="615950" lvl="1" indent="0" algn="l">
                  <a:buNone/>
                </a:pPr>
                <a:r>
                  <a:rPr lang="en-US" dirty="0"/>
                  <a:t>Big surges: could reach </a:t>
                </a:r>
                <a:r>
                  <a:rPr lang="en-US" sz="1100" b="0" i="0" u="none" strike="noStrike" cap="none" dirty="0">
                    <a:solidFill>
                      <a:srgbClr val="000000"/>
                    </a:solidFill>
                    <a:latin typeface="Arial"/>
                    <a:ea typeface="Arial"/>
                    <a:cs typeface="Arial"/>
                    <a:sym typeface="Arial"/>
                  </a:rPr>
                  <a:t>20–50+</a:t>
                </a:r>
                <a:r>
                  <a:rPr lang="en-US" dirty="0"/>
                  <a:t> in a week, but that’s already a lot for a 55k-population county.</a:t>
                </a:r>
                <a:br>
                  <a:rPr lang="en-US" dirty="0"/>
                </a:br>
                <a:r>
                  <a:rPr lang="en-US" dirty="0"/>
                  <a:t>(These ranges are consistent with observed weekly admissions per 100k of roughly 0–20+ in U.S. county-level data.</a:t>
                </a:r>
                <a:r>
                  <a:rPr lang="en-US" dirty="0">
                    <a:hlinkClick r:id="rId5"/>
                  </a:rPr>
                  <a:t>CDC+2CDC+2</a:t>
                </a:r>
                <a:r>
                  <a:rPr lang="en-US" dirty="0"/>
                  <a:t>)</a:t>
                </a:r>
              </a:p>
              <a:p>
                <a:pPr marL="158750" indent="0" algn="l">
                  <a:buNone/>
                </a:pPr>
                <a:br>
                  <a:rPr lang="en-US" dirty="0"/>
                </a:br>
                <a:endParaRPr lang="en-US" dirty="0"/>
              </a:p>
              <a:p>
                <a:pPr marL="158750" indent="0" algn="l">
                  <a:buNone/>
                </a:pPr>
                <a:r>
                  <a:rPr lang="en-US" b="1" dirty="0"/>
                  <a:t>5. </a:t>
                </a:r>
                <a:r>
                  <a:rPr lang="en-US" sz="1100" b="1" i="0" u="none" strike="noStrike" cap="none" dirty="0">
                    <a:solidFill>
                      <a:srgbClr val="000000"/>
                    </a:solidFill>
                    <a:latin typeface="Arial"/>
                    <a:ea typeface="Arial"/>
                    <a:cs typeface="Arial"/>
                    <a:sym typeface="Arial"/>
                  </a:rPr>
                  <a:t>hos_wn_per_100k</a:t>
                </a:r>
                <a:endParaRPr lang="en-US" b="1" dirty="0"/>
              </a:p>
              <a:p>
                <a:pPr marL="158750" indent="0" algn="l">
                  <a:buNone/>
                </a:pPr>
                <a:r>
                  <a:rPr lang="en-US" b="1" dirty="0"/>
                  <a:t>What it means (plain)</a:t>
                </a:r>
                <a:br>
                  <a:rPr lang="en-US" dirty="0"/>
                </a:br>
                <a:r>
                  <a:rPr lang="en-US" dirty="0"/>
                  <a:t>“Hospitalizations – Weekly New </a:t>
                </a:r>
                <a:r>
                  <a:rPr lang="en-US" b="1" dirty="0"/>
                  <a:t>per 100,000 people</a:t>
                </a:r>
                <a:r>
                  <a:rPr lang="en-US" dirty="0"/>
                  <a:t>.”</a:t>
                </a:r>
                <a:br>
                  <a:rPr lang="en-US" dirty="0"/>
                </a:br>
                <a:r>
                  <a:rPr lang="en-US" dirty="0"/>
                  <a:t>This is the same information as </a:t>
                </a:r>
                <a:r>
                  <a:rPr lang="en-US" sz="1100" b="0" i="0" u="none" strike="noStrike" cap="none" dirty="0" err="1">
                    <a:solidFill>
                      <a:srgbClr val="000000"/>
                    </a:solidFill>
                    <a:latin typeface="Arial"/>
                    <a:ea typeface="Arial"/>
                    <a:cs typeface="Arial"/>
                    <a:sym typeface="Arial"/>
                  </a:rPr>
                  <a:t>hos_wn_count</a:t>
                </a:r>
                <a:r>
                  <a:rPr lang="en-US" dirty="0"/>
                  <a:t>, but scaled so counties of different sizes can be compared.</a:t>
                </a:r>
              </a:p>
              <a:p>
                <a:pPr marL="615950" lvl="1" indent="0" algn="l">
                  <a:buNone/>
                </a:pPr>
                <a:r>
                  <a:rPr lang="en-US" dirty="0"/>
                  <a:t>Formula:</a:t>
                </a:r>
              </a:p>
              <a:p>
                <a:pPr marL="158750" indent="0" algn="l">
                  <a:buNone/>
                </a:pPr>
                <a14:m>
                  <m:oMathPara xmlns:m="http://schemas.openxmlformats.org/officeDocument/2006/math">
                    <m:oMathParaPr>
                      <m:jc m:val="centerGroup"/>
                    </m:oMathParaPr>
                    <m:oMath xmlns:m="http://schemas.openxmlformats.org/officeDocument/2006/math">
                      <m:r>
                        <m:rPr>
                          <m:nor/>
                        </m:rPr>
                        <a:rPr lang="en-US" b="0"/>
                        <m:t>hos</m:t>
                      </m:r>
                      <m:r>
                        <m:rPr>
                          <m:lit/>
                          <m:nor/>
                        </m:rPr>
                        <a:rPr lang="en-US" b="0" i="1"/>
                        <m:t>_</m:t>
                      </m:r>
                      <m:r>
                        <m:rPr>
                          <m:nor/>
                        </m:rPr>
                        <a:rPr lang="en-US" b="0" i="1"/>
                        <m:t>wn</m:t>
                      </m:r>
                      <m:r>
                        <m:rPr>
                          <m:lit/>
                          <m:nor/>
                        </m:rPr>
                        <a:rPr lang="en-US" b="0" i="1"/>
                        <m:t>_</m:t>
                      </m:r>
                      <m:r>
                        <m:rPr>
                          <m:nor/>
                        </m:rPr>
                        <a:rPr lang="en-US" b="0" i="1"/>
                        <m:t>per</m:t>
                      </m:r>
                      <m:r>
                        <m:rPr>
                          <m:lit/>
                          <m:nor/>
                        </m:rPr>
                        <a:rPr lang="en-US" b="0" i="1"/>
                        <m:t>_</m:t>
                      </m:r>
                      <m:r>
                        <m:rPr>
                          <m:nor/>
                        </m:rPr>
                        <a:rPr lang="en-US" b="0" i="1"/>
                        <m:t>100</m:t>
                      </m:r>
                      <m:r>
                        <m:rPr>
                          <m:nor/>
                        </m:rPr>
                        <a:rPr lang="en-US" b="0" i="1"/>
                        <m:t>k</m:t>
                      </m:r>
                      <m:r>
                        <a:rPr lang="en-US" sz="1100" b="0" i="0" u="none" strike="noStrike" cap="none">
                          <a:solidFill>
                            <a:srgbClr val="000000"/>
                          </a:solidFill>
                          <a:latin typeface="Arial"/>
                          <a:ea typeface="Arial"/>
                          <a:cs typeface="Arial"/>
                          <a:sym typeface="Arial"/>
                        </a:rPr>
                        <m:t>=</m:t>
                      </m:r>
                      <m:f>
                        <m:fPr>
                          <m:ctrlPr>
                            <a:rPr lang="ar-AE" sz="1100" b="0" i="1" u="none" strike="noStrike" cap="none">
                              <a:solidFill>
                                <a:srgbClr val="000000"/>
                              </a:solidFill>
                              <a:latin typeface="Arial"/>
                              <a:ea typeface="Arial"/>
                              <a:cs typeface="Arial"/>
                              <a:sym typeface="Arial"/>
                            </a:rPr>
                          </m:ctrlPr>
                        </m:fPr>
                        <m:num>
                          <m:r>
                            <m:rPr>
                              <m:nor/>
                            </m:rPr>
                            <a:rPr lang="en-US" sz="1100" b="0" i="1" u="none" strike="noStrike" cap="none">
                              <a:solidFill>
                                <a:srgbClr val="000000"/>
                              </a:solidFill>
                              <a:latin typeface="Arial"/>
                              <a:ea typeface="Arial"/>
                              <a:cs typeface="Arial"/>
                              <a:sym typeface="Arial"/>
                            </a:rPr>
                            <m:t>hos</m:t>
                          </m:r>
                          <m:r>
                            <m:rPr>
                              <m:lit/>
                              <m:nor/>
                            </m:rPr>
                            <a:rPr lang="en-US" sz="1100" b="0" i="1" u="none" strike="noStrike" cap="none">
                              <a:solidFill>
                                <a:srgbClr val="000000"/>
                              </a:solidFill>
                              <a:latin typeface="Arial"/>
                              <a:ea typeface="Arial"/>
                              <a:cs typeface="Arial"/>
                              <a:sym typeface="Arial"/>
                            </a:rPr>
                            <m:t>_</m:t>
                          </m:r>
                          <m:r>
                            <m:rPr>
                              <m:nor/>
                            </m:rPr>
                            <a:rPr lang="en-US" sz="1100" b="0" i="1" u="none" strike="noStrike" cap="none">
                              <a:solidFill>
                                <a:srgbClr val="000000"/>
                              </a:solidFill>
                              <a:latin typeface="Arial"/>
                              <a:ea typeface="Arial"/>
                              <a:cs typeface="Arial"/>
                              <a:sym typeface="Arial"/>
                            </a:rPr>
                            <m:t>wn</m:t>
                          </m:r>
                          <m:r>
                            <m:rPr>
                              <m:lit/>
                              <m:nor/>
                            </m:rPr>
                            <a:rPr lang="en-US" sz="1100" b="0" i="1" u="none" strike="noStrike" cap="none">
                              <a:solidFill>
                                <a:srgbClr val="000000"/>
                              </a:solidFill>
                              <a:latin typeface="Arial"/>
                              <a:ea typeface="Arial"/>
                              <a:cs typeface="Arial"/>
                              <a:sym typeface="Arial"/>
                            </a:rPr>
                            <m:t>_</m:t>
                          </m:r>
                          <m:r>
                            <m:rPr>
                              <m:nor/>
                            </m:rPr>
                            <a:rPr lang="en-US" sz="1100" b="0" i="1" u="none" strike="noStrike" cap="none">
                              <a:solidFill>
                                <a:srgbClr val="000000"/>
                              </a:solidFill>
                              <a:latin typeface="Arial"/>
                              <a:ea typeface="Arial"/>
                              <a:cs typeface="Arial"/>
                              <a:sym typeface="Arial"/>
                            </a:rPr>
                            <m:t>count</m:t>
                          </m:r>
                        </m:num>
                        <m:den>
                          <m:r>
                            <m:rPr>
                              <m:nor/>
                            </m:rPr>
                            <a:rPr lang="en-US" sz="1100" b="0" i="1" u="none" strike="noStrike" cap="none">
                              <a:solidFill>
                                <a:srgbClr val="000000"/>
                              </a:solidFill>
                              <a:latin typeface="Arial"/>
                              <a:ea typeface="Arial"/>
                              <a:cs typeface="Arial"/>
                              <a:sym typeface="Arial"/>
                            </a:rPr>
                            <m:t>pop</m:t>
                          </m:r>
                          <m:r>
                            <m:rPr>
                              <m:lit/>
                              <m:nor/>
                            </m:rPr>
                            <a:rPr lang="en-US" sz="1100" b="0" i="1" u="none" strike="noStrike" cap="none">
                              <a:solidFill>
                                <a:srgbClr val="000000"/>
                              </a:solidFill>
                              <a:latin typeface="Arial"/>
                              <a:ea typeface="Arial"/>
                              <a:cs typeface="Arial"/>
                              <a:sym typeface="Arial"/>
                            </a:rPr>
                            <m:t>_</m:t>
                          </m:r>
                          <m:r>
                            <m:rPr>
                              <m:nor/>
                            </m:rPr>
                            <a:rPr lang="en-US" sz="1100" b="0" i="1" u="none" strike="noStrike" cap="none">
                              <a:solidFill>
                                <a:srgbClr val="000000"/>
                              </a:solidFill>
                              <a:latin typeface="Arial"/>
                              <a:ea typeface="Arial"/>
                              <a:cs typeface="Arial"/>
                              <a:sym typeface="Arial"/>
                            </a:rPr>
                            <m:t>2019</m:t>
                          </m:r>
                        </m:den>
                      </m:f>
                      <m:r>
                        <a:rPr lang="ar-AE" sz="1100" b="0" i="0" u="none" strike="noStrike" cap="none">
                          <a:solidFill>
                            <a:srgbClr val="000000"/>
                          </a:solidFill>
                          <a:latin typeface="Arial"/>
                          <a:ea typeface="Arial"/>
                          <a:cs typeface="Arial"/>
                          <a:sym typeface="Arial"/>
                        </a:rPr>
                        <m:t>×</m:t>
                      </m:r>
                      <m:r>
                        <a:rPr lang="ar-AE" sz="1100" b="0" i="0" u="none" strike="noStrike" cap="none">
                          <a:solidFill>
                            <a:srgbClr val="000000"/>
                          </a:solidFill>
                          <a:latin typeface="Arial"/>
                          <a:ea typeface="Arial"/>
                          <a:cs typeface="Arial"/>
                          <a:sym typeface="Arial"/>
                        </a:rPr>
                        <m:t>100</m:t>
                      </m:r>
                      <m:r>
                        <a:rPr lang="ar-AE" sz="1100" b="0" i="0" u="none" strike="noStrike" cap="none">
                          <a:solidFill>
                            <a:srgbClr val="000000"/>
                          </a:solidFill>
                          <a:latin typeface="Arial"/>
                          <a:ea typeface="Arial"/>
                          <a:cs typeface="Arial"/>
                          <a:sym typeface="Arial"/>
                        </a:rPr>
                        <m:t>,</m:t>
                      </m:r>
                      <m:r>
                        <a:rPr lang="ar-AE" sz="1100" b="0" i="0" u="none" strike="noStrike" cap="none">
                          <a:solidFill>
                            <a:srgbClr val="000000"/>
                          </a:solidFill>
                          <a:latin typeface="Arial"/>
                          <a:ea typeface="Arial"/>
                          <a:cs typeface="Arial"/>
                          <a:sym typeface="Arial"/>
                        </a:rPr>
                        <m:t>000</m:t>
                      </m:r>
                    </m:oMath>
                  </m:oMathPara>
                </a14:m>
                <a:endParaRPr lang="ar-AE" b="0" dirty="0"/>
              </a:p>
              <a:p>
                <a:pPr marL="158750" indent="0" algn="l">
                  <a:buNone/>
                </a:pPr>
                <a:r>
                  <a:rPr lang="en-US" b="1" dirty="0"/>
                  <a:t>Example (based on your county, pop=55,869)</a:t>
                </a:r>
                <a:endParaRPr lang="en-US" dirty="0"/>
              </a:p>
              <a:p>
                <a:pPr marL="615950" lvl="1" indent="0" algn="l">
                  <a:buNone/>
                </a:pPr>
                <a:r>
                  <a:rPr lang="en-US" dirty="0"/>
                  <a:t>If </a:t>
                </a:r>
                <a:r>
                  <a:rPr lang="en-US" sz="1100" b="0" i="0" u="none" strike="noStrike" cap="none" dirty="0" err="1">
                    <a:solidFill>
                      <a:srgbClr val="000000"/>
                    </a:solidFill>
                    <a:latin typeface="Arial"/>
                    <a:ea typeface="Arial"/>
                    <a:cs typeface="Arial"/>
                    <a:sym typeface="Arial"/>
                  </a:rPr>
                  <a:t>hos_wn_count</a:t>
                </a:r>
                <a:r>
                  <a:rPr lang="en-US" sz="1100" b="0" i="0" u="none" strike="noStrike" cap="none" dirty="0">
                    <a:solidFill>
                      <a:srgbClr val="000000"/>
                    </a:solidFill>
                    <a:latin typeface="Arial"/>
                    <a:ea typeface="Arial"/>
                    <a:cs typeface="Arial"/>
                    <a:sym typeface="Arial"/>
                  </a:rPr>
                  <a:t> = 7</a:t>
                </a:r>
                <a:r>
                  <a:rPr lang="en-US" dirty="0"/>
                  <a:t>:</a:t>
                </a:r>
              </a:p>
              <a:p>
                <a:pPr marL="158750" indent="0" algn="l">
                  <a:buNone/>
                </a:pPr>
                <a14:m>
                  <m:oMathPara xmlns:m="http://schemas.openxmlformats.org/officeDocument/2006/math">
                    <m:oMathParaPr>
                      <m:jc m:val="centerGroup"/>
                    </m:oMathParaPr>
                    <m:oMath xmlns:m="http://schemas.openxmlformats.org/officeDocument/2006/math">
                      <m:r>
                        <a:rPr lang="en-US" sz="1100" b="0" i="0" u="none" strike="noStrike" cap="none">
                          <a:solidFill>
                            <a:srgbClr val="000000"/>
                          </a:solidFill>
                          <a:latin typeface="Arial"/>
                          <a:ea typeface="Arial"/>
                          <a:cs typeface="Arial"/>
                          <a:sym typeface="Arial"/>
                        </a:rPr>
                        <m:t>7</m:t>
                      </m:r>
                      <m:r>
                        <a:rPr lang="en-US" sz="1100" b="0" i="0" u="none" strike="noStrike" cap="none">
                          <a:solidFill>
                            <a:srgbClr val="000000"/>
                          </a:solidFill>
                          <a:latin typeface="Arial"/>
                          <a:ea typeface="Arial"/>
                          <a:cs typeface="Arial"/>
                          <a:sym typeface="Arial"/>
                        </a:rPr>
                        <m:t>/</m:t>
                      </m:r>
                      <m:r>
                        <a:rPr lang="en-US" sz="1100" b="0" i="0" u="none" strike="noStrike" cap="none">
                          <a:solidFill>
                            <a:srgbClr val="000000"/>
                          </a:solidFill>
                          <a:latin typeface="Arial"/>
                          <a:ea typeface="Arial"/>
                          <a:cs typeface="Arial"/>
                          <a:sym typeface="Arial"/>
                        </a:rPr>
                        <m:t>55</m:t>
                      </m:r>
                      <m:r>
                        <a:rPr lang="en-US" sz="1100" b="0" i="0" u="none" strike="noStrike" cap="none">
                          <a:solidFill>
                            <a:srgbClr val="000000"/>
                          </a:solidFill>
                          <a:latin typeface="Arial"/>
                          <a:ea typeface="Arial"/>
                          <a:cs typeface="Arial"/>
                          <a:sym typeface="Arial"/>
                        </a:rPr>
                        <m:t>,</m:t>
                      </m:r>
                      <m:r>
                        <a:rPr lang="en-US" sz="1100" b="0" i="0" u="none" strike="noStrike" cap="none">
                          <a:solidFill>
                            <a:srgbClr val="000000"/>
                          </a:solidFill>
                          <a:latin typeface="Arial"/>
                          <a:ea typeface="Arial"/>
                          <a:cs typeface="Arial"/>
                          <a:sym typeface="Arial"/>
                        </a:rPr>
                        <m:t>869</m:t>
                      </m:r>
                      <m:r>
                        <a:rPr lang="en-US" sz="1100" b="0" i="0" u="none" strike="noStrike" cap="none">
                          <a:solidFill>
                            <a:srgbClr val="000000"/>
                          </a:solidFill>
                          <a:latin typeface="Arial"/>
                          <a:ea typeface="Arial"/>
                          <a:cs typeface="Arial"/>
                          <a:sym typeface="Arial"/>
                        </a:rPr>
                        <m:t>×</m:t>
                      </m:r>
                      <m:r>
                        <a:rPr lang="en-US" sz="1100" b="0" i="0" u="none" strike="noStrike" cap="none">
                          <a:solidFill>
                            <a:srgbClr val="000000"/>
                          </a:solidFill>
                          <a:latin typeface="Arial"/>
                          <a:ea typeface="Arial"/>
                          <a:cs typeface="Arial"/>
                          <a:sym typeface="Arial"/>
                        </a:rPr>
                        <m:t>100</m:t>
                      </m:r>
                      <m:r>
                        <a:rPr lang="en-US" sz="1100" b="0" i="0" u="none" strike="noStrike" cap="none">
                          <a:solidFill>
                            <a:srgbClr val="000000"/>
                          </a:solidFill>
                          <a:latin typeface="Arial"/>
                          <a:ea typeface="Arial"/>
                          <a:cs typeface="Arial"/>
                          <a:sym typeface="Arial"/>
                        </a:rPr>
                        <m:t>,</m:t>
                      </m:r>
                      <m:r>
                        <a:rPr lang="en-US" sz="1100" b="0" i="0" u="none" strike="noStrike" cap="none">
                          <a:solidFill>
                            <a:srgbClr val="000000"/>
                          </a:solidFill>
                          <a:latin typeface="Arial"/>
                          <a:ea typeface="Arial"/>
                          <a:cs typeface="Arial"/>
                          <a:sym typeface="Arial"/>
                        </a:rPr>
                        <m:t>000</m:t>
                      </m:r>
                      <m:r>
                        <a:rPr lang="en-US" sz="1100" b="0" i="0" u="none" strike="noStrike" cap="none">
                          <a:solidFill>
                            <a:srgbClr val="000000"/>
                          </a:solidFill>
                          <a:latin typeface="Arial"/>
                          <a:ea typeface="Arial"/>
                          <a:cs typeface="Arial"/>
                          <a:sym typeface="Arial"/>
                        </a:rPr>
                        <m:t>≈</m:t>
                      </m:r>
                      <m:r>
                        <a:rPr lang="en-US" sz="1100" b="0" i="0" u="none" strike="noStrike" cap="none">
                          <a:solidFill>
                            <a:srgbClr val="000000"/>
                          </a:solidFill>
                          <a:latin typeface="Arial"/>
                          <a:ea typeface="Arial"/>
                          <a:cs typeface="Arial"/>
                          <a:sym typeface="Arial"/>
                        </a:rPr>
                        <m:t>12</m:t>
                      </m:r>
                      <m:r>
                        <a:rPr lang="en-US" sz="1100" b="0" i="0" u="none" strike="noStrike" cap="none">
                          <a:solidFill>
                            <a:srgbClr val="000000"/>
                          </a:solidFill>
                          <a:latin typeface="Arial"/>
                          <a:ea typeface="Arial"/>
                          <a:cs typeface="Arial"/>
                          <a:sym typeface="Arial"/>
                        </a:rPr>
                        <m:t>.</m:t>
                      </m:r>
                      <m:r>
                        <a:rPr lang="en-US" sz="1100" b="0" i="0" u="none" strike="noStrike" cap="none">
                          <a:solidFill>
                            <a:srgbClr val="000000"/>
                          </a:solidFill>
                          <a:latin typeface="Arial"/>
                          <a:ea typeface="Arial"/>
                          <a:cs typeface="Arial"/>
                          <a:sym typeface="Arial"/>
                        </a:rPr>
                        <m:t>5</m:t>
                      </m:r>
                    </m:oMath>
                  </m:oMathPara>
                </a14:m>
                <a:endParaRPr lang="en-US" dirty="0"/>
              </a:p>
              <a:p>
                <a:pPr marL="615950" lvl="1" indent="0" algn="l">
                  <a:buNone/>
                </a:pPr>
                <a:r>
                  <a:rPr lang="en-US" dirty="0"/>
                  <a:t>So </a:t>
                </a:r>
                <a:r>
                  <a:rPr lang="en-US" sz="1100" b="0" i="0" u="none" strike="noStrike" cap="none" dirty="0">
                    <a:solidFill>
                      <a:srgbClr val="000000"/>
                    </a:solidFill>
                    <a:latin typeface="Arial"/>
                    <a:ea typeface="Arial"/>
                    <a:cs typeface="Arial"/>
                    <a:sym typeface="Arial"/>
                  </a:rPr>
                  <a:t>hos_wn_per_100k ≈ 12.5</a:t>
                </a:r>
                <a:r>
                  <a:rPr lang="en-US" dirty="0"/>
                  <a:t>. That means “about 12.5 new hospitalizations per 100,000 residents this week.”</a:t>
                </a:r>
              </a:p>
              <a:p>
                <a:pPr marL="158750" indent="0" algn="l">
                  <a:buNone/>
                </a:pPr>
                <a:r>
                  <a:rPr lang="en-US" b="1" dirty="0"/>
                  <a:t>Typical range / interpretation</a:t>
                </a:r>
                <a:endParaRPr lang="en-US" dirty="0"/>
              </a:p>
              <a:p>
                <a:pPr marL="615950" lvl="1" indent="0" algn="l">
                  <a:buNone/>
                </a:pPr>
                <a:r>
                  <a:rPr lang="en-US" dirty="0"/>
                  <a:t>0: no new hospitalizations that week.</a:t>
                </a:r>
              </a:p>
              <a:p>
                <a:pPr marL="615950" lvl="1" indent="0" algn="l">
                  <a:buNone/>
                </a:pPr>
                <a:r>
                  <a:rPr lang="en-US" dirty="0"/>
                  <a:t>1–5 per 100k: low to moderate activity.</a:t>
                </a:r>
              </a:p>
              <a:p>
                <a:pPr marL="615950" lvl="1" indent="0" algn="l">
                  <a:buNone/>
                </a:pPr>
                <a:r>
                  <a:rPr lang="en-US" dirty="0"/>
                  <a:t>5–20 per 100k: moderate to high activity.</a:t>
                </a:r>
              </a:p>
              <a:p>
                <a:pPr marL="615950" lvl="1" indent="0" algn="l">
                  <a:buNone/>
                </a:pPr>
                <a:r>
                  <a:rPr lang="en-US" dirty="0"/>
                  <a:t>20 per 100k: very high; seen in some waves and high-burden </a:t>
                </a:r>
                <a:r>
                  <a:rPr lang="en-US" dirty="0" err="1"/>
                  <a:t>areas.</a:t>
                </a:r>
                <a:r>
                  <a:rPr lang="en-US" dirty="0" err="1">
                    <a:hlinkClick r:id="rId6"/>
                  </a:rPr>
                  <a:t>Covid</a:t>
                </a:r>
                <a:r>
                  <a:rPr lang="en-US" dirty="0">
                    <a:hlinkClick r:id="rId6"/>
                  </a:rPr>
                  <a:t> Act Now+2San Francisco Chronicle+2</a:t>
                </a:r>
                <a:endParaRPr lang="en-US" dirty="0"/>
              </a:p>
              <a:p>
                <a:pPr marL="158750" indent="0" algn="l">
                  <a:buNone/>
                </a:pPr>
                <a:br>
                  <a:rPr lang="en-US" dirty="0"/>
                </a:br>
                <a:endParaRPr lang="en-US" dirty="0"/>
              </a:p>
              <a:p>
                <a:pPr marL="158750" indent="0" algn="l">
                  <a:buNone/>
                </a:pPr>
                <a:r>
                  <a:rPr lang="en-US" b="1" dirty="0"/>
                  <a:t>6. </a:t>
                </a:r>
                <a:r>
                  <a:rPr lang="en-US" sz="1100" b="1" i="0" u="none" strike="noStrike" cap="none" dirty="0" err="1">
                    <a:solidFill>
                      <a:srgbClr val="000000"/>
                    </a:solidFill>
                    <a:latin typeface="Arial"/>
                    <a:ea typeface="Arial"/>
                    <a:cs typeface="Arial"/>
                    <a:sym typeface="Arial"/>
                  </a:rPr>
                  <a:t>hos_cs</a:t>
                </a:r>
                <a:endParaRPr lang="en-US" b="1" dirty="0"/>
              </a:p>
              <a:p>
                <a:pPr marL="158750" indent="0" algn="l">
                  <a:buNone/>
                </a:pPr>
                <a:r>
                  <a:rPr lang="en-US" b="1" dirty="0"/>
                  <a:t>What it means (plain)</a:t>
                </a:r>
                <a:br>
                  <a:rPr lang="en-US" dirty="0"/>
                </a:br>
                <a:r>
                  <a:rPr lang="en-US" dirty="0"/>
                  <a:t>“Hospitalizations – Cumulative Sum (7-day).”</a:t>
                </a:r>
                <a:br>
                  <a:rPr lang="en-US" dirty="0"/>
                </a:br>
                <a:r>
                  <a:rPr lang="en-US" dirty="0"/>
                  <a:t>From your sample, </a:t>
                </a:r>
                <a:r>
                  <a:rPr lang="en-US" sz="1100" b="0" i="0" u="none" strike="noStrike" cap="none" dirty="0" err="1">
                    <a:solidFill>
                      <a:srgbClr val="000000"/>
                    </a:solidFill>
                    <a:latin typeface="Arial"/>
                    <a:ea typeface="Arial"/>
                    <a:cs typeface="Arial"/>
                    <a:sym typeface="Arial"/>
                  </a:rPr>
                  <a:t>hos_cs</a:t>
                </a:r>
                <a:r>
                  <a:rPr lang="en-US" dirty="0"/>
                  <a:t> looks like a </a:t>
                </a:r>
                <a:r>
                  <a:rPr lang="en-US" b="1" dirty="0"/>
                  <a:t>7-day total of daily new hospital admissions</a:t>
                </a:r>
                <a:r>
                  <a:rPr lang="en-US" dirty="0"/>
                  <a:t> for that week (a rolling weekly sum):</a:t>
                </a:r>
              </a:p>
              <a:p>
                <a:pPr marL="615950" lvl="1" indent="0" algn="l">
                  <a:buNone/>
                </a:pPr>
                <a:r>
                  <a:rPr lang="en-US" dirty="0"/>
                  <a:t>Values in your snippet: </a:t>
                </a:r>
                <a:r>
                  <a:rPr lang="en-US" sz="1100" b="0" i="0" u="none" strike="noStrike" cap="none" dirty="0">
                    <a:solidFill>
                      <a:srgbClr val="000000"/>
                    </a:solidFill>
                    <a:latin typeface="Arial"/>
                    <a:ea typeface="Arial"/>
                    <a:cs typeface="Arial"/>
                    <a:sym typeface="Arial"/>
                  </a:rPr>
                  <a:t>0, 0, 9, 21, 42</a:t>
                </a:r>
                <a:endParaRPr lang="en-US" dirty="0"/>
              </a:p>
              <a:p>
                <a:pPr marL="615950" lvl="1" indent="0" algn="l">
                  <a:buNone/>
                </a:pPr>
                <a:r>
                  <a:rPr lang="en-US" dirty="0"/>
                  <a:t>Corresponding </a:t>
                </a:r>
                <a:r>
                  <a:rPr lang="en-US" sz="1100" b="0" i="0" u="none" strike="noStrike" cap="none" dirty="0" err="1">
                    <a:solidFill>
                      <a:srgbClr val="000000"/>
                    </a:solidFill>
                    <a:latin typeface="Arial"/>
                    <a:ea typeface="Arial"/>
                    <a:cs typeface="Arial"/>
                    <a:sym typeface="Arial"/>
                  </a:rPr>
                  <a:t>hos_ca</a:t>
                </a:r>
                <a:r>
                  <a:rPr lang="en-US" dirty="0"/>
                  <a:t>: </a:t>
                </a:r>
                <a:r>
                  <a:rPr lang="en-US" sz="1100" b="0" i="0" u="none" strike="noStrike" cap="none" dirty="0">
                    <a:solidFill>
                      <a:srgbClr val="000000"/>
                    </a:solidFill>
                    <a:latin typeface="Arial"/>
                    <a:ea typeface="Arial"/>
                    <a:cs typeface="Arial"/>
                    <a:sym typeface="Arial"/>
                  </a:rPr>
                  <a:t>0.0, 0.0, 1.285714, 3.0, 6.0</a:t>
                </a:r>
                <a:endParaRPr lang="en-US" dirty="0"/>
              </a:p>
              <a:p>
                <a:pPr marL="615950" lvl="1" indent="0" algn="l">
                  <a:buNone/>
                </a:pPr>
                <a:r>
                  <a:rPr lang="en-US" dirty="0"/>
                  <a:t>Note that:</a:t>
                </a:r>
              </a:p>
              <a:p>
                <a:pPr marL="1073150" lvl="2" indent="0" algn="l">
                  <a:buNone/>
                </a:pPr>
                <a:r>
                  <a:rPr lang="en-US" sz="1100" b="0" i="0" u="none" strike="noStrike" cap="none" dirty="0">
                    <a:solidFill>
                      <a:srgbClr val="000000"/>
                    </a:solidFill>
                    <a:latin typeface="Arial"/>
                    <a:ea typeface="Arial"/>
                    <a:cs typeface="Arial"/>
                    <a:sym typeface="Arial"/>
                  </a:rPr>
                  <a:t>9 / 7 = 1.285714</a:t>
                </a:r>
                <a:endParaRPr lang="en-US" dirty="0"/>
              </a:p>
              <a:p>
                <a:pPr marL="1073150" lvl="2" indent="0" algn="l">
                  <a:buNone/>
                </a:pPr>
                <a:r>
                  <a:rPr lang="en-US" sz="1100" b="0" i="0" u="none" strike="noStrike" cap="none" dirty="0">
                    <a:solidFill>
                      <a:srgbClr val="000000"/>
                    </a:solidFill>
                    <a:latin typeface="Arial"/>
                    <a:ea typeface="Arial"/>
                    <a:cs typeface="Arial"/>
                    <a:sym typeface="Arial"/>
                  </a:rPr>
                  <a:t>21 / 7 = 3.0</a:t>
                </a:r>
                <a:endParaRPr lang="en-US" dirty="0"/>
              </a:p>
              <a:p>
                <a:pPr marL="1073150" lvl="2" indent="0" algn="l">
                  <a:buNone/>
                </a:pPr>
                <a:r>
                  <a:rPr lang="en-US" sz="1100" b="0" i="0" u="none" strike="noStrike" cap="none" dirty="0">
                    <a:solidFill>
                      <a:srgbClr val="000000"/>
                    </a:solidFill>
                    <a:latin typeface="Arial"/>
                    <a:ea typeface="Arial"/>
                    <a:cs typeface="Arial"/>
                    <a:sym typeface="Arial"/>
                  </a:rPr>
                  <a:t>42 / 7 = 6.0</a:t>
                </a:r>
                <a:br>
                  <a:rPr lang="en-US" dirty="0"/>
                </a:br>
                <a:r>
                  <a:rPr lang="en-US" dirty="0"/>
                  <a:t>So </a:t>
                </a:r>
                <a:r>
                  <a:rPr lang="en-US" sz="1100" b="0" i="0" u="none" strike="noStrike" cap="none" dirty="0" err="1">
                    <a:solidFill>
                      <a:srgbClr val="000000"/>
                    </a:solidFill>
                    <a:latin typeface="Arial"/>
                    <a:ea typeface="Arial"/>
                    <a:cs typeface="Arial"/>
                    <a:sym typeface="Arial"/>
                  </a:rPr>
                  <a:t>hos_ca</a:t>
                </a:r>
                <a:r>
                  <a:rPr lang="en-US" dirty="0"/>
                  <a:t> is exactly </a:t>
                </a:r>
                <a:r>
                  <a:rPr lang="en-US" sz="1100" b="0" i="0" u="none" strike="noStrike" cap="none" dirty="0" err="1">
                    <a:solidFill>
                      <a:srgbClr val="000000"/>
                    </a:solidFill>
                    <a:latin typeface="Arial"/>
                    <a:ea typeface="Arial"/>
                    <a:cs typeface="Arial"/>
                    <a:sym typeface="Arial"/>
                  </a:rPr>
                  <a:t>hos_cs</a:t>
                </a:r>
                <a:r>
                  <a:rPr lang="en-US" sz="1100" b="0" i="0" u="none" strike="noStrike" cap="none" dirty="0">
                    <a:solidFill>
                      <a:srgbClr val="000000"/>
                    </a:solidFill>
                    <a:latin typeface="Arial"/>
                    <a:ea typeface="Arial"/>
                    <a:cs typeface="Arial"/>
                    <a:sym typeface="Arial"/>
                  </a:rPr>
                  <a:t> / 7</a:t>
                </a:r>
                <a:r>
                  <a:rPr lang="en-US" dirty="0"/>
                  <a:t>, which strongly indicates </a:t>
                </a:r>
                <a:r>
                  <a:rPr lang="en-US" sz="1100" b="0" i="0" u="none" strike="noStrike" cap="none" dirty="0" err="1">
                    <a:solidFill>
                      <a:srgbClr val="000000"/>
                    </a:solidFill>
                    <a:latin typeface="Arial"/>
                    <a:ea typeface="Arial"/>
                    <a:cs typeface="Arial"/>
                    <a:sym typeface="Arial"/>
                  </a:rPr>
                  <a:t>hos_cs</a:t>
                </a:r>
                <a:r>
                  <a:rPr lang="en-US" dirty="0"/>
                  <a:t> is a 7-day cumulative sum and </a:t>
                </a:r>
                <a:r>
                  <a:rPr lang="en-US" sz="1100" b="0" i="0" u="none" strike="noStrike" cap="none" dirty="0" err="1">
                    <a:solidFill>
                      <a:srgbClr val="000000"/>
                    </a:solidFill>
                    <a:latin typeface="Arial"/>
                    <a:ea typeface="Arial"/>
                    <a:cs typeface="Arial"/>
                    <a:sym typeface="Arial"/>
                  </a:rPr>
                  <a:t>hos_ca</a:t>
                </a:r>
                <a:r>
                  <a:rPr lang="en-US" dirty="0"/>
                  <a:t> is the 7-day daily average.</a:t>
                </a:r>
              </a:p>
              <a:p>
                <a:pPr marL="158750" indent="0" algn="l">
                  <a:buNone/>
                </a:pPr>
                <a:r>
                  <a:rPr lang="en-US" dirty="0"/>
                  <a:t>This is consistent with how many dashboards and studies work with COVID hospitalization data: they use </a:t>
                </a:r>
                <a:r>
                  <a:rPr lang="en-US" b="1" dirty="0"/>
                  <a:t>7-day sums or 7-day moving averages</a:t>
                </a:r>
                <a:r>
                  <a:rPr lang="en-US" dirty="0"/>
                  <a:t> of daily admissions to smooth noisy daily counts.</a:t>
                </a:r>
                <a:r>
                  <a:rPr lang="en-US" dirty="0">
                    <a:hlinkClick r:id="rId7"/>
                  </a:rPr>
                  <a:t>PMC+1</a:t>
                </a:r>
                <a:endParaRPr lang="en-US" dirty="0"/>
              </a:p>
              <a:p>
                <a:pPr marL="158750" indent="0" algn="l">
                  <a:buNone/>
                </a:pPr>
                <a:r>
                  <a:rPr lang="en-US" b="1" dirty="0"/>
                  <a:t>Example from your data</a:t>
                </a:r>
                <a:endParaRPr lang="en-US" dirty="0"/>
              </a:p>
              <a:p>
                <a:pPr marL="615950" lvl="1" indent="0" algn="l">
                  <a:buNone/>
                </a:pPr>
                <a:r>
                  <a:rPr lang="en-US" sz="1100" b="0" i="0" u="none" strike="noStrike" cap="none" dirty="0" err="1">
                    <a:solidFill>
                      <a:srgbClr val="000000"/>
                    </a:solidFill>
                    <a:latin typeface="Arial"/>
                    <a:ea typeface="Arial"/>
                    <a:cs typeface="Arial"/>
                    <a:sym typeface="Arial"/>
                  </a:rPr>
                  <a:t>hos_cs</a:t>
                </a:r>
                <a:r>
                  <a:rPr lang="en-US" sz="1100" b="0" i="0" u="none" strike="noStrike" cap="none" dirty="0">
                    <a:solidFill>
                      <a:srgbClr val="000000"/>
                    </a:solidFill>
                    <a:latin typeface="Arial"/>
                    <a:ea typeface="Arial"/>
                    <a:cs typeface="Arial"/>
                    <a:sym typeface="Arial"/>
                  </a:rPr>
                  <a:t> = 42</a:t>
                </a:r>
                <a:r>
                  <a:rPr lang="en-US" dirty="0"/>
                  <a:t> means “over the last 7 days, there were 42 new COVID-19 hospital admissions in this county.”</a:t>
                </a:r>
              </a:p>
              <a:p>
                <a:pPr marL="158750" indent="0" algn="l">
                  <a:buNone/>
                </a:pPr>
                <a:r>
                  <a:rPr lang="en-US" b="1" dirty="0"/>
                  <a:t>Typical range / interpretation (small county)</a:t>
                </a:r>
                <a:endParaRPr lang="en-US" dirty="0"/>
              </a:p>
              <a:p>
                <a:pPr marL="615950" lvl="1" indent="0" algn="l">
                  <a:buNone/>
                </a:pPr>
                <a:r>
                  <a:rPr lang="en-US" dirty="0"/>
                  <a:t>During quiet times: </a:t>
                </a:r>
                <a:r>
                  <a:rPr lang="en-US" sz="1100" b="0" i="0" u="none" strike="noStrike" cap="none" dirty="0">
                    <a:solidFill>
                      <a:srgbClr val="000000"/>
                    </a:solidFill>
                    <a:latin typeface="Arial"/>
                    <a:ea typeface="Arial"/>
                    <a:cs typeface="Arial"/>
                    <a:sym typeface="Arial"/>
                  </a:rPr>
                  <a:t>0–10</a:t>
                </a:r>
                <a:r>
                  <a:rPr lang="en-US" dirty="0"/>
                  <a:t> over 7 days.</a:t>
                </a:r>
              </a:p>
              <a:p>
                <a:pPr marL="615950" lvl="1" indent="0" algn="l">
                  <a:buNone/>
                </a:pPr>
                <a:r>
                  <a:rPr lang="en-US" dirty="0"/>
                  <a:t>Moderate wave: </a:t>
                </a:r>
                <a:r>
                  <a:rPr lang="en-US" sz="1100" b="0" i="0" u="none" strike="noStrike" cap="none" dirty="0">
                    <a:solidFill>
                      <a:srgbClr val="000000"/>
                    </a:solidFill>
                    <a:latin typeface="Arial"/>
                    <a:ea typeface="Arial"/>
                    <a:cs typeface="Arial"/>
                    <a:sym typeface="Arial"/>
                  </a:rPr>
                  <a:t>10–40</a:t>
                </a:r>
                <a:r>
                  <a:rPr lang="en-US" dirty="0"/>
                  <a:t>.</a:t>
                </a:r>
              </a:p>
              <a:p>
                <a:pPr marL="615950" lvl="1" indent="0" algn="l">
                  <a:buNone/>
                </a:pPr>
                <a:r>
                  <a:rPr lang="en-US" dirty="0"/>
                  <a:t>Large wave: </a:t>
                </a:r>
                <a:r>
                  <a:rPr lang="en-US" sz="1100" b="0" i="0" u="none" strike="noStrike" cap="none" dirty="0">
                    <a:solidFill>
                      <a:srgbClr val="000000"/>
                    </a:solidFill>
                    <a:latin typeface="Arial"/>
                    <a:ea typeface="Arial"/>
                    <a:cs typeface="Arial"/>
                    <a:sym typeface="Arial"/>
                  </a:rPr>
                  <a:t>40+</a:t>
                </a:r>
                <a:r>
                  <a:rPr lang="en-US" dirty="0"/>
                  <a:t> over 7 days is quite high for ~56k people.</a:t>
                </a:r>
                <a:br>
                  <a:rPr lang="en-US" dirty="0"/>
                </a:br>
                <a:r>
                  <a:rPr lang="en-US" dirty="0"/>
                  <a:t>(Exact values depend strongly on wave intensity and local vulnerability.</a:t>
                </a:r>
                <a:r>
                  <a:rPr lang="en-US" dirty="0">
                    <a:hlinkClick r:id="rId4"/>
                  </a:rPr>
                  <a:t>CDC+1</a:t>
                </a:r>
                <a:r>
                  <a:rPr lang="en-US" dirty="0"/>
                  <a:t>)</a:t>
                </a:r>
              </a:p>
              <a:p>
                <a:pPr marL="158750" indent="0" algn="l">
                  <a:buNone/>
                </a:pPr>
                <a:br>
                  <a:rPr lang="en-US" dirty="0"/>
                </a:br>
                <a:endParaRPr lang="en-US" dirty="0"/>
              </a:p>
              <a:p>
                <a:pPr marL="158750" indent="0" algn="l">
                  <a:buNone/>
                </a:pPr>
                <a:r>
                  <a:rPr lang="en-US" b="1" dirty="0"/>
                  <a:t>7. </a:t>
                </a:r>
                <a:r>
                  <a:rPr lang="en-US" sz="1100" b="1" i="0" u="none" strike="noStrike" cap="none" dirty="0" err="1">
                    <a:solidFill>
                      <a:srgbClr val="000000"/>
                    </a:solidFill>
                    <a:latin typeface="Arial"/>
                    <a:ea typeface="Arial"/>
                    <a:cs typeface="Arial"/>
                    <a:sym typeface="Arial"/>
                  </a:rPr>
                  <a:t>hos_ca</a:t>
                </a:r>
                <a:endParaRPr lang="en-US" b="1" dirty="0"/>
              </a:p>
              <a:p>
                <a:pPr marL="158750" indent="0" algn="l">
                  <a:buNone/>
                </a:pPr>
                <a:r>
                  <a:rPr lang="en-US" b="1" dirty="0"/>
                  <a:t>What it means (plain)</a:t>
                </a:r>
                <a:br>
                  <a:rPr lang="en-US" dirty="0"/>
                </a:br>
                <a:r>
                  <a:rPr lang="en-US" dirty="0"/>
                  <a:t>“Hospitalizations – Cumulative Average (7-day daily average).”</a:t>
                </a:r>
                <a:br>
                  <a:rPr lang="en-US" dirty="0"/>
                </a:br>
                <a:r>
                  <a:rPr lang="en-US" dirty="0"/>
                  <a:t>This is the </a:t>
                </a:r>
                <a:r>
                  <a:rPr lang="en-US" b="1" dirty="0"/>
                  <a:t>average number of new COVID-19 hospital admissions per day over the last 7 days</a:t>
                </a:r>
                <a:r>
                  <a:rPr lang="en-US" dirty="0"/>
                  <a:t>.</a:t>
                </a:r>
              </a:p>
              <a:p>
                <a:pPr marL="615950" lvl="1" indent="0" algn="l">
                  <a:buNone/>
                </a:pPr>
                <a:r>
                  <a:rPr lang="en-US" dirty="0"/>
                  <a:t>By construction in your dataset:</a:t>
                </a:r>
              </a:p>
              <a:p>
                <a:pPr marL="158750" indent="0" algn="l">
                  <a:buNone/>
                </a:pPr>
                <a14:m>
                  <m:oMathPara xmlns:m="http://schemas.openxmlformats.org/officeDocument/2006/math">
                    <m:oMathParaPr>
                      <m:jc m:val="centerGroup"/>
                    </m:oMathParaPr>
                    <m:oMath xmlns:m="http://schemas.openxmlformats.org/officeDocument/2006/math">
                      <m:r>
                        <m:rPr>
                          <m:nor/>
                        </m:rPr>
                        <a:rPr lang="en-US" b="0"/>
                        <m:t>hos</m:t>
                      </m:r>
                      <m:r>
                        <m:rPr>
                          <m:lit/>
                          <m:nor/>
                        </m:rPr>
                        <a:rPr lang="en-US" b="0" i="1"/>
                        <m:t>_</m:t>
                      </m:r>
                      <m:r>
                        <m:rPr>
                          <m:nor/>
                        </m:rPr>
                        <a:rPr lang="en-US" b="0" i="1"/>
                        <m:t>ca</m:t>
                      </m:r>
                      <m:r>
                        <a:rPr lang="en-US" sz="1100" b="0" i="0" u="none" strike="noStrike" cap="none">
                          <a:solidFill>
                            <a:srgbClr val="000000"/>
                          </a:solidFill>
                          <a:latin typeface="Arial"/>
                          <a:ea typeface="Arial"/>
                          <a:cs typeface="Arial"/>
                          <a:sym typeface="Arial"/>
                        </a:rPr>
                        <m:t>=</m:t>
                      </m:r>
                      <m:f>
                        <m:fPr>
                          <m:ctrlPr>
                            <a:rPr lang="ar-AE" sz="1100" b="0" i="1" u="none" strike="noStrike" cap="none">
                              <a:solidFill>
                                <a:srgbClr val="000000"/>
                              </a:solidFill>
                              <a:latin typeface="Arial"/>
                              <a:ea typeface="Arial"/>
                              <a:cs typeface="Arial"/>
                              <a:sym typeface="Arial"/>
                            </a:rPr>
                          </m:ctrlPr>
                        </m:fPr>
                        <m:num>
                          <m:r>
                            <m:rPr>
                              <m:nor/>
                            </m:rPr>
                            <a:rPr lang="en-US" sz="1100" b="0" i="1" u="none" strike="noStrike" cap="none">
                              <a:solidFill>
                                <a:srgbClr val="000000"/>
                              </a:solidFill>
                              <a:latin typeface="Arial"/>
                              <a:ea typeface="Arial"/>
                              <a:cs typeface="Arial"/>
                              <a:sym typeface="Arial"/>
                            </a:rPr>
                            <m:t>hos</m:t>
                          </m:r>
                          <m:r>
                            <m:rPr>
                              <m:lit/>
                              <m:nor/>
                            </m:rPr>
                            <a:rPr lang="en-US" sz="1100" b="0" i="1" u="none" strike="noStrike" cap="none">
                              <a:solidFill>
                                <a:srgbClr val="000000"/>
                              </a:solidFill>
                              <a:latin typeface="Arial"/>
                              <a:ea typeface="Arial"/>
                              <a:cs typeface="Arial"/>
                              <a:sym typeface="Arial"/>
                            </a:rPr>
                            <m:t>_</m:t>
                          </m:r>
                          <m:r>
                            <m:rPr>
                              <m:nor/>
                            </m:rPr>
                            <a:rPr lang="en-US" sz="1100" b="0" i="1" u="none" strike="noStrike" cap="none">
                              <a:solidFill>
                                <a:srgbClr val="000000"/>
                              </a:solidFill>
                              <a:latin typeface="Arial"/>
                              <a:ea typeface="Arial"/>
                              <a:cs typeface="Arial"/>
                              <a:sym typeface="Arial"/>
                            </a:rPr>
                            <m:t>cs</m:t>
                          </m:r>
                        </m:num>
                        <m:den>
                          <m:r>
                            <a:rPr lang="ar-AE" sz="1100" b="0" i="0" u="none" strike="noStrike" cap="none">
                              <a:solidFill>
                                <a:srgbClr val="000000"/>
                              </a:solidFill>
                              <a:latin typeface="Arial"/>
                              <a:ea typeface="Arial"/>
                              <a:cs typeface="Arial"/>
                              <a:sym typeface="Arial"/>
                            </a:rPr>
                            <m:t>7</m:t>
                          </m:r>
                        </m:den>
                      </m:f>
                    </m:oMath>
                  </m:oMathPara>
                </a14:m>
                <a:endParaRPr lang="ar-AE" b="0" dirty="0"/>
              </a:p>
              <a:p>
                <a:pPr marL="158750" indent="0" algn="l">
                  <a:buNone/>
                </a:pPr>
                <a:r>
                  <a:rPr lang="en-US" b="1" dirty="0"/>
                  <a:t>Example from your data</a:t>
                </a:r>
                <a:endParaRPr lang="en-US" dirty="0"/>
              </a:p>
              <a:p>
                <a:pPr marL="615950" lvl="1" indent="0" algn="l">
                  <a:buNone/>
                </a:pPr>
                <a:r>
                  <a:rPr lang="en-US" sz="1100" b="0" i="0" u="none" strike="noStrike" cap="none" dirty="0" err="1">
                    <a:solidFill>
                      <a:srgbClr val="000000"/>
                    </a:solidFill>
                    <a:latin typeface="Arial"/>
                    <a:ea typeface="Arial"/>
                    <a:cs typeface="Arial"/>
                    <a:sym typeface="Arial"/>
                  </a:rPr>
                  <a:t>hos_cs</a:t>
                </a:r>
                <a:r>
                  <a:rPr lang="en-US" sz="1100" b="0" i="0" u="none" strike="noStrike" cap="none" dirty="0">
                    <a:solidFill>
                      <a:srgbClr val="000000"/>
                    </a:solidFill>
                    <a:latin typeface="Arial"/>
                    <a:ea typeface="Arial"/>
                    <a:cs typeface="Arial"/>
                    <a:sym typeface="Arial"/>
                  </a:rPr>
                  <a:t> = 42</a:t>
                </a:r>
                <a:r>
                  <a:rPr lang="en-US" dirty="0"/>
                  <a:t> → </a:t>
                </a:r>
                <a:r>
                  <a:rPr lang="en-US" sz="1100" b="0" i="0" u="none" strike="noStrike" cap="none" dirty="0" err="1">
                    <a:solidFill>
                      <a:srgbClr val="000000"/>
                    </a:solidFill>
                    <a:latin typeface="Arial"/>
                    <a:ea typeface="Arial"/>
                    <a:cs typeface="Arial"/>
                    <a:sym typeface="Arial"/>
                  </a:rPr>
                  <a:t>hos_ca</a:t>
                </a:r>
                <a:r>
                  <a:rPr lang="en-US" sz="1100" b="0" i="0" u="none" strike="noStrike" cap="none" dirty="0">
                    <a:solidFill>
                      <a:srgbClr val="000000"/>
                    </a:solidFill>
                    <a:latin typeface="Arial"/>
                    <a:ea typeface="Arial"/>
                    <a:cs typeface="Arial"/>
                    <a:sym typeface="Arial"/>
                  </a:rPr>
                  <a:t> = 6.0</a:t>
                </a:r>
                <a:r>
                  <a:rPr lang="en-US" dirty="0"/>
                  <a:t> → “On average, 6 people per day were admitted with COVID in this county over this 7-day period.”</a:t>
                </a:r>
              </a:p>
              <a:p>
                <a:pPr marL="615950" lvl="1" indent="0" algn="l">
                  <a:buNone/>
                </a:pPr>
                <a:r>
                  <a:rPr lang="en-US" sz="1100" b="0" i="0" u="none" strike="noStrike" cap="none" dirty="0" err="1">
                    <a:solidFill>
                      <a:srgbClr val="000000"/>
                    </a:solidFill>
                    <a:latin typeface="Arial"/>
                    <a:ea typeface="Arial"/>
                    <a:cs typeface="Arial"/>
                    <a:sym typeface="Arial"/>
                  </a:rPr>
                  <a:t>hos_cs</a:t>
                </a:r>
                <a:r>
                  <a:rPr lang="en-US" sz="1100" b="0" i="0" u="none" strike="noStrike" cap="none" dirty="0">
                    <a:solidFill>
                      <a:srgbClr val="000000"/>
                    </a:solidFill>
                    <a:latin typeface="Arial"/>
                    <a:ea typeface="Arial"/>
                    <a:cs typeface="Arial"/>
                    <a:sym typeface="Arial"/>
                  </a:rPr>
                  <a:t> = 21</a:t>
                </a:r>
                <a:r>
                  <a:rPr lang="en-US" dirty="0"/>
                  <a:t> → </a:t>
                </a:r>
                <a:r>
                  <a:rPr lang="en-US" sz="1100" b="0" i="0" u="none" strike="noStrike" cap="none" dirty="0" err="1">
                    <a:solidFill>
                      <a:srgbClr val="000000"/>
                    </a:solidFill>
                    <a:latin typeface="Arial"/>
                    <a:ea typeface="Arial"/>
                    <a:cs typeface="Arial"/>
                    <a:sym typeface="Arial"/>
                  </a:rPr>
                  <a:t>hos_ca</a:t>
                </a:r>
                <a:r>
                  <a:rPr lang="en-US" sz="1100" b="0" i="0" u="none" strike="noStrike" cap="none" dirty="0">
                    <a:solidFill>
                      <a:srgbClr val="000000"/>
                    </a:solidFill>
                    <a:latin typeface="Arial"/>
                    <a:ea typeface="Arial"/>
                    <a:cs typeface="Arial"/>
                    <a:sym typeface="Arial"/>
                  </a:rPr>
                  <a:t> = 3.0</a:t>
                </a:r>
                <a:r>
                  <a:rPr lang="en-US" dirty="0"/>
                  <a:t> → “On average, 3 people per day.”</a:t>
                </a:r>
              </a:p>
              <a:p>
                <a:pPr marL="158750" indent="0" algn="l">
                  <a:buNone/>
                </a:pPr>
                <a:r>
                  <a:rPr lang="en-US" b="1" dirty="0"/>
                  <a:t>Typical range / interpretation (small county)</a:t>
                </a:r>
                <a:endParaRPr lang="en-US" dirty="0"/>
              </a:p>
              <a:p>
                <a:pPr marL="615950" lvl="1" indent="0" algn="l">
                  <a:buNone/>
                </a:pPr>
                <a:r>
                  <a:rPr lang="en-US" dirty="0"/>
                  <a:t>0: no admissions in the last week.</a:t>
                </a:r>
              </a:p>
              <a:p>
                <a:pPr marL="615950" lvl="1" indent="0" algn="l">
                  <a:buNone/>
                </a:pPr>
                <a:r>
                  <a:rPr lang="en-US" dirty="0"/>
                  <a:t>0–1: very low activity.</a:t>
                </a:r>
              </a:p>
              <a:p>
                <a:pPr marL="615950" lvl="1" indent="0" algn="l">
                  <a:buNone/>
                </a:pPr>
                <a:r>
                  <a:rPr lang="en-US" dirty="0"/>
                  <a:t>1–5: moderate activity; several new admissions daily.</a:t>
                </a:r>
              </a:p>
              <a:p>
                <a:pPr marL="615950" lvl="1" indent="0" algn="l">
                  <a:buNone/>
                </a:pPr>
                <a:r>
                  <a:rPr lang="en-US" dirty="0"/>
                  <a:t>5+ daily on average is high for a ~56k population county.</a:t>
                </a:r>
                <a:br>
                  <a:rPr lang="en-US" dirty="0"/>
                </a:br>
                <a:r>
                  <a:rPr lang="en-US" dirty="0"/>
                  <a:t>These 7-day daily averages are widely used because they smooth out weekday/weekend reporting noise.</a:t>
                </a:r>
                <a:r>
                  <a:rPr lang="en-US" dirty="0">
                    <a:hlinkClick r:id="rId7"/>
                  </a:rPr>
                  <a:t>PMC+2MedRxiv+2</a:t>
                </a:r>
                <a:endParaRPr lang="en-US" dirty="0"/>
              </a:p>
              <a:p>
                <a:pPr marL="615950" lvl="1" indent="0" algn="l">
                  <a:buNone/>
                </a:pPr>
                <a:endParaRPr lang="en-US" dirty="0"/>
              </a:p>
              <a:p>
                <a:pPr marL="615950" lvl="1" indent="0" algn="l">
                  <a:buNone/>
                </a:pPr>
                <a:endParaRPr lang="en-US" dirty="0"/>
              </a:p>
              <a:p>
                <a:pPr marL="615950" lvl="1" indent="0" algn="l">
                  <a:buNone/>
                </a:pPr>
                <a:r>
                  <a:rPr lang="en-US" dirty="0" err="1"/>
                  <a:t>hos_wn_count</a:t>
                </a:r>
                <a:r>
                  <a:rPr lang="en-US" dirty="0"/>
                  <a:t> window:</a:t>
                </a:r>
              </a:p>
              <a:p>
                <a:pPr marL="615950" lvl="1" indent="0" algn="l">
                  <a:buNone/>
                </a:pPr>
                <a:r>
                  <a:rPr lang="en-US" dirty="0"/>
                  <a:t>|----- official epi-week -----|</a:t>
                </a:r>
              </a:p>
              <a:p>
                <a:pPr marL="615950" lvl="1" indent="0" algn="l">
                  <a:buNone/>
                </a:pPr>
                <a:endParaRPr lang="en-US" dirty="0"/>
              </a:p>
              <a:p>
                <a:pPr marL="615950" lvl="1" indent="0" algn="l">
                  <a:buNone/>
                </a:pPr>
                <a:r>
                  <a:rPr lang="en-US" dirty="0" err="1"/>
                  <a:t>hos_cs</a:t>
                </a:r>
                <a:r>
                  <a:rPr lang="en-US" dirty="0"/>
                  <a:t> window:</a:t>
                </a:r>
              </a:p>
              <a:p>
                <a:pPr marL="615950" lvl="1" indent="0" algn="l">
                  <a:buNone/>
                </a:pPr>
                <a:r>
                  <a:rPr lang="en-US" dirty="0"/>
                  <a:t>        |---- last 7 days ending </a:t>
                </a:r>
                <a:r>
                  <a:rPr lang="en-US" dirty="0" err="1"/>
                  <a:t>week_end_date</a:t>
                </a:r>
                <a:r>
                  <a:rPr lang="en-US" dirty="0"/>
                  <a:t> ----|</a:t>
                </a:r>
              </a:p>
              <a:p>
                <a:pPr marL="615950" lvl="1" indent="0" algn="l">
                  <a:buNone/>
                </a:pPr>
                <a:endParaRPr lang="en-US" dirty="0"/>
              </a:p>
              <a:p>
                <a:pPr marL="615950" lvl="1" indent="0" algn="l">
                  <a:buNone/>
                </a:pPr>
                <a:endParaRPr lang="en-US" dirty="0"/>
              </a:p>
              <a:p>
                <a:pPr marL="615950" lvl="1" indent="0" algn="l">
                  <a:buNone/>
                </a:pPr>
                <a:endParaRPr lang="en-US" dirty="0"/>
              </a:p>
              <a:p>
                <a:pPr marL="158750" indent="0" algn="l">
                  <a:buNone/>
                </a:pPr>
                <a:endParaRPr lang="en-US" dirty="0"/>
              </a:p>
            </p:txBody>
          </p:sp>
        </mc:Choice>
        <mc:Fallback>
          <p:sp>
            <p:nvSpPr>
              <p:cNvPr id="3" name="Notes Placeholder 2"/>
              <p:cNvSpPr>
                <a:spLocks noGrp="1"/>
              </p:cNvSpPr>
              <p:nvPr>
                <p:ph type="body" idx="1"/>
              </p:nvPr>
            </p:nvSpPr>
            <p:spPr/>
            <p:txBody>
              <a:bodyPr/>
              <a:lstStyle/>
              <a:p>
                <a:pPr marL="158750" indent="0" algn="l">
                  <a:buNone/>
                </a:pPr>
                <a:r>
                  <a:rPr lang="en-US" b="1" dirty="0"/>
                  <a:t>1. </a:t>
                </a:r>
                <a:r>
                  <a:rPr lang="en-US" sz="1100" b="1" i="0" u="none" strike="noStrike" cap="none" dirty="0" err="1">
                    <a:solidFill>
                      <a:srgbClr val="000000"/>
                    </a:solidFill>
                    <a:latin typeface="Arial"/>
                    <a:ea typeface="Arial"/>
                    <a:cs typeface="Arial"/>
                    <a:sym typeface="Arial"/>
                  </a:rPr>
                  <a:t>fips_code</a:t>
                </a:r>
                <a:endParaRPr lang="en-US" b="1" dirty="0"/>
              </a:p>
              <a:p>
                <a:pPr marL="158750" indent="0" algn="l">
                  <a:buNone/>
                </a:pPr>
                <a:r>
                  <a:rPr lang="en-US" b="1" dirty="0"/>
                  <a:t>What it means (plain)</a:t>
                </a:r>
                <a:br>
                  <a:rPr lang="en-US" dirty="0"/>
                </a:br>
                <a:r>
                  <a:rPr lang="en-US" dirty="0"/>
                  <a:t>Government ID code for the county. Every U.S. county has a unique 5-digit “FIPS” code (Federal Information Processing Standard).</a:t>
                </a:r>
              </a:p>
              <a:p>
                <a:pPr marL="158750" indent="0" algn="l">
                  <a:buNone/>
                </a:pPr>
                <a:r>
                  <a:rPr lang="en-US" b="1" dirty="0"/>
                  <a:t>Example from your data</a:t>
                </a:r>
                <a:endParaRPr lang="en-US" dirty="0"/>
              </a:p>
              <a:p>
                <a:pPr marL="615950" lvl="1" indent="0" algn="l">
                  <a:buNone/>
                </a:pPr>
                <a:r>
                  <a:rPr lang="en-US" sz="1100" b="0" i="0" u="none" strike="noStrike" cap="none" dirty="0">
                    <a:solidFill>
                      <a:srgbClr val="000000"/>
                    </a:solidFill>
                    <a:latin typeface="Arial"/>
                    <a:ea typeface="Arial"/>
                    <a:cs typeface="Arial"/>
                    <a:sym typeface="Arial"/>
                  </a:rPr>
                  <a:t>01001</a:t>
                </a:r>
                <a:r>
                  <a:rPr lang="en-US" dirty="0"/>
                  <a:t> → Autauga County, Alabama.</a:t>
                </a:r>
              </a:p>
              <a:p>
                <a:pPr marL="158750" indent="0" algn="l">
                  <a:buNone/>
                </a:pPr>
                <a:r>
                  <a:rPr lang="en-US" b="1" dirty="0"/>
                  <a:t>Typical format / range</a:t>
                </a:r>
                <a:endParaRPr lang="en-US" dirty="0"/>
              </a:p>
              <a:p>
                <a:pPr marL="615950" lvl="1" indent="0" algn="l">
                  <a:buNone/>
                </a:pPr>
                <a:r>
                  <a:rPr lang="en-US" dirty="0"/>
                  <a:t>Always 5 digits: like </a:t>
                </a:r>
                <a:r>
                  <a:rPr lang="en-US" sz="1100" b="0" i="0" u="none" strike="noStrike" cap="none" dirty="0">
                    <a:solidFill>
                      <a:srgbClr val="000000"/>
                    </a:solidFill>
                    <a:latin typeface="Arial"/>
                    <a:ea typeface="Arial"/>
                    <a:cs typeface="Arial"/>
                    <a:sym typeface="Arial"/>
                  </a:rPr>
                  <a:t>01001</a:t>
                </a:r>
                <a:r>
                  <a:rPr lang="en-US" dirty="0"/>
                  <a:t>, </a:t>
                </a:r>
                <a:r>
                  <a:rPr lang="en-US" sz="1100" b="0" i="0" u="none" strike="noStrike" cap="none" dirty="0">
                    <a:solidFill>
                      <a:srgbClr val="000000"/>
                    </a:solidFill>
                    <a:latin typeface="Arial"/>
                    <a:ea typeface="Arial"/>
                    <a:cs typeface="Arial"/>
                    <a:sym typeface="Arial"/>
                  </a:rPr>
                  <a:t>06037</a:t>
                </a:r>
                <a:r>
                  <a:rPr lang="en-US" dirty="0"/>
                  <a:t>, </a:t>
                </a:r>
                <a:r>
                  <a:rPr lang="en-US" sz="1100" b="0" i="0" u="none" strike="noStrike" cap="none" dirty="0">
                    <a:solidFill>
                      <a:srgbClr val="000000"/>
                    </a:solidFill>
                    <a:latin typeface="Arial"/>
                    <a:ea typeface="Arial"/>
                    <a:cs typeface="Arial"/>
                    <a:sym typeface="Arial"/>
                  </a:rPr>
                  <a:t>36061</a:t>
                </a:r>
                <a:r>
                  <a:rPr lang="en-US" dirty="0"/>
                  <a:t>.</a:t>
                </a:r>
              </a:p>
              <a:p>
                <a:pPr marL="615950" lvl="1" indent="0" algn="l">
                  <a:buNone/>
                </a:pPr>
                <a:r>
                  <a:rPr lang="en-US" dirty="0"/>
                  <a:t>Covers all U.S. counties and county-equivalents.</a:t>
                </a:r>
                <a:r>
                  <a:rPr lang="en-US" dirty="0">
                    <a:hlinkClick r:id="rId3"/>
                  </a:rPr>
                  <a:t>PMC+1</a:t>
                </a:r>
                <a:endParaRPr lang="en-US" dirty="0"/>
              </a:p>
              <a:p>
                <a:pPr marL="158750" indent="0" algn="l">
                  <a:buNone/>
                </a:pPr>
                <a:br>
                  <a:rPr lang="en-US" dirty="0"/>
                </a:br>
                <a:endParaRPr lang="en-US" dirty="0"/>
              </a:p>
              <a:p>
                <a:pPr marL="158750" indent="0" algn="l">
                  <a:buNone/>
                </a:pPr>
                <a:r>
                  <a:rPr lang="en-US" b="1" dirty="0"/>
                  <a:t>2. </a:t>
                </a:r>
                <a:r>
                  <a:rPr lang="en-US" sz="1100" b="1" i="0" u="none" strike="noStrike" cap="none" dirty="0" err="1">
                    <a:solidFill>
                      <a:srgbClr val="000000"/>
                    </a:solidFill>
                    <a:latin typeface="Arial"/>
                    <a:ea typeface="Arial"/>
                    <a:cs typeface="Arial"/>
                    <a:sym typeface="Arial"/>
                  </a:rPr>
                  <a:t>week_end_date</a:t>
                </a:r>
                <a:endParaRPr lang="en-US" b="1" dirty="0"/>
              </a:p>
              <a:p>
                <a:pPr marL="158750" indent="0" algn="l">
                  <a:buNone/>
                </a:pPr>
                <a:r>
                  <a:rPr lang="en-US" b="1" dirty="0"/>
                  <a:t>What it means (plain)</a:t>
                </a:r>
                <a:br>
                  <a:rPr lang="en-US" dirty="0"/>
                </a:br>
                <a:r>
                  <a:rPr lang="en-US" dirty="0"/>
                  <a:t>The calendar date for the </a:t>
                </a:r>
                <a:r>
                  <a:rPr lang="en-US" b="1" dirty="0"/>
                  <a:t>end of the reporting week</a:t>
                </a:r>
                <a:r>
                  <a:rPr lang="en-US" dirty="0"/>
                  <a:t>. All COVID hospitalizations for that county in that week are summarized under this date.</a:t>
                </a:r>
              </a:p>
              <a:p>
                <a:pPr marL="158750" indent="0" algn="l">
                  <a:buNone/>
                </a:pPr>
                <a:r>
                  <a:rPr lang="en-US" b="1" dirty="0"/>
                  <a:t>Example from your data</a:t>
                </a:r>
                <a:endParaRPr lang="en-US" dirty="0"/>
              </a:p>
              <a:p>
                <a:pPr marL="615950" lvl="1" indent="0" algn="l">
                  <a:buNone/>
                </a:pPr>
                <a:r>
                  <a:rPr lang="en-US" sz="1100" b="0" i="0" u="none" strike="noStrike" cap="none" dirty="0">
                    <a:solidFill>
                      <a:srgbClr val="000000"/>
                    </a:solidFill>
                    <a:latin typeface="Arial"/>
                    <a:ea typeface="Arial"/>
                    <a:cs typeface="Arial"/>
                    <a:sym typeface="Arial"/>
                  </a:rPr>
                  <a:t>2020-04-18</a:t>
                </a:r>
                <a:r>
                  <a:rPr lang="en-US" dirty="0"/>
                  <a:t> = week ending April 18, 2020.</a:t>
                </a:r>
              </a:p>
              <a:p>
                <a:pPr marL="158750" indent="0" algn="l">
                  <a:buNone/>
                </a:pPr>
                <a:r>
                  <a:rPr lang="en-US" b="1" dirty="0"/>
                  <a:t>Typical format / range</a:t>
                </a:r>
                <a:endParaRPr lang="en-US" dirty="0"/>
              </a:p>
              <a:p>
                <a:pPr marL="615950" lvl="1" indent="0" algn="l">
                  <a:buNone/>
                </a:pPr>
                <a:r>
                  <a:rPr lang="en-US" dirty="0"/>
                  <a:t>ISO date: </a:t>
                </a:r>
                <a:r>
                  <a:rPr lang="en-US" sz="1100" b="0" i="0" u="none" strike="noStrike" cap="none" dirty="0">
                    <a:solidFill>
                      <a:srgbClr val="000000"/>
                    </a:solidFill>
                    <a:latin typeface="Arial"/>
                    <a:ea typeface="Arial"/>
                    <a:cs typeface="Arial"/>
                    <a:sym typeface="Arial"/>
                  </a:rPr>
                  <a:t>YYYY-MM-DD</a:t>
                </a:r>
                <a:r>
                  <a:rPr lang="en-US" dirty="0"/>
                  <a:t>.</a:t>
                </a:r>
              </a:p>
              <a:p>
                <a:pPr marL="615950" lvl="1" indent="0" algn="l">
                  <a:buNone/>
                </a:pPr>
                <a:r>
                  <a:rPr lang="en-US" dirty="0"/>
                  <a:t>Weekly dates over your analysis period (e.g., 2020–2025).</a:t>
                </a:r>
              </a:p>
              <a:p>
                <a:pPr marL="158750" indent="0" algn="l">
                  <a:buNone/>
                </a:pPr>
                <a:br>
                  <a:rPr lang="en-US" dirty="0"/>
                </a:br>
                <a:endParaRPr lang="en-US" dirty="0"/>
              </a:p>
              <a:p>
                <a:pPr marL="158750" indent="0" algn="l">
                  <a:buNone/>
                </a:pPr>
                <a:r>
                  <a:rPr lang="en-US" b="1" dirty="0"/>
                  <a:t>3. </a:t>
                </a:r>
                <a:r>
                  <a:rPr lang="en-US" sz="1100" b="1" i="0" u="none" strike="noStrike" cap="none" dirty="0">
                    <a:solidFill>
                      <a:srgbClr val="000000"/>
                    </a:solidFill>
                    <a:latin typeface="Arial"/>
                    <a:ea typeface="Arial"/>
                    <a:cs typeface="Arial"/>
                    <a:sym typeface="Arial"/>
                  </a:rPr>
                  <a:t>pop_2019</a:t>
                </a:r>
                <a:endParaRPr lang="en-US" b="1" dirty="0"/>
              </a:p>
              <a:p>
                <a:pPr marL="158750" indent="0" algn="l">
                  <a:buNone/>
                </a:pPr>
                <a:r>
                  <a:rPr lang="en-US" b="1" dirty="0"/>
                  <a:t>What it means (plain)</a:t>
                </a:r>
                <a:br>
                  <a:rPr lang="en-US" dirty="0"/>
                </a:br>
                <a:r>
                  <a:rPr lang="en-US" dirty="0"/>
                  <a:t>Estimated </a:t>
                </a:r>
                <a:r>
                  <a:rPr lang="en-US" b="1" dirty="0"/>
                  <a:t>total number of people living in the county in 2019</a:t>
                </a:r>
                <a:r>
                  <a:rPr lang="en-US" dirty="0"/>
                  <a:t>.</a:t>
                </a:r>
                <a:br>
                  <a:rPr lang="en-US" dirty="0"/>
                </a:br>
                <a:r>
                  <a:rPr lang="en-US" dirty="0"/>
                  <a:t>This is used to convert raw hospital counts into “per 100,000 people” so different-size counties can be compared fairly.</a:t>
                </a:r>
              </a:p>
              <a:p>
                <a:pPr marL="158750" indent="0" algn="l">
                  <a:buNone/>
                </a:pPr>
                <a:r>
                  <a:rPr lang="en-US" b="1" dirty="0"/>
                  <a:t>Example from your data</a:t>
                </a:r>
                <a:endParaRPr lang="en-US" dirty="0"/>
              </a:p>
              <a:p>
                <a:pPr marL="615950" lvl="1" indent="0" algn="l">
                  <a:buNone/>
                </a:pPr>
                <a:r>
                  <a:rPr lang="en-US" sz="1100" b="0" i="0" u="none" strike="noStrike" cap="none" dirty="0">
                    <a:solidFill>
                      <a:srgbClr val="000000"/>
                    </a:solidFill>
                    <a:latin typeface="Arial"/>
                    <a:ea typeface="Arial"/>
                    <a:cs typeface="Arial"/>
                    <a:sym typeface="Arial"/>
                  </a:rPr>
                  <a:t>55869.0</a:t>
                </a:r>
                <a:r>
                  <a:rPr lang="en-US" dirty="0"/>
                  <a:t> → about 55,869 people in Autauga County.</a:t>
                </a:r>
              </a:p>
              <a:p>
                <a:pPr marL="158750" indent="0" algn="l">
                  <a:buNone/>
                </a:pPr>
                <a:r>
                  <a:rPr lang="en-US" b="1" dirty="0"/>
                  <a:t>Typical range / interpretation</a:t>
                </a:r>
                <a:endParaRPr lang="en-US" dirty="0"/>
              </a:p>
              <a:p>
                <a:pPr marL="615950" lvl="1" indent="0" algn="l">
                  <a:buNone/>
                </a:pPr>
                <a:r>
                  <a:rPr lang="en-US" dirty="0"/>
                  <a:t>Small rural counties: tens of thousands of people.</a:t>
                </a:r>
              </a:p>
              <a:p>
                <a:pPr marL="615950" lvl="1" indent="0" algn="l">
                  <a:buNone/>
                </a:pPr>
                <a:r>
                  <a:rPr lang="en-US" dirty="0"/>
                  <a:t>Large urban counties: hundreds of thousands to several million residents.</a:t>
                </a:r>
                <a:r>
                  <a:rPr lang="en-US" dirty="0">
                    <a:hlinkClick r:id="rId3"/>
                  </a:rPr>
                  <a:t>PMC+1</a:t>
                </a:r>
                <a:endParaRPr lang="en-US" dirty="0"/>
              </a:p>
              <a:p>
                <a:pPr marL="158750" indent="0" algn="l">
                  <a:buNone/>
                </a:pPr>
                <a:br>
                  <a:rPr lang="en-US" dirty="0"/>
                </a:br>
                <a:endParaRPr lang="en-US" dirty="0"/>
              </a:p>
              <a:p>
                <a:pPr marL="158750" indent="0" algn="l">
                  <a:buNone/>
                </a:pPr>
                <a:r>
                  <a:rPr lang="en-US" b="1" dirty="0"/>
                  <a:t>4. </a:t>
                </a:r>
                <a:r>
                  <a:rPr lang="en-US" sz="1100" b="1" i="0" u="none" strike="noStrike" cap="none" dirty="0" err="1">
                    <a:solidFill>
                      <a:srgbClr val="000000"/>
                    </a:solidFill>
                    <a:latin typeface="Arial"/>
                    <a:ea typeface="Arial"/>
                    <a:cs typeface="Arial"/>
                    <a:sym typeface="Arial"/>
                  </a:rPr>
                  <a:t>hos_wn_count</a:t>
                </a:r>
                <a:endParaRPr lang="en-US" b="1" dirty="0"/>
              </a:p>
              <a:p>
                <a:pPr marL="158750" indent="0" algn="l">
                  <a:buNone/>
                </a:pPr>
                <a:r>
                  <a:rPr lang="en-US" b="1" dirty="0"/>
                  <a:t>What it means (plain)</a:t>
                </a:r>
                <a:br>
                  <a:rPr lang="en-US" dirty="0"/>
                </a:br>
                <a:r>
                  <a:rPr lang="en-US" dirty="0"/>
                  <a:t>“Hospitalizations – Weekly New (count).”</a:t>
                </a:r>
                <a:br>
                  <a:rPr lang="en-US" dirty="0"/>
                </a:br>
                <a:r>
                  <a:rPr lang="en-US" dirty="0"/>
                  <a:t>Intended to be the </a:t>
                </a:r>
                <a:r>
                  <a:rPr lang="en-US" b="1" dirty="0"/>
                  <a:t>number of new COVID-19 hospital admissions in that county during that week</a:t>
                </a:r>
                <a:r>
                  <a:rPr lang="en-US" dirty="0"/>
                  <a:t> (plain counts of people).</a:t>
                </a:r>
              </a:p>
              <a:p>
                <a:pPr marL="615950" lvl="1" indent="0" algn="l">
                  <a:buNone/>
                </a:pPr>
                <a:r>
                  <a:rPr lang="en-US" dirty="0"/>
                  <a:t>In your snippet it’s </a:t>
                </a:r>
                <a:r>
                  <a:rPr lang="en-US" sz="1100" b="0" i="0" u="none" strike="noStrike" cap="none" dirty="0">
                    <a:solidFill>
                      <a:srgbClr val="000000"/>
                    </a:solidFill>
                    <a:latin typeface="Arial"/>
                    <a:ea typeface="Arial"/>
                    <a:cs typeface="Arial"/>
                    <a:sym typeface="Arial"/>
                  </a:rPr>
                  <a:t>0</a:t>
                </a:r>
                <a:r>
                  <a:rPr lang="en-US" dirty="0"/>
                  <a:t> for the first weeks, but the </a:t>
                </a:r>
                <a:r>
                  <a:rPr lang="en-US" i="1" dirty="0"/>
                  <a:t>intended meaning</a:t>
                </a:r>
                <a:r>
                  <a:rPr lang="en-US" dirty="0"/>
                  <a:t> (based on naming and standard CDC/HHS metrics) is “how many people were newly admitted this week.”</a:t>
                </a:r>
                <a:r>
                  <a:rPr lang="en-US" dirty="0">
                    <a:hlinkClick r:id="rId4"/>
                  </a:rPr>
                  <a:t>CDC+1</a:t>
                </a:r>
                <a:endParaRPr lang="en-US" dirty="0"/>
              </a:p>
              <a:p>
                <a:pPr marL="158750" indent="0" algn="l">
                  <a:buNone/>
                </a:pPr>
                <a:r>
                  <a:rPr lang="en-US" b="1" dirty="0"/>
                  <a:t>Example (conceptual, same county size)</a:t>
                </a:r>
                <a:endParaRPr lang="en-US" dirty="0"/>
              </a:p>
              <a:p>
                <a:pPr marL="615950" lvl="1" indent="0" algn="l">
                  <a:buNone/>
                </a:pPr>
                <a:r>
                  <a:rPr lang="en-US" sz="1100" b="0" i="0" u="none" strike="noStrike" cap="none" dirty="0" err="1">
                    <a:solidFill>
                      <a:srgbClr val="000000"/>
                    </a:solidFill>
                    <a:latin typeface="Arial"/>
                    <a:ea typeface="Arial"/>
                    <a:cs typeface="Arial"/>
                    <a:sym typeface="Arial"/>
                  </a:rPr>
                  <a:t>hos_wn_count</a:t>
                </a:r>
                <a:r>
                  <a:rPr lang="en-US" sz="1100" b="0" i="0" u="none" strike="noStrike" cap="none" dirty="0">
                    <a:solidFill>
                      <a:srgbClr val="000000"/>
                    </a:solidFill>
                    <a:latin typeface="Arial"/>
                    <a:ea typeface="Arial"/>
                    <a:cs typeface="Arial"/>
                    <a:sym typeface="Arial"/>
                  </a:rPr>
                  <a:t> = 7</a:t>
                </a:r>
                <a:r>
                  <a:rPr lang="en-US" dirty="0"/>
                  <a:t> means 7 residents of that county were newly admitted with COVID that week.</a:t>
                </a:r>
              </a:p>
              <a:p>
                <a:pPr marL="158750" indent="0" algn="l">
                  <a:buNone/>
                </a:pPr>
                <a:r>
                  <a:rPr lang="en-US" b="1" dirty="0"/>
                  <a:t>Typical range / interpretation (small county ~50–60k people)</a:t>
                </a:r>
                <a:endParaRPr lang="en-US" dirty="0"/>
              </a:p>
              <a:p>
                <a:pPr marL="615950" lvl="1" indent="0" algn="l">
                  <a:buNone/>
                </a:pPr>
                <a:r>
                  <a:rPr lang="en-US" dirty="0"/>
                  <a:t>Quiet periods: </a:t>
                </a:r>
                <a:r>
                  <a:rPr lang="en-US" sz="1100" b="0" i="0" u="none" strike="noStrike" cap="none" dirty="0">
                    <a:solidFill>
                      <a:srgbClr val="000000"/>
                    </a:solidFill>
                    <a:latin typeface="Arial"/>
                    <a:ea typeface="Arial"/>
                    <a:cs typeface="Arial"/>
                    <a:sym typeface="Arial"/>
                  </a:rPr>
                  <a:t>0–5</a:t>
                </a:r>
                <a:r>
                  <a:rPr lang="en-US" dirty="0"/>
                  <a:t> new admissions per week.</a:t>
                </a:r>
              </a:p>
              <a:p>
                <a:pPr marL="615950" lvl="1" indent="0" algn="l">
                  <a:buNone/>
                </a:pPr>
                <a:r>
                  <a:rPr lang="en-US" dirty="0"/>
                  <a:t>Moderate wave: maybe </a:t>
                </a:r>
                <a:r>
                  <a:rPr lang="en-US" sz="1100" b="0" i="0" u="none" strike="noStrike" cap="none" dirty="0">
                    <a:solidFill>
                      <a:srgbClr val="000000"/>
                    </a:solidFill>
                    <a:latin typeface="Arial"/>
                    <a:ea typeface="Arial"/>
                    <a:cs typeface="Arial"/>
                    <a:sym typeface="Arial"/>
                  </a:rPr>
                  <a:t>5–20</a:t>
                </a:r>
                <a:r>
                  <a:rPr lang="en-US" dirty="0"/>
                  <a:t> per week.</a:t>
                </a:r>
              </a:p>
              <a:p>
                <a:pPr marL="615950" lvl="1" indent="0" algn="l">
                  <a:buNone/>
                </a:pPr>
                <a:r>
                  <a:rPr lang="en-US" dirty="0"/>
                  <a:t>Big surges: could reach </a:t>
                </a:r>
                <a:r>
                  <a:rPr lang="en-US" sz="1100" b="0" i="0" u="none" strike="noStrike" cap="none" dirty="0">
                    <a:solidFill>
                      <a:srgbClr val="000000"/>
                    </a:solidFill>
                    <a:latin typeface="Arial"/>
                    <a:ea typeface="Arial"/>
                    <a:cs typeface="Arial"/>
                    <a:sym typeface="Arial"/>
                  </a:rPr>
                  <a:t>20–50+</a:t>
                </a:r>
                <a:r>
                  <a:rPr lang="en-US" dirty="0"/>
                  <a:t> in a week, but that’s already a lot for a 55k-population county.</a:t>
                </a:r>
                <a:br>
                  <a:rPr lang="en-US" dirty="0"/>
                </a:br>
                <a:r>
                  <a:rPr lang="en-US" dirty="0"/>
                  <a:t>(These ranges are consistent with observed weekly admissions per 100k of roughly 0–20+ in U.S. county-level data.</a:t>
                </a:r>
                <a:r>
                  <a:rPr lang="en-US" dirty="0">
                    <a:hlinkClick r:id="rId5"/>
                  </a:rPr>
                  <a:t>CDC+2CDC+2</a:t>
                </a:r>
                <a:r>
                  <a:rPr lang="en-US" dirty="0"/>
                  <a:t>)</a:t>
                </a:r>
              </a:p>
              <a:p>
                <a:pPr marL="158750" indent="0" algn="l">
                  <a:buNone/>
                </a:pPr>
                <a:br>
                  <a:rPr lang="en-US" dirty="0"/>
                </a:br>
                <a:endParaRPr lang="en-US" dirty="0"/>
              </a:p>
              <a:p>
                <a:pPr marL="158750" indent="0" algn="l">
                  <a:buNone/>
                </a:pPr>
                <a:r>
                  <a:rPr lang="en-US" b="1" dirty="0"/>
                  <a:t>5. </a:t>
                </a:r>
                <a:r>
                  <a:rPr lang="en-US" sz="1100" b="1" i="0" u="none" strike="noStrike" cap="none" dirty="0">
                    <a:solidFill>
                      <a:srgbClr val="000000"/>
                    </a:solidFill>
                    <a:latin typeface="Arial"/>
                    <a:ea typeface="Arial"/>
                    <a:cs typeface="Arial"/>
                    <a:sym typeface="Arial"/>
                  </a:rPr>
                  <a:t>hos_wn_per_100k</a:t>
                </a:r>
                <a:endParaRPr lang="en-US" b="1" dirty="0"/>
              </a:p>
              <a:p>
                <a:pPr marL="158750" indent="0" algn="l">
                  <a:buNone/>
                </a:pPr>
                <a:r>
                  <a:rPr lang="en-US" b="1" dirty="0"/>
                  <a:t>What it means (plain)</a:t>
                </a:r>
                <a:br>
                  <a:rPr lang="en-US" dirty="0"/>
                </a:br>
                <a:r>
                  <a:rPr lang="en-US" dirty="0"/>
                  <a:t>“Hospitalizations – Weekly New </a:t>
                </a:r>
                <a:r>
                  <a:rPr lang="en-US" b="1" dirty="0"/>
                  <a:t>per 100,000 people</a:t>
                </a:r>
                <a:r>
                  <a:rPr lang="en-US" dirty="0"/>
                  <a:t>.”</a:t>
                </a:r>
                <a:br>
                  <a:rPr lang="en-US" dirty="0"/>
                </a:br>
                <a:r>
                  <a:rPr lang="en-US" dirty="0"/>
                  <a:t>This is the same information as </a:t>
                </a:r>
                <a:r>
                  <a:rPr lang="en-US" sz="1100" b="0" i="0" u="none" strike="noStrike" cap="none" dirty="0" err="1">
                    <a:solidFill>
                      <a:srgbClr val="000000"/>
                    </a:solidFill>
                    <a:latin typeface="Arial"/>
                    <a:ea typeface="Arial"/>
                    <a:cs typeface="Arial"/>
                    <a:sym typeface="Arial"/>
                  </a:rPr>
                  <a:t>hos_wn_count</a:t>
                </a:r>
                <a:r>
                  <a:rPr lang="en-US" dirty="0"/>
                  <a:t>, but scaled so counties of different sizes can be compared.</a:t>
                </a:r>
              </a:p>
              <a:p>
                <a:pPr marL="615950" lvl="1" indent="0" algn="l">
                  <a:buNone/>
                </a:pPr>
                <a:r>
                  <a:rPr lang="en-US" dirty="0"/>
                  <a:t>Formula:</a:t>
                </a:r>
              </a:p>
              <a:p>
                <a:pPr marL="158750" indent="0" algn="l">
                  <a:buNone/>
                </a:pPr>
                <a:r>
                  <a:rPr lang="en-US" b="0" i="0">
                    <a:latin typeface="Cambria Math" panose="02040503050406030204" pitchFamily="18" charset="0"/>
                  </a:rPr>
                  <a:t>"hos\_wn\_per\_100k</a:t>
                </a:r>
                <a:r>
                  <a:rPr lang="en-US" sz="1100" b="0" i="0" u="none" strike="noStrike" cap="none">
                    <a:solidFill>
                      <a:srgbClr val="000000"/>
                    </a:solidFill>
                    <a:sym typeface="Arial"/>
                  </a:rPr>
                  <a:t>"</a:t>
                </a:r>
                <a:r>
                  <a:rPr lang="en-US" sz="1100" b="0" i="0" u="none" strike="noStrike" cap="none">
                    <a:solidFill>
                      <a:srgbClr val="000000"/>
                    </a:solidFill>
                    <a:latin typeface="Arial"/>
                    <a:ea typeface="Arial"/>
                    <a:cs typeface="Arial"/>
                    <a:sym typeface="Arial"/>
                  </a:rPr>
                  <a:t>=</a:t>
                </a:r>
                <a:r>
                  <a:rPr lang="en-US" sz="1100" b="0" i="0" u="none" strike="noStrike" cap="none">
                    <a:solidFill>
                      <a:srgbClr val="000000"/>
                    </a:solidFill>
                    <a:latin typeface="Arial"/>
                    <a:cs typeface="Arial"/>
                    <a:sym typeface="Arial"/>
                  </a:rPr>
                  <a:t>"</a:t>
                </a:r>
                <a:r>
                  <a:rPr lang="en-US" sz="1100" b="0" i="0" u="none" strike="noStrike" cap="none">
                    <a:solidFill>
                      <a:srgbClr val="000000"/>
                    </a:solidFill>
                    <a:latin typeface="Arial"/>
                    <a:ea typeface="Arial"/>
                    <a:cs typeface="Arial"/>
                    <a:sym typeface="Arial"/>
                  </a:rPr>
                  <a:t>hos\_wn\_count</a:t>
                </a:r>
                <a:r>
                  <a:rPr lang="ar-AE" sz="1100" b="0" i="0" u="none" strike="noStrike" cap="none">
                    <a:solidFill>
                      <a:srgbClr val="000000"/>
                    </a:solidFill>
                    <a:latin typeface="Arial"/>
                    <a:ea typeface="Arial"/>
                    <a:cs typeface="Arial"/>
                    <a:sym typeface="Arial"/>
                  </a:rPr>
                  <a:t>" /</a:t>
                </a:r>
                <a:r>
                  <a:rPr lang="en-US" sz="1100" b="0" i="0" u="none" strike="noStrike" cap="none">
                    <a:solidFill>
                      <a:srgbClr val="000000"/>
                    </a:solidFill>
                    <a:latin typeface="Arial"/>
                    <a:ea typeface="Arial"/>
                    <a:cs typeface="Arial"/>
                    <a:sym typeface="Arial"/>
                  </a:rPr>
                  <a:t>"pop\_2019</a:t>
                </a:r>
                <a:r>
                  <a:rPr lang="ar-AE" sz="1100" b="0" i="0" u="none" strike="noStrike" cap="none">
                    <a:solidFill>
                      <a:srgbClr val="000000"/>
                    </a:solidFill>
                    <a:latin typeface="Arial"/>
                    <a:ea typeface="Arial"/>
                    <a:cs typeface="Arial"/>
                    <a:sym typeface="Arial"/>
                  </a:rPr>
                  <a:t>" ×100,000</a:t>
                </a:r>
                <a:endParaRPr lang="ar-AE" b="0" dirty="0"/>
              </a:p>
              <a:p>
                <a:pPr marL="158750" indent="0" algn="l">
                  <a:buNone/>
                </a:pPr>
                <a:r>
                  <a:rPr lang="en-US" b="1" dirty="0"/>
                  <a:t>Example (based on your county, pop=55,869)</a:t>
                </a:r>
                <a:endParaRPr lang="en-US" dirty="0"/>
              </a:p>
              <a:p>
                <a:pPr marL="615950" lvl="1" indent="0" algn="l">
                  <a:buNone/>
                </a:pPr>
                <a:r>
                  <a:rPr lang="en-US" dirty="0"/>
                  <a:t>If </a:t>
                </a:r>
                <a:r>
                  <a:rPr lang="en-US" sz="1100" b="0" i="0" u="none" strike="noStrike" cap="none" dirty="0" err="1">
                    <a:solidFill>
                      <a:srgbClr val="000000"/>
                    </a:solidFill>
                    <a:latin typeface="Arial"/>
                    <a:ea typeface="Arial"/>
                    <a:cs typeface="Arial"/>
                    <a:sym typeface="Arial"/>
                  </a:rPr>
                  <a:t>hos_wn_count</a:t>
                </a:r>
                <a:r>
                  <a:rPr lang="en-US" sz="1100" b="0" i="0" u="none" strike="noStrike" cap="none" dirty="0">
                    <a:solidFill>
                      <a:srgbClr val="000000"/>
                    </a:solidFill>
                    <a:latin typeface="Arial"/>
                    <a:ea typeface="Arial"/>
                    <a:cs typeface="Arial"/>
                    <a:sym typeface="Arial"/>
                  </a:rPr>
                  <a:t> = 7</a:t>
                </a:r>
                <a:r>
                  <a:rPr lang="en-US" dirty="0"/>
                  <a:t>:</a:t>
                </a:r>
              </a:p>
              <a:p>
                <a:pPr marL="158750" indent="0" algn="l">
                  <a:buNone/>
                </a:pPr>
                <a:r>
                  <a:rPr lang="en-US" sz="1100" b="0" i="0" u="none" strike="noStrike" cap="none">
                    <a:solidFill>
                      <a:srgbClr val="000000"/>
                    </a:solidFill>
                    <a:latin typeface="Arial"/>
                    <a:ea typeface="Arial"/>
                    <a:cs typeface="Arial"/>
                    <a:sym typeface="Arial"/>
                  </a:rPr>
                  <a:t>7/55,869×100,000≈12.5</a:t>
                </a:r>
                <a:endParaRPr lang="en-US" dirty="0"/>
              </a:p>
              <a:p>
                <a:pPr marL="615950" lvl="1" indent="0" algn="l">
                  <a:buNone/>
                </a:pPr>
                <a:r>
                  <a:rPr lang="en-US" dirty="0"/>
                  <a:t>So </a:t>
                </a:r>
                <a:r>
                  <a:rPr lang="en-US" sz="1100" b="0" i="0" u="none" strike="noStrike" cap="none" dirty="0">
                    <a:solidFill>
                      <a:srgbClr val="000000"/>
                    </a:solidFill>
                    <a:latin typeface="Arial"/>
                    <a:ea typeface="Arial"/>
                    <a:cs typeface="Arial"/>
                    <a:sym typeface="Arial"/>
                  </a:rPr>
                  <a:t>hos_wn_per_100k ≈ 12.5</a:t>
                </a:r>
                <a:r>
                  <a:rPr lang="en-US" dirty="0"/>
                  <a:t>. That means “about 12.5 new hospitalizations per 100,000 residents this week.”</a:t>
                </a:r>
              </a:p>
              <a:p>
                <a:pPr marL="158750" indent="0" algn="l">
                  <a:buNone/>
                </a:pPr>
                <a:r>
                  <a:rPr lang="en-US" b="1" dirty="0"/>
                  <a:t>Typical range / interpretation</a:t>
                </a:r>
                <a:endParaRPr lang="en-US" dirty="0"/>
              </a:p>
              <a:p>
                <a:pPr marL="615950" lvl="1" indent="0" algn="l">
                  <a:buNone/>
                </a:pPr>
                <a:r>
                  <a:rPr lang="en-US" dirty="0"/>
                  <a:t>0: no new hospitalizations that week.</a:t>
                </a:r>
              </a:p>
              <a:p>
                <a:pPr marL="615950" lvl="1" indent="0" algn="l">
                  <a:buNone/>
                </a:pPr>
                <a:r>
                  <a:rPr lang="en-US" dirty="0"/>
                  <a:t>1–5 per 100k: low to moderate activity.</a:t>
                </a:r>
              </a:p>
              <a:p>
                <a:pPr marL="615950" lvl="1" indent="0" algn="l">
                  <a:buNone/>
                </a:pPr>
                <a:r>
                  <a:rPr lang="en-US" dirty="0"/>
                  <a:t>5–20 per 100k: moderate to high activity.</a:t>
                </a:r>
              </a:p>
              <a:p>
                <a:pPr marL="615950" lvl="1" indent="0" algn="l">
                  <a:buNone/>
                </a:pPr>
                <a:r>
                  <a:rPr lang="en-US" dirty="0"/>
                  <a:t>20 per 100k: very high; seen in some waves and high-burden </a:t>
                </a:r>
                <a:r>
                  <a:rPr lang="en-US" dirty="0" err="1"/>
                  <a:t>areas.</a:t>
                </a:r>
                <a:r>
                  <a:rPr lang="en-US" dirty="0" err="1">
                    <a:hlinkClick r:id="rId6"/>
                  </a:rPr>
                  <a:t>Covid</a:t>
                </a:r>
                <a:r>
                  <a:rPr lang="en-US" dirty="0">
                    <a:hlinkClick r:id="rId6"/>
                  </a:rPr>
                  <a:t> Act Now+2San Francisco Chronicle+2</a:t>
                </a:r>
                <a:endParaRPr lang="en-US" dirty="0"/>
              </a:p>
              <a:p>
                <a:pPr marL="158750" indent="0" algn="l">
                  <a:buNone/>
                </a:pPr>
                <a:br>
                  <a:rPr lang="en-US" dirty="0"/>
                </a:br>
                <a:endParaRPr lang="en-US" dirty="0"/>
              </a:p>
              <a:p>
                <a:pPr marL="158750" indent="0" algn="l">
                  <a:buNone/>
                </a:pPr>
                <a:r>
                  <a:rPr lang="en-US" b="1" dirty="0"/>
                  <a:t>6. </a:t>
                </a:r>
                <a:r>
                  <a:rPr lang="en-US" sz="1100" b="1" i="0" u="none" strike="noStrike" cap="none" dirty="0" err="1">
                    <a:solidFill>
                      <a:srgbClr val="000000"/>
                    </a:solidFill>
                    <a:latin typeface="Arial"/>
                    <a:ea typeface="Arial"/>
                    <a:cs typeface="Arial"/>
                    <a:sym typeface="Arial"/>
                  </a:rPr>
                  <a:t>hos_cs</a:t>
                </a:r>
                <a:endParaRPr lang="en-US" b="1" dirty="0"/>
              </a:p>
              <a:p>
                <a:pPr marL="158750" indent="0" algn="l">
                  <a:buNone/>
                </a:pPr>
                <a:r>
                  <a:rPr lang="en-US" b="1" dirty="0"/>
                  <a:t>What it means (plain)</a:t>
                </a:r>
                <a:br>
                  <a:rPr lang="en-US" dirty="0"/>
                </a:br>
                <a:r>
                  <a:rPr lang="en-US" dirty="0"/>
                  <a:t>“Hospitalizations – Cumulative Sum (7-day).”</a:t>
                </a:r>
                <a:br>
                  <a:rPr lang="en-US" dirty="0"/>
                </a:br>
                <a:r>
                  <a:rPr lang="en-US" dirty="0"/>
                  <a:t>From your sample, </a:t>
                </a:r>
                <a:r>
                  <a:rPr lang="en-US" sz="1100" b="0" i="0" u="none" strike="noStrike" cap="none" dirty="0" err="1">
                    <a:solidFill>
                      <a:srgbClr val="000000"/>
                    </a:solidFill>
                    <a:latin typeface="Arial"/>
                    <a:ea typeface="Arial"/>
                    <a:cs typeface="Arial"/>
                    <a:sym typeface="Arial"/>
                  </a:rPr>
                  <a:t>hos_cs</a:t>
                </a:r>
                <a:r>
                  <a:rPr lang="en-US" dirty="0"/>
                  <a:t> looks like a </a:t>
                </a:r>
                <a:r>
                  <a:rPr lang="en-US" b="1" dirty="0"/>
                  <a:t>7-day total of daily new hospital admissions</a:t>
                </a:r>
                <a:r>
                  <a:rPr lang="en-US" dirty="0"/>
                  <a:t> for that week (a rolling weekly sum):</a:t>
                </a:r>
              </a:p>
              <a:p>
                <a:pPr marL="615950" lvl="1" indent="0" algn="l">
                  <a:buNone/>
                </a:pPr>
                <a:r>
                  <a:rPr lang="en-US" dirty="0"/>
                  <a:t>Values in your snippet: </a:t>
                </a:r>
                <a:r>
                  <a:rPr lang="en-US" sz="1100" b="0" i="0" u="none" strike="noStrike" cap="none" dirty="0">
                    <a:solidFill>
                      <a:srgbClr val="000000"/>
                    </a:solidFill>
                    <a:latin typeface="Arial"/>
                    <a:ea typeface="Arial"/>
                    <a:cs typeface="Arial"/>
                    <a:sym typeface="Arial"/>
                  </a:rPr>
                  <a:t>0, 0, 9, 21, 42</a:t>
                </a:r>
                <a:endParaRPr lang="en-US" dirty="0"/>
              </a:p>
              <a:p>
                <a:pPr marL="615950" lvl="1" indent="0" algn="l">
                  <a:buNone/>
                </a:pPr>
                <a:r>
                  <a:rPr lang="en-US" dirty="0"/>
                  <a:t>Corresponding </a:t>
                </a:r>
                <a:r>
                  <a:rPr lang="en-US" sz="1100" b="0" i="0" u="none" strike="noStrike" cap="none" dirty="0" err="1">
                    <a:solidFill>
                      <a:srgbClr val="000000"/>
                    </a:solidFill>
                    <a:latin typeface="Arial"/>
                    <a:ea typeface="Arial"/>
                    <a:cs typeface="Arial"/>
                    <a:sym typeface="Arial"/>
                  </a:rPr>
                  <a:t>hos_ca</a:t>
                </a:r>
                <a:r>
                  <a:rPr lang="en-US" dirty="0"/>
                  <a:t>: </a:t>
                </a:r>
                <a:r>
                  <a:rPr lang="en-US" sz="1100" b="0" i="0" u="none" strike="noStrike" cap="none" dirty="0">
                    <a:solidFill>
                      <a:srgbClr val="000000"/>
                    </a:solidFill>
                    <a:latin typeface="Arial"/>
                    <a:ea typeface="Arial"/>
                    <a:cs typeface="Arial"/>
                    <a:sym typeface="Arial"/>
                  </a:rPr>
                  <a:t>0.0, 0.0, 1.285714, 3.0, 6.0</a:t>
                </a:r>
                <a:endParaRPr lang="en-US" dirty="0"/>
              </a:p>
              <a:p>
                <a:pPr marL="615950" lvl="1" indent="0" algn="l">
                  <a:buNone/>
                </a:pPr>
                <a:r>
                  <a:rPr lang="en-US" dirty="0"/>
                  <a:t>Note that:</a:t>
                </a:r>
              </a:p>
              <a:p>
                <a:pPr marL="1073150" lvl="2" indent="0" algn="l">
                  <a:buNone/>
                </a:pPr>
                <a:r>
                  <a:rPr lang="en-US" sz="1100" b="0" i="0" u="none" strike="noStrike" cap="none" dirty="0">
                    <a:solidFill>
                      <a:srgbClr val="000000"/>
                    </a:solidFill>
                    <a:latin typeface="Arial"/>
                    <a:ea typeface="Arial"/>
                    <a:cs typeface="Arial"/>
                    <a:sym typeface="Arial"/>
                  </a:rPr>
                  <a:t>9 / 7 = 1.285714</a:t>
                </a:r>
                <a:endParaRPr lang="en-US" dirty="0"/>
              </a:p>
              <a:p>
                <a:pPr marL="1073150" lvl="2" indent="0" algn="l">
                  <a:buNone/>
                </a:pPr>
                <a:r>
                  <a:rPr lang="en-US" sz="1100" b="0" i="0" u="none" strike="noStrike" cap="none" dirty="0">
                    <a:solidFill>
                      <a:srgbClr val="000000"/>
                    </a:solidFill>
                    <a:latin typeface="Arial"/>
                    <a:ea typeface="Arial"/>
                    <a:cs typeface="Arial"/>
                    <a:sym typeface="Arial"/>
                  </a:rPr>
                  <a:t>21 / 7 = 3.0</a:t>
                </a:r>
                <a:endParaRPr lang="en-US" dirty="0"/>
              </a:p>
              <a:p>
                <a:pPr marL="1073150" lvl="2" indent="0" algn="l">
                  <a:buNone/>
                </a:pPr>
                <a:r>
                  <a:rPr lang="en-US" sz="1100" b="0" i="0" u="none" strike="noStrike" cap="none" dirty="0">
                    <a:solidFill>
                      <a:srgbClr val="000000"/>
                    </a:solidFill>
                    <a:latin typeface="Arial"/>
                    <a:ea typeface="Arial"/>
                    <a:cs typeface="Arial"/>
                    <a:sym typeface="Arial"/>
                  </a:rPr>
                  <a:t>42 / 7 = 6.0</a:t>
                </a:r>
                <a:br>
                  <a:rPr lang="en-US" dirty="0"/>
                </a:br>
                <a:r>
                  <a:rPr lang="en-US" dirty="0"/>
                  <a:t>So </a:t>
                </a:r>
                <a:r>
                  <a:rPr lang="en-US" sz="1100" b="0" i="0" u="none" strike="noStrike" cap="none" dirty="0" err="1">
                    <a:solidFill>
                      <a:srgbClr val="000000"/>
                    </a:solidFill>
                    <a:latin typeface="Arial"/>
                    <a:ea typeface="Arial"/>
                    <a:cs typeface="Arial"/>
                    <a:sym typeface="Arial"/>
                  </a:rPr>
                  <a:t>hos_ca</a:t>
                </a:r>
                <a:r>
                  <a:rPr lang="en-US" dirty="0"/>
                  <a:t> is exactly </a:t>
                </a:r>
                <a:r>
                  <a:rPr lang="en-US" sz="1100" b="0" i="0" u="none" strike="noStrike" cap="none" dirty="0" err="1">
                    <a:solidFill>
                      <a:srgbClr val="000000"/>
                    </a:solidFill>
                    <a:latin typeface="Arial"/>
                    <a:ea typeface="Arial"/>
                    <a:cs typeface="Arial"/>
                    <a:sym typeface="Arial"/>
                  </a:rPr>
                  <a:t>hos_cs</a:t>
                </a:r>
                <a:r>
                  <a:rPr lang="en-US" sz="1100" b="0" i="0" u="none" strike="noStrike" cap="none" dirty="0">
                    <a:solidFill>
                      <a:srgbClr val="000000"/>
                    </a:solidFill>
                    <a:latin typeface="Arial"/>
                    <a:ea typeface="Arial"/>
                    <a:cs typeface="Arial"/>
                    <a:sym typeface="Arial"/>
                  </a:rPr>
                  <a:t> / 7</a:t>
                </a:r>
                <a:r>
                  <a:rPr lang="en-US" dirty="0"/>
                  <a:t>, which strongly indicates </a:t>
                </a:r>
                <a:r>
                  <a:rPr lang="en-US" sz="1100" b="0" i="0" u="none" strike="noStrike" cap="none" dirty="0" err="1">
                    <a:solidFill>
                      <a:srgbClr val="000000"/>
                    </a:solidFill>
                    <a:latin typeface="Arial"/>
                    <a:ea typeface="Arial"/>
                    <a:cs typeface="Arial"/>
                    <a:sym typeface="Arial"/>
                  </a:rPr>
                  <a:t>hos_cs</a:t>
                </a:r>
                <a:r>
                  <a:rPr lang="en-US" dirty="0"/>
                  <a:t> is a 7-day cumulative sum and </a:t>
                </a:r>
                <a:r>
                  <a:rPr lang="en-US" sz="1100" b="0" i="0" u="none" strike="noStrike" cap="none" dirty="0" err="1">
                    <a:solidFill>
                      <a:srgbClr val="000000"/>
                    </a:solidFill>
                    <a:latin typeface="Arial"/>
                    <a:ea typeface="Arial"/>
                    <a:cs typeface="Arial"/>
                    <a:sym typeface="Arial"/>
                  </a:rPr>
                  <a:t>hos_ca</a:t>
                </a:r>
                <a:r>
                  <a:rPr lang="en-US" dirty="0"/>
                  <a:t> is the 7-day daily average.</a:t>
                </a:r>
              </a:p>
              <a:p>
                <a:pPr marL="158750" indent="0" algn="l">
                  <a:buNone/>
                </a:pPr>
                <a:r>
                  <a:rPr lang="en-US" dirty="0"/>
                  <a:t>This is consistent with how many dashboards and studies work with COVID hospitalization data: they use </a:t>
                </a:r>
                <a:r>
                  <a:rPr lang="en-US" b="1" dirty="0"/>
                  <a:t>7-day sums or 7-day moving averages</a:t>
                </a:r>
                <a:r>
                  <a:rPr lang="en-US" dirty="0"/>
                  <a:t> of daily admissions to smooth noisy daily counts.</a:t>
                </a:r>
                <a:r>
                  <a:rPr lang="en-US" dirty="0">
                    <a:hlinkClick r:id="rId7"/>
                  </a:rPr>
                  <a:t>PMC+1</a:t>
                </a:r>
                <a:endParaRPr lang="en-US" dirty="0"/>
              </a:p>
              <a:p>
                <a:pPr marL="158750" indent="0" algn="l">
                  <a:buNone/>
                </a:pPr>
                <a:r>
                  <a:rPr lang="en-US" b="1" dirty="0"/>
                  <a:t>Example from your data</a:t>
                </a:r>
                <a:endParaRPr lang="en-US" dirty="0"/>
              </a:p>
              <a:p>
                <a:pPr marL="615950" lvl="1" indent="0" algn="l">
                  <a:buNone/>
                </a:pPr>
                <a:r>
                  <a:rPr lang="en-US" sz="1100" b="0" i="0" u="none" strike="noStrike" cap="none" dirty="0" err="1">
                    <a:solidFill>
                      <a:srgbClr val="000000"/>
                    </a:solidFill>
                    <a:latin typeface="Arial"/>
                    <a:ea typeface="Arial"/>
                    <a:cs typeface="Arial"/>
                    <a:sym typeface="Arial"/>
                  </a:rPr>
                  <a:t>hos_cs</a:t>
                </a:r>
                <a:r>
                  <a:rPr lang="en-US" sz="1100" b="0" i="0" u="none" strike="noStrike" cap="none" dirty="0">
                    <a:solidFill>
                      <a:srgbClr val="000000"/>
                    </a:solidFill>
                    <a:latin typeface="Arial"/>
                    <a:ea typeface="Arial"/>
                    <a:cs typeface="Arial"/>
                    <a:sym typeface="Arial"/>
                  </a:rPr>
                  <a:t> = 42</a:t>
                </a:r>
                <a:r>
                  <a:rPr lang="en-US" dirty="0"/>
                  <a:t> means “over the last 7 days, there were 42 new COVID-19 hospital admissions in this county.”</a:t>
                </a:r>
              </a:p>
              <a:p>
                <a:pPr marL="158750" indent="0" algn="l">
                  <a:buNone/>
                </a:pPr>
                <a:r>
                  <a:rPr lang="en-US" b="1" dirty="0"/>
                  <a:t>Typical range / interpretation (small county)</a:t>
                </a:r>
                <a:endParaRPr lang="en-US" dirty="0"/>
              </a:p>
              <a:p>
                <a:pPr marL="615950" lvl="1" indent="0" algn="l">
                  <a:buNone/>
                </a:pPr>
                <a:r>
                  <a:rPr lang="en-US" dirty="0"/>
                  <a:t>During quiet times: </a:t>
                </a:r>
                <a:r>
                  <a:rPr lang="en-US" sz="1100" b="0" i="0" u="none" strike="noStrike" cap="none" dirty="0">
                    <a:solidFill>
                      <a:srgbClr val="000000"/>
                    </a:solidFill>
                    <a:latin typeface="Arial"/>
                    <a:ea typeface="Arial"/>
                    <a:cs typeface="Arial"/>
                    <a:sym typeface="Arial"/>
                  </a:rPr>
                  <a:t>0–10</a:t>
                </a:r>
                <a:r>
                  <a:rPr lang="en-US" dirty="0"/>
                  <a:t> over 7 days.</a:t>
                </a:r>
              </a:p>
              <a:p>
                <a:pPr marL="615950" lvl="1" indent="0" algn="l">
                  <a:buNone/>
                </a:pPr>
                <a:r>
                  <a:rPr lang="en-US" dirty="0"/>
                  <a:t>Moderate wave: </a:t>
                </a:r>
                <a:r>
                  <a:rPr lang="en-US" sz="1100" b="0" i="0" u="none" strike="noStrike" cap="none" dirty="0">
                    <a:solidFill>
                      <a:srgbClr val="000000"/>
                    </a:solidFill>
                    <a:latin typeface="Arial"/>
                    <a:ea typeface="Arial"/>
                    <a:cs typeface="Arial"/>
                    <a:sym typeface="Arial"/>
                  </a:rPr>
                  <a:t>10–40</a:t>
                </a:r>
                <a:r>
                  <a:rPr lang="en-US" dirty="0"/>
                  <a:t>.</a:t>
                </a:r>
              </a:p>
              <a:p>
                <a:pPr marL="615950" lvl="1" indent="0" algn="l">
                  <a:buNone/>
                </a:pPr>
                <a:r>
                  <a:rPr lang="en-US" dirty="0"/>
                  <a:t>Large wave: </a:t>
                </a:r>
                <a:r>
                  <a:rPr lang="en-US" sz="1100" b="0" i="0" u="none" strike="noStrike" cap="none" dirty="0">
                    <a:solidFill>
                      <a:srgbClr val="000000"/>
                    </a:solidFill>
                    <a:latin typeface="Arial"/>
                    <a:ea typeface="Arial"/>
                    <a:cs typeface="Arial"/>
                    <a:sym typeface="Arial"/>
                  </a:rPr>
                  <a:t>40+</a:t>
                </a:r>
                <a:r>
                  <a:rPr lang="en-US" dirty="0"/>
                  <a:t> over 7 days is quite high for ~56k people.</a:t>
                </a:r>
                <a:br>
                  <a:rPr lang="en-US" dirty="0"/>
                </a:br>
                <a:r>
                  <a:rPr lang="en-US" dirty="0"/>
                  <a:t>(Exact values depend strongly on wave intensity and local vulnerability.</a:t>
                </a:r>
                <a:r>
                  <a:rPr lang="en-US" dirty="0">
                    <a:hlinkClick r:id="rId4"/>
                  </a:rPr>
                  <a:t>CDC+1</a:t>
                </a:r>
                <a:r>
                  <a:rPr lang="en-US" dirty="0"/>
                  <a:t>)</a:t>
                </a:r>
              </a:p>
              <a:p>
                <a:pPr marL="158750" indent="0" algn="l">
                  <a:buNone/>
                </a:pPr>
                <a:br>
                  <a:rPr lang="en-US" dirty="0"/>
                </a:br>
                <a:endParaRPr lang="en-US" dirty="0"/>
              </a:p>
              <a:p>
                <a:pPr marL="158750" indent="0" algn="l">
                  <a:buNone/>
                </a:pPr>
                <a:r>
                  <a:rPr lang="en-US" b="1" dirty="0"/>
                  <a:t>7. </a:t>
                </a:r>
                <a:r>
                  <a:rPr lang="en-US" sz="1100" b="1" i="0" u="none" strike="noStrike" cap="none" dirty="0" err="1">
                    <a:solidFill>
                      <a:srgbClr val="000000"/>
                    </a:solidFill>
                    <a:latin typeface="Arial"/>
                    <a:ea typeface="Arial"/>
                    <a:cs typeface="Arial"/>
                    <a:sym typeface="Arial"/>
                  </a:rPr>
                  <a:t>hos_ca</a:t>
                </a:r>
                <a:endParaRPr lang="en-US" b="1" dirty="0"/>
              </a:p>
              <a:p>
                <a:pPr marL="158750" indent="0" algn="l">
                  <a:buNone/>
                </a:pPr>
                <a:r>
                  <a:rPr lang="en-US" b="1" dirty="0"/>
                  <a:t>What it means (plain)</a:t>
                </a:r>
                <a:br>
                  <a:rPr lang="en-US" dirty="0"/>
                </a:br>
                <a:r>
                  <a:rPr lang="en-US" dirty="0"/>
                  <a:t>“Hospitalizations – Cumulative Average (7-day daily average).”</a:t>
                </a:r>
                <a:br>
                  <a:rPr lang="en-US" dirty="0"/>
                </a:br>
                <a:r>
                  <a:rPr lang="en-US" dirty="0"/>
                  <a:t>This is the </a:t>
                </a:r>
                <a:r>
                  <a:rPr lang="en-US" b="1" dirty="0"/>
                  <a:t>average number of new COVID-19 hospital admissions per day over the last 7 days</a:t>
                </a:r>
                <a:r>
                  <a:rPr lang="en-US" dirty="0"/>
                  <a:t>.</a:t>
                </a:r>
              </a:p>
              <a:p>
                <a:pPr marL="615950" lvl="1" indent="0" algn="l">
                  <a:buNone/>
                </a:pPr>
                <a:r>
                  <a:rPr lang="en-US" dirty="0"/>
                  <a:t>By construction in your dataset:</a:t>
                </a:r>
              </a:p>
              <a:p>
                <a:pPr marL="158750" indent="0" algn="l">
                  <a:buNone/>
                </a:pPr>
                <a:r>
                  <a:rPr lang="en-US" b="0" i="0">
                    <a:latin typeface="Cambria Math" panose="02040503050406030204" pitchFamily="18" charset="0"/>
                  </a:rPr>
                  <a:t>"hos\_ca</a:t>
                </a:r>
                <a:r>
                  <a:rPr lang="en-US" sz="1100" b="0" i="0" u="none" strike="noStrike" cap="none">
                    <a:solidFill>
                      <a:srgbClr val="000000"/>
                    </a:solidFill>
                    <a:sym typeface="Arial"/>
                  </a:rPr>
                  <a:t>"</a:t>
                </a:r>
                <a:r>
                  <a:rPr lang="en-US" sz="1100" b="0" i="0" u="none" strike="noStrike" cap="none">
                    <a:solidFill>
                      <a:srgbClr val="000000"/>
                    </a:solidFill>
                    <a:latin typeface="Arial"/>
                    <a:ea typeface="Arial"/>
                    <a:cs typeface="Arial"/>
                    <a:sym typeface="Arial"/>
                  </a:rPr>
                  <a:t>=</a:t>
                </a:r>
                <a:r>
                  <a:rPr lang="en-US" sz="1100" b="0" i="0" u="none" strike="noStrike" cap="none">
                    <a:solidFill>
                      <a:srgbClr val="000000"/>
                    </a:solidFill>
                    <a:latin typeface="Arial"/>
                    <a:cs typeface="Arial"/>
                    <a:sym typeface="Arial"/>
                  </a:rPr>
                  <a:t>"</a:t>
                </a:r>
                <a:r>
                  <a:rPr lang="en-US" sz="1100" b="0" i="0" u="none" strike="noStrike" cap="none">
                    <a:solidFill>
                      <a:srgbClr val="000000"/>
                    </a:solidFill>
                    <a:latin typeface="Arial"/>
                    <a:ea typeface="Arial"/>
                    <a:cs typeface="Arial"/>
                    <a:sym typeface="Arial"/>
                  </a:rPr>
                  <a:t>hos\_cs</a:t>
                </a:r>
                <a:r>
                  <a:rPr lang="ar-AE" sz="1100" b="0" i="0" u="none" strike="noStrike" cap="none">
                    <a:solidFill>
                      <a:srgbClr val="000000"/>
                    </a:solidFill>
                    <a:latin typeface="Arial"/>
                    <a:ea typeface="Arial"/>
                    <a:cs typeface="Arial"/>
                    <a:sym typeface="Arial"/>
                  </a:rPr>
                  <a:t>" /7</a:t>
                </a:r>
                <a:endParaRPr lang="ar-AE" b="0" dirty="0"/>
              </a:p>
              <a:p>
                <a:pPr marL="158750" indent="0" algn="l">
                  <a:buNone/>
                </a:pPr>
                <a:r>
                  <a:rPr lang="en-US" b="1" dirty="0"/>
                  <a:t>Example from your data</a:t>
                </a:r>
                <a:endParaRPr lang="en-US" dirty="0"/>
              </a:p>
              <a:p>
                <a:pPr marL="615950" lvl="1" indent="0" algn="l">
                  <a:buNone/>
                </a:pPr>
                <a:r>
                  <a:rPr lang="en-US" sz="1100" b="0" i="0" u="none" strike="noStrike" cap="none" dirty="0" err="1">
                    <a:solidFill>
                      <a:srgbClr val="000000"/>
                    </a:solidFill>
                    <a:latin typeface="Arial"/>
                    <a:ea typeface="Arial"/>
                    <a:cs typeface="Arial"/>
                    <a:sym typeface="Arial"/>
                  </a:rPr>
                  <a:t>hos_cs</a:t>
                </a:r>
                <a:r>
                  <a:rPr lang="en-US" sz="1100" b="0" i="0" u="none" strike="noStrike" cap="none" dirty="0">
                    <a:solidFill>
                      <a:srgbClr val="000000"/>
                    </a:solidFill>
                    <a:latin typeface="Arial"/>
                    <a:ea typeface="Arial"/>
                    <a:cs typeface="Arial"/>
                    <a:sym typeface="Arial"/>
                  </a:rPr>
                  <a:t> = 42</a:t>
                </a:r>
                <a:r>
                  <a:rPr lang="en-US" dirty="0"/>
                  <a:t> → </a:t>
                </a:r>
                <a:r>
                  <a:rPr lang="en-US" sz="1100" b="0" i="0" u="none" strike="noStrike" cap="none" dirty="0" err="1">
                    <a:solidFill>
                      <a:srgbClr val="000000"/>
                    </a:solidFill>
                    <a:latin typeface="Arial"/>
                    <a:ea typeface="Arial"/>
                    <a:cs typeface="Arial"/>
                    <a:sym typeface="Arial"/>
                  </a:rPr>
                  <a:t>hos_ca</a:t>
                </a:r>
                <a:r>
                  <a:rPr lang="en-US" sz="1100" b="0" i="0" u="none" strike="noStrike" cap="none" dirty="0">
                    <a:solidFill>
                      <a:srgbClr val="000000"/>
                    </a:solidFill>
                    <a:latin typeface="Arial"/>
                    <a:ea typeface="Arial"/>
                    <a:cs typeface="Arial"/>
                    <a:sym typeface="Arial"/>
                  </a:rPr>
                  <a:t> = 6.0</a:t>
                </a:r>
                <a:r>
                  <a:rPr lang="en-US" dirty="0"/>
                  <a:t> → “On average, 6 people per day were admitted with COVID in this county over this 7-day period.”</a:t>
                </a:r>
              </a:p>
              <a:p>
                <a:pPr marL="615950" lvl="1" indent="0" algn="l">
                  <a:buNone/>
                </a:pPr>
                <a:r>
                  <a:rPr lang="en-US" sz="1100" b="0" i="0" u="none" strike="noStrike" cap="none" dirty="0" err="1">
                    <a:solidFill>
                      <a:srgbClr val="000000"/>
                    </a:solidFill>
                    <a:latin typeface="Arial"/>
                    <a:ea typeface="Arial"/>
                    <a:cs typeface="Arial"/>
                    <a:sym typeface="Arial"/>
                  </a:rPr>
                  <a:t>hos_cs</a:t>
                </a:r>
                <a:r>
                  <a:rPr lang="en-US" sz="1100" b="0" i="0" u="none" strike="noStrike" cap="none" dirty="0">
                    <a:solidFill>
                      <a:srgbClr val="000000"/>
                    </a:solidFill>
                    <a:latin typeface="Arial"/>
                    <a:ea typeface="Arial"/>
                    <a:cs typeface="Arial"/>
                    <a:sym typeface="Arial"/>
                  </a:rPr>
                  <a:t> = 21</a:t>
                </a:r>
                <a:r>
                  <a:rPr lang="en-US" dirty="0"/>
                  <a:t> → </a:t>
                </a:r>
                <a:r>
                  <a:rPr lang="en-US" sz="1100" b="0" i="0" u="none" strike="noStrike" cap="none" dirty="0" err="1">
                    <a:solidFill>
                      <a:srgbClr val="000000"/>
                    </a:solidFill>
                    <a:latin typeface="Arial"/>
                    <a:ea typeface="Arial"/>
                    <a:cs typeface="Arial"/>
                    <a:sym typeface="Arial"/>
                  </a:rPr>
                  <a:t>hos_ca</a:t>
                </a:r>
                <a:r>
                  <a:rPr lang="en-US" sz="1100" b="0" i="0" u="none" strike="noStrike" cap="none" dirty="0">
                    <a:solidFill>
                      <a:srgbClr val="000000"/>
                    </a:solidFill>
                    <a:latin typeface="Arial"/>
                    <a:ea typeface="Arial"/>
                    <a:cs typeface="Arial"/>
                    <a:sym typeface="Arial"/>
                  </a:rPr>
                  <a:t> = 3.0</a:t>
                </a:r>
                <a:r>
                  <a:rPr lang="en-US" dirty="0"/>
                  <a:t> → “On average, 3 people per day.”</a:t>
                </a:r>
              </a:p>
              <a:p>
                <a:pPr marL="158750" indent="0" algn="l">
                  <a:buNone/>
                </a:pPr>
                <a:r>
                  <a:rPr lang="en-US" b="1" dirty="0"/>
                  <a:t>Typical range / interpretation (small county)</a:t>
                </a:r>
                <a:endParaRPr lang="en-US" dirty="0"/>
              </a:p>
              <a:p>
                <a:pPr marL="615950" lvl="1" indent="0" algn="l">
                  <a:buNone/>
                </a:pPr>
                <a:r>
                  <a:rPr lang="en-US" dirty="0"/>
                  <a:t>0: no admissions in the last week.</a:t>
                </a:r>
              </a:p>
              <a:p>
                <a:pPr marL="615950" lvl="1" indent="0" algn="l">
                  <a:buNone/>
                </a:pPr>
                <a:r>
                  <a:rPr lang="en-US" dirty="0"/>
                  <a:t>0–1: very low activity.</a:t>
                </a:r>
              </a:p>
              <a:p>
                <a:pPr marL="615950" lvl="1" indent="0" algn="l">
                  <a:buNone/>
                </a:pPr>
                <a:r>
                  <a:rPr lang="en-US" dirty="0"/>
                  <a:t>1–5: moderate activity; several new admissions daily.</a:t>
                </a:r>
              </a:p>
              <a:p>
                <a:pPr marL="615950" lvl="1" indent="0" algn="l">
                  <a:buNone/>
                </a:pPr>
                <a:r>
                  <a:rPr lang="en-US" dirty="0"/>
                  <a:t>5+ daily on average is high for a ~56k population county.</a:t>
                </a:r>
                <a:br>
                  <a:rPr lang="en-US" dirty="0"/>
                </a:br>
                <a:r>
                  <a:rPr lang="en-US" dirty="0"/>
                  <a:t>These 7-day daily averages are widely used because they smooth out weekday/weekend reporting noise.</a:t>
                </a:r>
                <a:r>
                  <a:rPr lang="en-US" dirty="0">
                    <a:hlinkClick r:id="rId7"/>
                  </a:rPr>
                  <a:t>PMC+2MedRxiv+2</a:t>
                </a:r>
                <a:endParaRPr lang="en-US" dirty="0"/>
              </a:p>
              <a:p>
                <a:pPr marL="615950" lvl="1" indent="0" algn="l">
                  <a:buNone/>
                </a:pPr>
                <a:endParaRPr lang="en-US" dirty="0"/>
              </a:p>
              <a:p>
                <a:pPr marL="615950" lvl="1" indent="0" algn="l">
                  <a:buNone/>
                </a:pPr>
                <a:endParaRPr lang="en-US" dirty="0"/>
              </a:p>
              <a:p>
                <a:pPr marL="615950" lvl="1" indent="0" algn="l">
                  <a:buNone/>
                </a:pPr>
                <a:r>
                  <a:rPr lang="en-US" dirty="0" err="1"/>
                  <a:t>hos_wn_count</a:t>
                </a:r>
                <a:r>
                  <a:rPr lang="en-US" dirty="0"/>
                  <a:t> window:</a:t>
                </a:r>
              </a:p>
              <a:p>
                <a:pPr marL="615950" lvl="1" indent="0" algn="l">
                  <a:buNone/>
                </a:pPr>
                <a:r>
                  <a:rPr lang="en-US" dirty="0"/>
                  <a:t>|----- official epi-week -----|</a:t>
                </a:r>
              </a:p>
              <a:p>
                <a:pPr marL="615950" lvl="1" indent="0" algn="l">
                  <a:buNone/>
                </a:pPr>
                <a:endParaRPr lang="en-US" dirty="0"/>
              </a:p>
              <a:p>
                <a:pPr marL="615950" lvl="1" indent="0" algn="l">
                  <a:buNone/>
                </a:pPr>
                <a:r>
                  <a:rPr lang="en-US" dirty="0" err="1"/>
                  <a:t>hos_cs</a:t>
                </a:r>
                <a:r>
                  <a:rPr lang="en-US" dirty="0"/>
                  <a:t> window:</a:t>
                </a:r>
              </a:p>
              <a:p>
                <a:pPr marL="615950" lvl="1" indent="0" algn="l">
                  <a:buNone/>
                </a:pPr>
                <a:r>
                  <a:rPr lang="en-US" dirty="0"/>
                  <a:t>        |---- last 7 days ending </a:t>
                </a:r>
                <a:r>
                  <a:rPr lang="en-US" dirty="0" err="1"/>
                  <a:t>week_end_date</a:t>
                </a:r>
                <a:r>
                  <a:rPr lang="en-US" dirty="0"/>
                  <a:t> ----|</a:t>
                </a:r>
              </a:p>
              <a:p>
                <a:pPr marL="615950" lvl="1" indent="0" algn="l">
                  <a:buNone/>
                </a:pPr>
                <a:endParaRPr lang="en-US" dirty="0"/>
              </a:p>
              <a:p>
                <a:pPr marL="615950" lvl="1" indent="0" algn="l">
                  <a:buNone/>
                </a:pPr>
                <a:endParaRPr lang="en-US" dirty="0"/>
              </a:p>
              <a:p>
                <a:pPr marL="615950" lvl="1" indent="0" algn="l">
                  <a:buNone/>
                </a:pPr>
                <a:endParaRPr lang="en-US" dirty="0"/>
              </a:p>
              <a:p>
                <a:pPr marL="158750" indent="0" algn="l">
                  <a:buNone/>
                </a:pPr>
                <a:endParaRPr lang="en-US" dirty="0"/>
              </a:p>
            </p:txBody>
          </p:sp>
        </mc:Fallback>
      </mc:AlternateContent>
    </p:spTree>
    <p:extLst>
      <p:ext uri="{BB962C8B-B14F-4D97-AF65-F5344CB8AC3E}">
        <p14:creationId xmlns:p14="http://schemas.microsoft.com/office/powerpoint/2010/main" val="2007520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Here are a couple other models that I’ve taken a look at.</a:t>
            </a:r>
          </a:p>
          <a:p>
            <a:pPr marL="158750" indent="0">
              <a:buNone/>
            </a:pPr>
            <a:endParaRPr lang="en-US" dirty="0"/>
          </a:p>
          <a:p>
            <a:pPr marL="158750" indent="0">
              <a:buNone/>
            </a:pPr>
            <a:r>
              <a:rPr lang="en-US" b="1" dirty="0"/>
              <a:t>Lai et al. 2023 — TSML (Time-Series Machine Learning)</a:t>
            </a:r>
          </a:p>
          <a:p>
            <a:pPr marL="158750" indent="0">
              <a:buNone/>
            </a:pPr>
            <a:r>
              <a:rPr lang="en-US" dirty="0"/>
              <a:t>Focuses on </a:t>
            </a:r>
            <a:r>
              <a:rPr lang="en-US" b="1" dirty="0"/>
              <a:t>predicting COVID-19 cases</a:t>
            </a:r>
            <a:r>
              <a:rPr lang="en-US" dirty="0"/>
              <a:t>, not hospitalizations.</a:t>
            </a:r>
          </a:p>
          <a:p>
            <a:pPr marL="158750" indent="0">
              <a:buNone/>
            </a:pPr>
            <a:r>
              <a:rPr lang="en-US" dirty="0"/>
              <a:t>Uses </a:t>
            </a:r>
            <a:r>
              <a:rPr lang="en-US" b="1" dirty="0"/>
              <a:t>wastewater viral concentrations</a:t>
            </a:r>
            <a:r>
              <a:rPr lang="en-US" dirty="0"/>
              <a:t> plus </a:t>
            </a:r>
            <a:r>
              <a:rPr lang="en-US" b="1" dirty="0"/>
              <a:t>environmental variables</a:t>
            </a:r>
            <a:r>
              <a:rPr lang="en-US" dirty="0"/>
              <a:t> like ambient temperature and water temperature.</a:t>
            </a:r>
          </a:p>
          <a:p>
            <a:pPr marL="158750" indent="0">
              <a:buNone/>
            </a:pPr>
            <a:r>
              <a:rPr lang="en-US" dirty="0"/>
              <a:t>Emphasizes </a:t>
            </a:r>
            <a:r>
              <a:rPr lang="en-US" b="1" dirty="0"/>
              <a:t>feature engineering</a:t>
            </a:r>
            <a:r>
              <a:rPr lang="en-US" dirty="0"/>
              <a:t> and structured temporal models.</a:t>
            </a:r>
          </a:p>
          <a:p>
            <a:pPr marL="158750" indent="0">
              <a:buNone/>
            </a:pPr>
            <a:r>
              <a:rPr lang="en-US" i="1" dirty="0"/>
              <a:t>Unique point:</a:t>
            </a:r>
            <a:r>
              <a:rPr lang="en-US" dirty="0"/>
              <a:t> Shows that </a:t>
            </a:r>
            <a:r>
              <a:rPr lang="en-US" b="1" dirty="0"/>
              <a:t>WBE can forecast case trends directly</a:t>
            </a:r>
            <a:r>
              <a:rPr lang="en-US" dirty="0"/>
              <a:t>, demonstrating strong performance even with noisy or imperfect case data.</a:t>
            </a:r>
          </a:p>
          <a:p>
            <a:pPr marL="158750" indent="0">
              <a:buNone/>
            </a:pPr>
            <a:endParaRPr lang="en-US" dirty="0"/>
          </a:p>
          <a:p>
            <a:pPr marL="158750" indent="0">
              <a:buNone/>
            </a:pPr>
            <a:r>
              <a:rPr lang="en-US" b="1" dirty="0"/>
              <a:t>Jiang et al. 2022 — ANN (Artificial Neural Network)</a:t>
            </a:r>
          </a:p>
          <a:p>
            <a:pPr marL="158750" indent="0">
              <a:buNone/>
            </a:pPr>
            <a:r>
              <a:rPr lang="en-US" dirty="0"/>
              <a:t>Predicts </a:t>
            </a:r>
            <a:r>
              <a:rPr lang="en-US" b="1" dirty="0"/>
              <a:t>cases and effective reproduction number (Rₑ)</a:t>
            </a:r>
            <a:r>
              <a:rPr lang="en-US" dirty="0"/>
              <a:t>.</a:t>
            </a:r>
          </a:p>
          <a:p>
            <a:pPr marL="158750" indent="0">
              <a:buNone/>
            </a:pPr>
            <a:r>
              <a:rPr lang="en-US" dirty="0"/>
              <a:t>Integrates </a:t>
            </a:r>
            <a:r>
              <a:rPr lang="en-US" b="1" dirty="0"/>
              <a:t>clinical case counts</a:t>
            </a:r>
            <a:r>
              <a:rPr lang="en-US" dirty="0"/>
              <a:t>, catchment characteristics, vaccination coverage, and weather data with wastewater data.</a:t>
            </a:r>
          </a:p>
          <a:p>
            <a:pPr marL="158750" indent="0">
              <a:buNone/>
            </a:pPr>
            <a:r>
              <a:rPr lang="en-US" dirty="0"/>
              <a:t>Uses a </a:t>
            </a:r>
            <a:r>
              <a:rPr lang="en-US" b="1" dirty="0"/>
              <a:t>neural network</a:t>
            </a:r>
            <a:r>
              <a:rPr lang="en-US" dirty="0"/>
              <a:t> to capture nonlinear relationships between WBE and community infections.</a:t>
            </a:r>
          </a:p>
          <a:p>
            <a:pPr marL="158750" indent="0">
              <a:buNone/>
            </a:pPr>
            <a:r>
              <a:rPr lang="en-US" i="1" dirty="0"/>
              <a:t>Unique point:</a:t>
            </a:r>
            <a:r>
              <a:rPr lang="en-US" dirty="0"/>
              <a:t> Strong </a:t>
            </a:r>
            <a:r>
              <a:rPr lang="en-US" b="1" dirty="0"/>
              <a:t>link between WBE and real infection dynamics</a:t>
            </a:r>
            <a:r>
              <a:rPr lang="en-US" dirty="0"/>
              <a:t>, showing wastewater can infer both prevalence and transmission (Rₑ).</a:t>
            </a:r>
          </a:p>
          <a:p>
            <a:pPr marL="158750" indent="0">
              <a:buNone/>
            </a:pPr>
            <a:endParaRPr lang="en-US" dirty="0"/>
          </a:p>
          <a:p>
            <a:pPr marL="158750" indent="0">
              <a:buNone/>
            </a:pPr>
            <a:r>
              <a:rPr lang="en-US" b="1" dirty="0"/>
              <a:t>Jeng et al. 2023 — Copula Time-Series Model</a:t>
            </a:r>
          </a:p>
          <a:p>
            <a:pPr marL="158750" indent="0">
              <a:buNone/>
            </a:pPr>
            <a:r>
              <a:rPr lang="en-US" dirty="0"/>
              <a:t>Predicts </a:t>
            </a:r>
            <a:r>
              <a:rPr lang="en-US" b="1" dirty="0"/>
              <a:t>cases, hospitalizations, and deaths</a:t>
            </a:r>
            <a:r>
              <a:rPr lang="en-US" dirty="0"/>
              <a:t> jointly.</a:t>
            </a:r>
          </a:p>
          <a:p>
            <a:pPr marL="158750" indent="0">
              <a:buNone/>
            </a:pPr>
            <a:r>
              <a:rPr lang="en-US" dirty="0"/>
              <a:t>Combines ARMA time-series with </a:t>
            </a:r>
            <a:r>
              <a:rPr lang="en-US" b="1" dirty="0"/>
              <a:t>copula modeling</a:t>
            </a:r>
            <a:r>
              <a:rPr lang="en-US" dirty="0"/>
              <a:t> to link multiple health indicators.</a:t>
            </a:r>
          </a:p>
          <a:p>
            <a:pPr marL="158750" indent="0">
              <a:buNone/>
            </a:pPr>
            <a:r>
              <a:rPr lang="en-US" dirty="0"/>
              <a:t>Uses </a:t>
            </a:r>
            <a:r>
              <a:rPr lang="en-US" b="1" dirty="0"/>
              <a:t>clinical case series</a:t>
            </a:r>
            <a:r>
              <a:rPr lang="en-US" dirty="0"/>
              <a:t> alongside wastewater data.</a:t>
            </a:r>
          </a:p>
          <a:p>
            <a:pPr marL="158750" indent="0">
              <a:buNone/>
            </a:pPr>
            <a:r>
              <a:rPr lang="en-US" i="1" dirty="0"/>
              <a:t>Unique point:</a:t>
            </a:r>
            <a:r>
              <a:rPr lang="en-US" dirty="0"/>
              <a:t> The </a:t>
            </a:r>
            <a:r>
              <a:rPr lang="en-US" b="1" dirty="0"/>
              <a:t>copula approach models relationships between multiple outcomes</a:t>
            </a:r>
            <a:r>
              <a:rPr lang="en-US" dirty="0"/>
              <a:t>, allowing “joint forecasting” of several indicators at once.</a:t>
            </a:r>
          </a:p>
          <a:p>
            <a:pPr marL="158750" indent="0">
              <a:buNone/>
            </a:pPr>
            <a:endParaRPr lang="en-US" dirty="0"/>
          </a:p>
          <a:p>
            <a:pPr marL="158750" indent="0">
              <a:buNone/>
            </a:pPr>
            <a:r>
              <a:rPr lang="en-US" b="1" dirty="0"/>
              <a:t>Rankin et al. 2025 — GAM (Generalized Additive Model)</a:t>
            </a:r>
          </a:p>
          <a:p>
            <a:pPr marL="158750" indent="0">
              <a:buNone/>
            </a:pPr>
            <a:r>
              <a:rPr lang="en-US" dirty="0"/>
              <a:t>Predicts </a:t>
            </a:r>
            <a:r>
              <a:rPr lang="en-US" b="1" dirty="0"/>
              <a:t>hospitalization categories</a:t>
            </a:r>
            <a:r>
              <a:rPr lang="en-US" dirty="0"/>
              <a:t> (risk level and trend).</a:t>
            </a:r>
          </a:p>
          <a:p>
            <a:pPr marL="158750" indent="0">
              <a:buNone/>
            </a:pPr>
            <a:r>
              <a:rPr lang="en-US" dirty="0"/>
              <a:t>Uses wastewater data plus </a:t>
            </a:r>
            <a:r>
              <a:rPr lang="en-US" b="1" dirty="0"/>
              <a:t>past infections, hospitalization trends, vaccination, CCVI</a:t>
            </a:r>
            <a:r>
              <a:rPr lang="en-US" dirty="0"/>
              <a:t>, and other epidemiological variables.</a:t>
            </a:r>
          </a:p>
          <a:p>
            <a:pPr marL="158750" indent="0">
              <a:buNone/>
            </a:pPr>
            <a:r>
              <a:rPr lang="en-US" dirty="0"/>
              <a:t>Produces </a:t>
            </a:r>
            <a:r>
              <a:rPr lang="en-US" b="1" dirty="0"/>
              <a:t>categorical forecasts</a:t>
            </a:r>
            <a:r>
              <a:rPr lang="en-US" dirty="0"/>
              <a:t> (risk “levels”) instead of continuous numbers.</a:t>
            </a:r>
          </a:p>
          <a:p>
            <a:pPr marL="158750" indent="0">
              <a:buNone/>
            </a:pPr>
            <a:r>
              <a:rPr lang="en-US" i="1" dirty="0"/>
              <a:t>Unique point:</a:t>
            </a:r>
            <a:r>
              <a:rPr lang="en-US" dirty="0"/>
              <a:t> Focuses on </a:t>
            </a:r>
            <a:r>
              <a:rPr lang="en-US" b="1" dirty="0"/>
              <a:t>health-system capacity</a:t>
            </a:r>
            <a:r>
              <a:rPr lang="en-US" dirty="0"/>
              <a:t>, decision-maker-oriented outlook, and emphasizes </a:t>
            </a:r>
            <a:r>
              <a:rPr lang="en-US" b="1" dirty="0"/>
              <a:t>population vulnerability</a:t>
            </a:r>
            <a:r>
              <a:rPr lang="en-US" dirty="0"/>
              <a:t>, not strictly environmental signals.</a:t>
            </a:r>
          </a:p>
          <a:p>
            <a:pPr marL="158750" indent="0">
              <a:buNone/>
            </a:pPr>
            <a:endParaRPr lang="en-US" dirty="0"/>
          </a:p>
        </p:txBody>
      </p:sp>
    </p:spTree>
    <p:extLst>
      <p:ext uri="{BB962C8B-B14F-4D97-AF65-F5344CB8AC3E}">
        <p14:creationId xmlns:p14="http://schemas.microsoft.com/office/powerpoint/2010/main" val="2700638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868B2688-E913-A091-F113-78C18981A7A8}"/>
            </a:ext>
          </a:extLst>
        </p:cNvPr>
        <p:cNvGrpSpPr/>
        <p:nvPr/>
      </p:nvGrpSpPr>
      <p:grpSpPr>
        <a:xfrm>
          <a:off x="0" y="0"/>
          <a:ext cx="0" cy="0"/>
          <a:chOff x="0" y="0"/>
          <a:chExt cx="0" cy="0"/>
        </a:xfrm>
      </p:grpSpPr>
      <p:sp>
        <p:nvSpPr>
          <p:cNvPr id="116" name="Google Shape;116;g34f6f6a9aa8_0_259:notes">
            <a:extLst>
              <a:ext uri="{FF2B5EF4-FFF2-40B4-BE49-F238E27FC236}">
                <a16:creationId xmlns:a16="http://schemas.microsoft.com/office/drawing/2014/main" id="{9EB4A14D-EDD0-03EA-4E19-74D6843AA9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So the plan so far…</a:t>
            </a:r>
          </a:p>
          <a:p>
            <a:pPr marL="0" lvl="0" indent="0" algn="l" rtl="0">
              <a:lnSpc>
                <a:spcPct val="100000"/>
              </a:lnSpc>
              <a:spcBef>
                <a:spcPts val="0"/>
              </a:spcBef>
              <a:spcAft>
                <a:spcPts val="0"/>
              </a:spcAft>
              <a:buSzPts val="1100"/>
              <a:buNone/>
            </a:pPr>
            <a:r>
              <a:rPr lang="en-US" dirty="0"/>
              <a:t>First step was to replicate li et </a:t>
            </a:r>
            <a:r>
              <a:rPr lang="en-US" dirty="0" err="1"/>
              <a:t>al’s</a:t>
            </a:r>
            <a:r>
              <a:rPr lang="en-US" dirty="0"/>
              <a:t> model.</a:t>
            </a:r>
          </a:p>
          <a:p>
            <a:pPr marL="0" lvl="0" indent="0" algn="l" rtl="0">
              <a:lnSpc>
                <a:spcPct val="100000"/>
              </a:lnSpc>
              <a:spcBef>
                <a:spcPts val="0"/>
              </a:spcBef>
              <a:spcAft>
                <a:spcPts val="0"/>
              </a:spcAft>
              <a:buSzPts val="1100"/>
              <a:buNone/>
            </a:pPr>
            <a:r>
              <a:rPr lang="en-US" dirty="0"/>
              <a:t>Main reason was to see if I could personally verify that this type of model does work.</a:t>
            </a:r>
          </a:p>
          <a:p>
            <a:pPr marL="0" lvl="0" indent="0" algn="l" rtl="0">
              <a:lnSpc>
                <a:spcPct val="100000"/>
              </a:lnSpc>
              <a:spcBef>
                <a:spcPts val="0"/>
              </a:spcBef>
              <a:spcAft>
                <a:spcPts val="0"/>
              </a:spcAft>
              <a:buSzPts val="1100"/>
              <a:buNone/>
            </a:pPr>
            <a:r>
              <a:rPr lang="en-US" dirty="0"/>
              <a:t>My goal was to get a MINIMAL version of li et </a:t>
            </a:r>
            <a:r>
              <a:rPr lang="en-US" dirty="0" err="1"/>
              <a:t>al’s</a:t>
            </a:r>
            <a:r>
              <a:rPr lang="en-US" dirty="0"/>
              <a:t> model working.</a:t>
            </a:r>
          </a:p>
          <a:p>
            <a:pPr marL="0" lvl="0" indent="0" algn="l" rtl="0">
              <a:lnSpc>
                <a:spcPct val="100000"/>
              </a:lnSpc>
              <a:spcBef>
                <a:spcPts val="0"/>
              </a:spcBef>
              <a:spcAft>
                <a:spcPts val="0"/>
              </a:spcAft>
              <a:buSzPts val="1100"/>
              <a:buNone/>
            </a:pPr>
            <a:r>
              <a:rPr lang="en-US" dirty="0"/>
              <a:t>As I was working on it, I encountered a couple issues.</a:t>
            </a:r>
          </a:p>
          <a:p>
            <a:pPr marL="0" lvl="0" indent="0" algn="l" rtl="0">
              <a:lnSpc>
                <a:spcPct val="100000"/>
              </a:lnSpc>
              <a:spcBef>
                <a:spcPts val="0"/>
              </a:spcBef>
              <a:spcAft>
                <a:spcPts val="0"/>
              </a:spcAft>
              <a:buSzPts val="1100"/>
              <a:buNone/>
            </a:pPr>
            <a:r>
              <a:rPr lang="en-US" dirty="0"/>
              <a:t>The minimal version used only three datasets, wastewater data, hospitalization data and population data. </a:t>
            </a:r>
          </a:p>
          <a:p>
            <a:pPr marL="0" lvl="0" indent="0" algn="l" rtl="0">
              <a:lnSpc>
                <a:spcPct val="100000"/>
              </a:lnSpc>
              <a:spcBef>
                <a:spcPts val="0"/>
              </a:spcBef>
              <a:spcAft>
                <a:spcPts val="0"/>
              </a:spcAft>
              <a:buSzPts val="1100"/>
              <a:buNone/>
            </a:pPr>
            <a:r>
              <a:rPr lang="en-US" dirty="0"/>
              <a:t>The main issue was that dataset used for wastewater data is private. Specifically from </a:t>
            </a:r>
            <a:r>
              <a:rPr lang="en-US" dirty="0" err="1"/>
              <a:t>Biobot</a:t>
            </a:r>
            <a:r>
              <a:rPr lang="en-US" dirty="0"/>
              <a:t>.</a:t>
            </a:r>
          </a:p>
          <a:p>
            <a:pPr marL="0" lvl="0" indent="0" algn="l" rtl="0">
              <a:lnSpc>
                <a:spcPct val="100000"/>
              </a:lnSpc>
              <a:spcBef>
                <a:spcPts val="0"/>
              </a:spcBef>
              <a:spcAft>
                <a:spcPts val="0"/>
              </a:spcAft>
              <a:buSzPts val="1100"/>
              <a:buNone/>
            </a:pPr>
            <a:r>
              <a:rPr lang="en-US" dirty="0"/>
              <a:t>It happened that they were one of the providers which provided data to </a:t>
            </a:r>
            <a:r>
              <a:rPr lang="en-US" dirty="0" err="1"/>
              <a:t>cdc_nwss</a:t>
            </a:r>
            <a:r>
              <a:rPr lang="en-US" dirty="0"/>
              <a:t>.</a:t>
            </a:r>
          </a:p>
          <a:p>
            <a:pPr marL="0" lvl="0" indent="0" algn="l" rtl="0">
              <a:lnSpc>
                <a:spcPct val="100000"/>
              </a:lnSpc>
              <a:spcBef>
                <a:spcPts val="0"/>
              </a:spcBef>
              <a:spcAft>
                <a:spcPts val="0"/>
              </a:spcAft>
              <a:buSzPts val="1100"/>
              <a:buNone/>
            </a:pPr>
            <a:r>
              <a:rPr lang="en-US" dirty="0"/>
              <a:t>Since </a:t>
            </a:r>
            <a:r>
              <a:rPr lang="en-US" dirty="0" err="1"/>
              <a:t>cdc_nwss</a:t>
            </a:r>
            <a:r>
              <a:rPr lang="en-US" dirty="0"/>
              <a:t> is a nosier, bigger dataset than </a:t>
            </a:r>
            <a:r>
              <a:rPr lang="en-US" dirty="0" err="1"/>
              <a:t>biobot</a:t>
            </a:r>
            <a:r>
              <a:rPr lang="en-US" dirty="0"/>
              <a:t>, I found </a:t>
            </a:r>
            <a:r>
              <a:rPr lang="en-US" dirty="0" err="1"/>
              <a:t>cdc_nwss</a:t>
            </a:r>
            <a:r>
              <a:rPr lang="en-US" dirty="0"/>
              <a:t> a suitable replacement.</a:t>
            </a:r>
          </a:p>
          <a:p>
            <a:pPr marL="0" lvl="0" indent="0" algn="l" rtl="0">
              <a:lnSpc>
                <a:spcPct val="100000"/>
              </a:lnSpc>
              <a:spcBef>
                <a:spcPts val="0"/>
              </a:spcBef>
              <a:spcAft>
                <a:spcPts val="0"/>
              </a:spcAft>
              <a:buSzPts val="1100"/>
              <a:buNone/>
            </a:pPr>
            <a:r>
              <a:rPr lang="en-US" dirty="0"/>
              <a:t>The results was fairly close to the li et al model.</a:t>
            </a:r>
          </a:p>
          <a:p>
            <a:pPr marL="0" lvl="0" indent="0" algn="l" rtl="0">
              <a:lnSpc>
                <a:spcPct val="100000"/>
              </a:lnSpc>
              <a:spcBef>
                <a:spcPts val="0"/>
              </a:spcBef>
              <a:spcAft>
                <a:spcPts val="0"/>
              </a:spcAft>
              <a:buSzPts val="1100"/>
              <a:buNone/>
            </a:pPr>
            <a:r>
              <a:rPr lang="en-US" dirty="0"/>
              <a:t>So let’s take a look at the results.</a:t>
            </a:r>
          </a:p>
          <a:p>
            <a:pPr marL="0" lvl="0" indent="0" algn="l" rtl="0">
              <a:lnSpc>
                <a:spcPct val="100000"/>
              </a:lnSpc>
              <a:spcBef>
                <a:spcPts val="0"/>
              </a:spcBef>
              <a:spcAft>
                <a:spcPts val="0"/>
              </a:spcAft>
              <a:buSzPts val="1100"/>
              <a:buNone/>
            </a:pPr>
            <a:endParaRPr lang="en-US" dirty="0"/>
          </a:p>
        </p:txBody>
      </p:sp>
      <p:sp>
        <p:nvSpPr>
          <p:cNvPr id="117" name="Google Shape;117;g34f6f6a9aa8_0_259:notes">
            <a:extLst>
              <a:ext uri="{FF2B5EF4-FFF2-40B4-BE49-F238E27FC236}">
                <a16:creationId xmlns:a16="http://schemas.microsoft.com/office/drawing/2014/main" id="{7A74BD41-DAA0-5836-A244-6D5C61CB71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7648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Since I didn’t use the same cleaned dataset from </a:t>
            </a:r>
            <a:r>
              <a:rPr lang="en-US" dirty="0" err="1"/>
              <a:t>biobot</a:t>
            </a:r>
            <a:r>
              <a:rPr lang="en-US" dirty="0"/>
              <a:t>.</a:t>
            </a:r>
          </a:p>
          <a:p>
            <a:pPr marL="158750" indent="0">
              <a:buNone/>
            </a:pPr>
            <a:r>
              <a:rPr lang="en-US" dirty="0"/>
              <a:t>I opted to use a different timeframe, with cleaner and more valid data and tested my model with HHS data 6 months after the training data.</a:t>
            </a:r>
          </a:p>
          <a:p>
            <a:pPr marL="158750" indent="0">
              <a:buNone/>
            </a:pPr>
            <a:r>
              <a:rPr lang="en-US" dirty="0"/>
              <a:t>My replicated model actually fell within the ranges of the li et al model.</a:t>
            </a:r>
          </a:p>
          <a:p>
            <a:pPr marL="158750" indent="0">
              <a:buNone/>
            </a:pPr>
            <a:endParaRPr lang="en-US" dirty="0"/>
          </a:p>
          <a:p>
            <a:pPr marL="158750" indent="0">
              <a:buNone/>
            </a:pPr>
            <a:r>
              <a:rPr lang="en-US" dirty="0"/>
              <a:t>So, what this showed me, was that I personally could do this and that this kind of model is fairly simple to set up.</a:t>
            </a:r>
          </a:p>
          <a:p>
            <a:pPr marL="158750" indent="0">
              <a:buNone/>
            </a:pPr>
            <a:r>
              <a:rPr lang="en-US" dirty="0"/>
              <a:t>This leads to me thinking, if a simple model which is just random forest here, could do so much.</a:t>
            </a:r>
          </a:p>
          <a:p>
            <a:pPr marL="158750" indent="0">
              <a:buNone/>
            </a:pPr>
            <a:r>
              <a:rPr lang="en-US" dirty="0"/>
              <a:t>Then why aren’t we leveraging better, more powerful ML techniques we have now?</a:t>
            </a:r>
          </a:p>
          <a:p>
            <a:pPr marL="158750" indent="0">
              <a:buNone/>
            </a:pPr>
            <a:r>
              <a:rPr lang="en-US" dirty="0"/>
              <a:t>The next slide shows some limitations of the hierarchical model that I can see and why I think meta-learning is the solution.</a:t>
            </a:r>
          </a:p>
        </p:txBody>
      </p:sp>
    </p:spTree>
    <p:extLst>
      <p:ext uri="{BB962C8B-B14F-4D97-AF65-F5344CB8AC3E}">
        <p14:creationId xmlns:p14="http://schemas.microsoft.com/office/powerpoint/2010/main" val="2442583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4f6f6a9aa8_0_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71450" lvl="0" indent="-171450" algn="l" rtl="0">
              <a:lnSpc>
                <a:spcPct val="100000"/>
              </a:lnSpc>
              <a:spcBef>
                <a:spcPts val="0"/>
              </a:spcBef>
              <a:spcAft>
                <a:spcPts val="0"/>
              </a:spcAft>
              <a:buSzPts val="1100"/>
              <a:buFontTx/>
              <a:buChar char="-"/>
            </a:pPr>
            <a:r>
              <a:rPr lang="en-US" dirty="0"/>
              <a:t>So why meta-learning?</a:t>
            </a:r>
          </a:p>
          <a:p>
            <a:pPr marL="171450" lvl="0" indent="-171450" algn="l" rtl="0">
              <a:lnSpc>
                <a:spcPct val="100000"/>
              </a:lnSpc>
              <a:spcBef>
                <a:spcPts val="0"/>
              </a:spcBef>
              <a:spcAft>
                <a:spcPts val="0"/>
              </a:spcAft>
              <a:buSzPts val="1100"/>
              <a:buFontTx/>
              <a:buChar char="-"/>
            </a:pPr>
            <a:r>
              <a:rPr lang="en-US" dirty="0"/>
              <a:t>I’ve come up with this table here to show the pros AND cons of meta learning VS the hierarchical models being used now</a:t>
            </a:r>
          </a:p>
          <a:p>
            <a:pPr marL="171450" lvl="0" indent="-171450" algn="l" rtl="0">
              <a:lnSpc>
                <a:spcPct val="100000"/>
              </a:lnSpc>
              <a:spcBef>
                <a:spcPts val="0"/>
              </a:spcBef>
              <a:spcAft>
                <a:spcPts val="0"/>
              </a:spcAft>
              <a:buSzPts val="1100"/>
              <a:buFontTx/>
              <a:buChar char="-"/>
            </a:pPr>
            <a:r>
              <a:rPr lang="en-US" dirty="0"/>
              <a:t>[Go over each row and be prepared to answer any questions he might have about them]</a:t>
            </a:r>
          </a:p>
          <a:p>
            <a:r>
              <a:rPr lang="en-US" b="1" dirty="0"/>
              <a:t>Likely Conceptual Questions</a:t>
            </a:r>
          </a:p>
          <a:p>
            <a:r>
              <a:rPr lang="en-US" b="1" dirty="0"/>
              <a:t>“What exactly are you predicting — viral load or infection prevalence?”</a:t>
            </a:r>
            <a:br>
              <a:rPr lang="en-US" dirty="0"/>
            </a:br>
            <a:r>
              <a:rPr lang="en-US" dirty="0"/>
              <a:t>He may want clarity on what the model’s </a:t>
            </a:r>
            <a:r>
              <a:rPr lang="en-US" i="1" dirty="0"/>
              <a:t>output variable</a:t>
            </a:r>
            <a:r>
              <a:rPr lang="en-US" dirty="0"/>
              <a:t> represents biologically.</a:t>
            </a:r>
            <a:br>
              <a:rPr lang="en-US" dirty="0"/>
            </a:br>
            <a:r>
              <a:rPr lang="en-US" dirty="0"/>
              <a:t>→ You should say the goal is to predict </a:t>
            </a:r>
            <a:r>
              <a:rPr lang="en-US" i="1" dirty="0"/>
              <a:t>COVID-19 prevalence</a:t>
            </a:r>
            <a:r>
              <a:rPr lang="en-US" dirty="0"/>
              <a:t> (e.g., estimated infection rate or number of infected individuals) based on wastewater viral concentration and related covariates.</a:t>
            </a:r>
          </a:p>
          <a:p>
            <a:r>
              <a:rPr lang="en-US" b="1" dirty="0"/>
              <a:t>“How does the model handle biological variability in wastewater samples?”</a:t>
            </a:r>
            <a:br>
              <a:rPr lang="en-US" dirty="0"/>
            </a:br>
            <a:r>
              <a:rPr lang="en-US" dirty="0"/>
              <a:t>He may worry about differences in viral shedding, temperature, or sampling frequency.</a:t>
            </a:r>
            <a:br>
              <a:rPr lang="en-US" dirty="0"/>
            </a:br>
            <a:r>
              <a:rPr lang="en-US" dirty="0"/>
              <a:t>→ Explain that preprocessing normalizes viral load (e.g., by </a:t>
            </a:r>
            <a:r>
              <a:rPr lang="en-US" dirty="0" err="1"/>
              <a:t>PMMoV</a:t>
            </a:r>
            <a:r>
              <a:rPr lang="en-US" dirty="0"/>
              <a:t> or flow rate) so the model sees comparable inputs across regions.</a:t>
            </a:r>
          </a:p>
          <a:p>
            <a:r>
              <a:rPr lang="en-US" b="1" dirty="0"/>
              <a:t>“Why do you need meta-learning for this instead of a simpler regression or hierarchical model?”</a:t>
            </a:r>
            <a:br>
              <a:rPr lang="en-US" dirty="0"/>
            </a:br>
            <a:r>
              <a:rPr lang="en-US" dirty="0"/>
              <a:t>He might prefer interpretable or classical models.</a:t>
            </a:r>
            <a:br>
              <a:rPr lang="en-US" dirty="0"/>
            </a:br>
            <a:r>
              <a:rPr lang="en-US" dirty="0"/>
              <a:t>→ Say that meta-learning allows rapid adaptation when new counties lack long historical data, something hierarchical models can’t handle well.</a:t>
            </a:r>
          </a:p>
          <a:p>
            <a:r>
              <a:rPr lang="en-US" b="1" dirty="0"/>
              <a:t>“What does ‘few-shot’ or ‘fine-tuning’ mean in biological terms?”</a:t>
            </a:r>
            <a:br>
              <a:rPr lang="en-US" dirty="0"/>
            </a:br>
            <a:r>
              <a:rPr lang="en-US" dirty="0"/>
              <a:t>→ Translate: it means you can build a usable model for a new county with only a few weeks of wastewater and case data.</a:t>
            </a:r>
          </a:p>
          <a:p>
            <a:r>
              <a:rPr lang="en-US" b="1" dirty="0"/>
              <a:t>“How much data diversity do you need initially for meta-training?”</a:t>
            </a:r>
            <a:br>
              <a:rPr lang="en-US" dirty="0"/>
            </a:br>
            <a:r>
              <a:rPr lang="en-US" dirty="0"/>
              <a:t>→ Clarify that you still need data from many regions with varied characteristics to learn generalizable patterns.</a:t>
            </a:r>
          </a:p>
          <a:p>
            <a:r>
              <a:rPr lang="en-US" b="1" dirty="0"/>
              <a:t>Likely Technical Skepticism</a:t>
            </a:r>
          </a:p>
          <a:p>
            <a:r>
              <a:rPr lang="en-US" b="1" dirty="0"/>
              <a:t>“How do you know the model isn’t just overfitting to specific regions?”</a:t>
            </a:r>
            <a:br>
              <a:rPr lang="en-US" dirty="0"/>
            </a:br>
            <a:r>
              <a:rPr lang="en-US" dirty="0"/>
              <a:t>→ Explain that meta-learning explicitly separates training (meta-train) and testing (meta-test) on different counties to measure generalization.</a:t>
            </a:r>
          </a:p>
          <a:p>
            <a:r>
              <a:rPr lang="en-US" b="1" dirty="0"/>
              <a:t>“What do you mean by the model being opaque?”</a:t>
            </a:r>
            <a:br>
              <a:rPr lang="en-US" dirty="0"/>
            </a:br>
            <a:r>
              <a:rPr lang="en-US" dirty="0"/>
              <a:t>→ State that meta-learning uses deep representations rather than explicit coefficients, so interpretability methods (e.g., SHAP, feature attribution) are needed.</a:t>
            </a:r>
          </a:p>
          <a:p>
            <a:r>
              <a:rPr lang="en-US" b="1" dirty="0"/>
              <a:t>“If it’s complex to maintain, is it practical for public health use?”</a:t>
            </a:r>
            <a:br>
              <a:rPr lang="en-US" dirty="0"/>
            </a:br>
            <a:r>
              <a:rPr lang="en-US" dirty="0"/>
              <a:t>→ Acknowledge that while the pipeline is complex, deployment can be automated and still faster than retraining hierarchical models.</a:t>
            </a:r>
          </a:p>
          <a:p>
            <a:r>
              <a:rPr lang="en-US" b="1" dirty="0"/>
              <a:t>“What kind of biological signals go into the model?”</a:t>
            </a:r>
            <a:br>
              <a:rPr lang="en-US" dirty="0"/>
            </a:br>
            <a:r>
              <a:rPr lang="en-US" dirty="0"/>
              <a:t>→ Mention viral concentration (N1/N2), flow rate, population normalization, temperature, and possibly demographic or mobility covariates.</a:t>
            </a:r>
          </a:p>
          <a:p>
            <a:r>
              <a:rPr lang="en-US" b="1" dirty="0"/>
              <a:t>“How do you validate that the predictions match actual infection levels?”</a:t>
            </a:r>
            <a:br>
              <a:rPr lang="en-US" dirty="0"/>
            </a:br>
            <a:r>
              <a:rPr lang="en-US" dirty="0"/>
              <a:t>→ Explain that ground truth comes from clinical case or hospitalization data; you use temporal alignment and metrics like RMSE or correlation to evaluate accuracy.</a:t>
            </a:r>
          </a:p>
        </p:txBody>
      </p:sp>
      <p:sp>
        <p:nvSpPr>
          <p:cNvPr id="111" name="Google Shape;111;g34f6f6a9aa8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So rather than a fancy </a:t>
            </a:r>
            <a:r>
              <a:rPr lang="en-US" dirty="0" err="1"/>
              <a:t>dancy</a:t>
            </a:r>
            <a:r>
              <a:rPr lang="en-US" dirty="0"/>
              <a:t> MAML model, which is what one would consider the main method in the spotlight of meta learning.</a:t>
            </a:r>
          </a:p>
          <a:p>
            <a:pPr marL="158750" indent="0">
              <a:buNone/>
            </a:pPr>
            <a:r>
              <a:rPr lang="en-US" dirty="0"/>
              <a:t>I am actually planning on using a simple multi-task hierarchical shared model.</a:t>
            </a:r>
          </a:p>
          <a:p>
            <a:pPr marL="158750" indent="0">
              <a:buNone/>
            </a:pPr>
            <a:endParaRPr lang="en-US" dirty="0"/>
          </a:p>
          <a:p>
            <a:pPr marL="158750" indent="0">
              <a:buNone/>
            </a:pPr>
            <a:r>
              <a:rPr lang="en-US" dirty="0"/>
              <a:t>This means that while using essentially the same structure in the hierarchical models that I’ve been looking at.</a:t>
            </a:r>
          </a:p>
          <a:p>
            <a:pPr marL="158750" indent="0">
              <a:buNone/>
            </a:pPr>
            <a:r>
              <a:rPr lang="en-US" dirty="0"/>
              <a:t>I add meta learning to this by creating shared encoders, task embeddings and adapter layers.</a:t>
            </a:r>
          </a:p>
          <a:p>
            <a:pPr marL="158750" indent="0">
              <a:buNone/>
            </a:pPr>
            <a:endParaRPr lang="en-US" dirty="0"/>
          </a:p>
          <a:p>
            <a:pPr marL="158750" indent="0">
              <a:buNone/>
            </a:pPr>
            <a:r>
              <a:rPr lang="en-US" dirty="0"/>
              <a:t>Boiling down this model, it would look like this.</a:t>
            </a:r>
          </a:p>
          <a:p>
            <a:pPr marL="158750" indent="0">
              <a:buNone/>
            </a:pPr>
            <a:r>
              <a:rPr lang="en-US" dirty="0"/>
              <a:t>The model would read, for each county, the same data that we feed into models like li et al.</a:t>
            </a:r>
          </a:p>
          <a:p>
            <a:pPr marL="158750" indent="0">
              <a:buNone/>
            </a:pPr>
            <a:r>
              <a:rPr lang="en-US" dirty="0"/>
              <a:t>That data would be fed into a shared encoder, this encoder creates a compact summary vector that is basically all the extracted features.</a:t>
            </a:r>
          </a:p>
          <a:p>
            <a:pPr marL="158750" indent="0">
              <a:buNone/>
            </a:pPr>
            <a:r>
              <a:rPr lang="en-US" dirty="0"/>
              <a:t>I could implement this in a number of ways, like a LSTM, Convolutional Network, etc.</a:t>
            </a:r>
          </a:p>
          <a:p>
            <a:pPr marL="158750" indent="0">
              <a:buNone/>
            </a:pPr>
            <a:r>
              <a:rPr lang="en-US" dirty="0"/>
              <a:t>One key thing for meta-learning is that each county will use the same encoder with the same weights.</a:t>
            </a:r>
          </a:p>
          <a:p>
            <a:pPr marL="158750" indent="0">
              <a:buNone/>
            </a:pPr>
            <a:r>
              <a:rPr lang="en-US" dirty="0"/>
              <a:t>Next, each county gets a small vector, which we can call a county embedding, that contains specific information about that county.</a:t>
            </a:r>
          </a:p>
          <a:p>
            <a:pPr marL="158750" indent="0">
              <a:buNone/>
            </a:pPr>
            <a:r>
              <a:rPr lang="en-US" dirty="0"/>
              <a:t>We feed these two, the encoder and embeddings to the prediction layer for our output.</a:t>
            </a:r>
          </a:p>
          <a:p>
            <a:pPr marL="158750" indent="0">
              <a:buNone/>
            </a:pPr>
            <a:r>
              <a:rPr lang="en-US" dirty="0"/>
              <a:t>Fairly simple, not too many points of failure and very </a:t>
            </a:r>
          </a:p>
        </p:txBody>
      </p:sp>
    </p:spTree>
    <p:extLst>
      <p:ext uri="{BB962C8B-B14F-4D97-AF65-F5344CB8AC3E}">
        <p14:creationId xmlns:p14="http://schemas.microsoft.com/office/powerpoint/2010/main" val="3894952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1299986D-D384-F307-36F6-98554FEF341F}"/>
            </a:ext>
          </a:extLst>
        </p:cNvPr>
        <p:cNvGrpSpPr/>
        <p:nvPr/>
      </p:nvGrpSpPr>
      <p:grpSpPr>
        <a:xfrm>
          <a:off x="0" y="0"/>
          <a:ext cx="0" cy="0"/>
          <a:chOff x="0" y="0"/>
          <a:chExt cx="0" cy="0"/>
        </a:xfrm>
      </p:grpSpPr>
      <p:sp>
        <p:nvSpPr>
          <p:cNvPr id="116" name="Google Shape;116;g34f6f6a9aa8_0_259:notes">
            <a:extLst>
              <a:ext uri="{FF2B5EF4-FFF2-40B4-BE49-F238E27FC236}">
                <a16:creationId xmlns:a16="http://schemas.microsoft.com/office/drawing/2014/main" id="{E955B2E9-DB3D-1EBA-5439-FFFDCA9C82B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I feel like looking into CL after working on this research is a valid path forward.</a:t>
            </a:r>
            <a:endParaRPr dirty="0"/>
          </a:p>
        </p:txBody>
      </p:sp>
      <p:sp>
        <p:nvSpPr>
          <p:cNvPr id="117" name="Google Shape;117;g34f6f6a9aa8_0_259:notes">
            <a:extLst>
              <a:ext uri="{FF2B5EF4-FFF2-40B4-BE49-F238E27FC236}">
                <a16:creationId xmlns:a16="http://schemas.microsoft.com/office/drawing/2014/main" id="{451CDD28-30A0-9E25-B246-C951CB2223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20247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4f6f6a9aa8_0_1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g34f6f6a9aa8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4"/>
        <p:cNvGrpSpPr/>
        <p:nvPr/>
      </p:nvGrpSpPr>
      <p:grpSpPr>
        <a:xfrm>
          <a:off x="0" y="0"/>
          <a:ext cx="0" cy="0"/>
          <a:chOff x="0" y="0"/>
          <a:chExt cx="0" cy="0"/>
        </a:xfrm>
      </p:grpSpPr>
      <p:sp>
        <p:nvSpPr>
          <p:cNvPr id="15" name="Google Shape;15;p11"/>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11"/>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11"/>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1"/>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19" name="Google Shape;19;p1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22" name="Google Shape;22;p11"/>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1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2"/>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6" name="Google Shape;26;p1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29"/>
        <p:cNvGrpSpPr/>
        <p:nvPr/>
      </p:nvGrpSpPr>
      <p:grpSpPr>
        <a:xfrm>
          <a:off x="0" y="0"/>
          <a:ext cx="0" cy="0"/>
          <a:chOff x="0" y="0"/>
          <a:chExt cx="0" cy="0"/>
        </a:xfrm>
      </p:grpSpPr>
      <p:sp>
        <p:nvSpPr>
          <p:cNvPr id="30" name="Google Shape;30;p13"/>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13"/>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13"/>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3"/>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34" name="Google Shape;34;p1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37" name="Google Shape;37;p13"/>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1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4"/>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1" name="Google Shape;41;p14"/>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2" name="Google Shape;42;p1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1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5"/>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48" name="Google Shape;48;p15"/>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9" name="Google Shape;49;p15"/>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0" name="Google Shape;50;p15"/>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1" name="Google Shape;51;p1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1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9"/>
        <p:cNvGrpSpPr/>
        <p:nvPr/>
      </p:nvGrpSpPr>
      <p:grpSpPr>
        <a:xfrm>
          <a:off x="0" y="0"/>
          <a:ext cx="0" cy="0"/>
          <a:chOff x="0" y="0"/>
          <a:chExt cx="0" cy="0"/>
        </a:xfrm>
      </p:grpSpPr>
      <p:sp>
        <p:nvSpPr>
          <p:cNvPr id="60" name="Google Shape;60;p17"/>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7"/>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1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5"/>
        <p:cNvGrpSpPr/>
        <p:nvPr/>
      </p:nvGrpSpPr>
      <p:grpSpPr>
        <a:xfrm>
          <a:off x="0" y="0"/>
          <a:ext cx="0" cy="0"/>
          <a:chOff x="0" y="0"/>
          <a:chExt cx="0" cy="0"/>
        </a:xfrm>
      </p:grpSpPr>
      <p:sp>
        <p:nvSpPr>
          <p:cNvPr id="66" name="Google Shape;66;p18"/>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18"/>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18"/>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8"/>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0" name="Google Shape;70;p18"/>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1" name="Google Shape;71;p18"/>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8"/>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4"/>
        <p:cNvGrpSpPr/>
        <p:nvPr/>
      </p:nvGrpSpPr>
      <p:grpSpPr>
        <a:xfrm>
          <a:off x="0" y="0"/>
          <a:ext cx="0" cy="0"/>
          <a:chOff x="0" y="0"/>
          <a:chExt cx="0" cy="0"/>
        </a:xfrm>
      </p:grpSpPr>
      <p:sp>
        <p:nvSpPr>
          <p:cNvPr id="75" name="Google Shape;75;p19"/>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9"/>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9"/>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9"/>
          <p:cNvSpPr>
            <a:spLocks noGrp="1"/>
          </p:cNvSpPr>
          <p:nvPr>
            <p:ph type="pic" idx="2"/>
          </p:nvPr>
        </p:nvSpPr>
        <p:spPr>
          <a:xfrm>
            <a:off x="15" y="0"/>
            <a:ext cx="12191985" cy="4915076"/>
          </a:xfrm>
          <a:prstGeom prst="rect">
            <a:avLst/>
          </a:prstGeom>
          <a:noFill/>
          <a:ln>
            <a:noFill/>
          </a:ln>
        </p:spPr>
      </p:sp>
      <p:sp>
        <p:nvSpPr>
          <p:cNvPr id="79" name="Google Shape;79;p19"/>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0" name="Google Shape;80;p1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3"/>
        <p:cNvGrpSpPr/>
        <p:nvPr/>
      </p:nvGrpSpPr>
      <p:grpSpPr>
        <a:xfrm>
          <a:off x="0" y="0"/>
          <a:ext cx="0" cy="0"/>
          <a:chOff x="0" y="0"/>
          <a:chExt cx="0" cy="0"/>
        </a:xfrm>
      </p:grpSpPr>
      <p:sp>
        <p:nvSpPr>
          <p:cNvPr id="84" name="Google Shape;84;p2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0"/>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6" name="Google Shape;86;p2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21"/>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21"/>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21"/>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1"/>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4" name="Google Shape;94;p2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2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2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Google Shape;7;p10"/>
          <p:cNvSpPr/>
          <p:nvPr/>
        </p:nvSpPr>
        <p:spPr>
          <a:xfrm>
            <a:off x="0" y="6334316"/>
            <a:ext cx="12192001" cy="659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 name="Google Shape;8;p1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10"/>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0" name="Google Shape;10;p1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1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1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3" name="Google Shape;13;p10"/>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doi.org/10.1371/journal.pone.0277154" TargetMode="External"/><Relationship Id="rId3" Type="http://schemas.openxmlformats.org/officeDocument/2006/relationships/hyperlink" Target="https://doi.org/10.1016/j.watres.2022.118451S0043135422004055" TargetMode="External"/><Relationship Id="rId7" Type="http://schemas.openxmlformats.org/officeDocument/2006/relationships/hyperlink" Target="https://doi.org/10.1016/j.coesh.2023.100458"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doi.org/10.1016/j.scitotenv.2023.163655" TargetMode="External"/><Relationship Id="rId5" Type="http://schemas.openxmlformats.org/officeDocument/2006/relationships/hyperlink" Target="https://doi.org/10.1016/j.scitotenv.2024.178172S004896972408330X" TargetMode="External"/><Relationship Id="rId4" Type="http://schemas.openxmlformats.org/officeDocument/2006/relationships/hyperlink" Target="https://doi.org/10.1016/j.scitotenv.2023.165105S0048969723037282" TargetMode="External"/><Relationship Id="rId9" Type="http://schemas.openxmlformats.org/officeDocument/2006/relationships/hyperlink" Target="https://doi.org/10.1038/s41467-023-40305-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ctrTitle"/>
          </p:nvPr>
        </p:nvSpPr>
        <p:spPr>
          <a:xfrm>
            <a:off x="0" y="1143000"/>
            <a:ext cx="12192000" cy="2286000"/>
          </a:xfrm>
          <a:prstGeom prst="rect">
            <a:avLst/>
          </a:prstGeom>
          <a:noFill/>
          <a:ln>
            <a:noFill/>
          </a:ln>
        </p:spPr>
        <p:txBody>
          <a:bodyPr spcFirstLastPara="1" wrap="square" lIns="91425" tIns="45700" rIns="91425" bIns="45700" anchor="ctr" anchorCtr="0">
            <a:noAutofit/>
          </a:bodyPr>
          <a:lstStyle/>
          <a:p>
            <a:pPr lvl="0" algn="ctr">
              <a:buSzPts val="5400"/>
            </a:pPr>
            <a:r>
              <a:rPr lang="en-US" sz="5400" b="1" dirty="0"/>
              <a:t>IFML</a:t>
            </a:r>
            <a:br>
              <a:rPr lang="en-US" sz="5400" b="1" dirty="0"/>
            </a:br>
            <a:r>
              <a:rPr lang="en-US" sz="5400" b="1" dirty="0"/>
              <a:t>Research Idea Presentation</a:t>
            </a:r>
            <a:br>
              <a:rPr lang="en-US" sz="5400" b="1" dirty="0"/>
            </a:br>
            <a:br>
              <a:rPr lang="en-US" sz="5400" b="1" dirty="0"/>
            </a:br>
            <a:r>
              <a:rPr lang="en-US" sz="4000" dirty="0"/>
              <a:t>Meta-Learning for County-Level COVID-19 Prevalence Prediction from Wastewater Surveillance Data</a:t>
            </a:r>
            <a:endParaRPr sz="5400" b="1" dirty="0"/>
          </a:p>
        </p:txBody>
      </p:sp>
      <p:sp>
        <p:nvSpPr>
          <p:cNvPr id="102" name="Google Shape;102;p1"/>
          <p:cNvSpPr txBox="1">
            <a:spLocks noGrp="1"/>
          </p:cNvSpPr>
          <p:nvPr>
            <p:ph type="subTitle" idx="1"/>
          </p:nvPr>
        </p:nvSpPr>
        <p:spPr>
          <a:xfrm>
            <a:off x="1066800" y="4005816"/>
            <a:ext cx="10058400" cy="1143000"/>
          </a:xfrm>
          <a:prstGeom prst="rect">
            <a:avLst/>
          </a:prstGeom>
          <a:noFill/>
          <a:ln>
            <a:noFill/>
          </a:ln>
        </p:spPr>
        <p:txBody>
          <a:bodyPr spcFirstLastPara="1" wrap="square" lIns="91425" tIns="45700" rIns="91425" bIns="45700" anchor="t" anchorCtr="0">
            <a:normAutofit fontScale="92500" lnSpcReduction="20000"/>
          </a:bodyPr>
          <a:lstStyle/>
          <a:p>
            <a:pPr marL="0" lvl="0" indent="0" algn="ctr" rtl="0">
              <a:lnSpc>
                <a:spcPct val="90000"/>
              </a:lnSpc>
              <a:spcBef>
                <a:spcPts val="0"/>
              </a:spcBef>
              <a:spcAft>
                <a:spcPts val="0"/>
              </a:spcAft>
              <a:buSzPct val="100000"/>
              <a:buNone/>
            </a:pPr>
            <a:r>
              <a:rPr lang="en-US" sz="3200" b="1" i="0" u="none" strike="noStrike" cap="none" dirty="0">
                <a:solidFill>
                  <a:srgbClr val="262626"/>
                </a:solidFill>
                <a:latin typeface="Calibri"/>
                <a:ea typeface="Calibri"/>
                <a:cs typeface="Calibri"/>
                <a:sym typeface="Calibri"/>
              </a:rPr>
              <a:t>Eric Kim</a:t>
            </a:r>
            <a:endParaRPr dirty="0"/>
          </a:p>
          <a:p>
            <a:pPr marL="0" marR="0" lvl="0" indent="0" algn="ctr" rtl="0">
              <a:lnSpc>
                <a:spcPct val="90000"/>
              </a:lnSpc>
              <a:spcBef>
                <a:spcPts val="200"/>
              </a:spcBef>
              <a:spcAft>
                <a:spcPts val="0"/>
              </a:spcAft>
              <a:buClr>
                <a:srgbClr val="000000"/>
              </a:buClr>
              <a:buSzPct val="100000"/>
              <a:buFont typeface="Arial"/>
              <a:buNone/>
            </a:pPr>
            <a:r>
              <a:rPr lang="en-US" sz="1687" b="0" i="0" u="none" strike="noStrike" cap="none" dirty="0">
                <a:solidFill>
                  <a:srgbClr val="000000"/>
                </a:solidFill>
                <a:latin typeface="Calibri"/>
                <a:ea typeface="Calibri"/>
                <a:cs typeface="Calibri"/>
                <a:sym typeface="Calibri"/>
              </a:rPr>
              <a:t>Embedded Machine Intelligence Lab (EMIL)</a:t>
            </a:r>
            <a:endParaRPr dirty="0"/>
          </a:p>
          <a:p>
            <a:pPr marL="0" marR="0" lvl="0" indent="0" algn="ctr" rtl="0">
              <a:lnSpc>
                <a:spcPct val="90000"/>
              </a:lnSpc>
              <a:spcBef>
                <a:spcPts val="0"/>
              </a:spcBef>
              <a:spcAft>
                <a:spcPts val="0"/>
              </a:spcAft>
              <a:buClr>
                <a:srgbClr val="000000"/>
              </a:buClr>
              <a:buSzPct val="100000"/>
              <a:buFont typeface="Arial"/>
              <a:buNone/>
            </a:pPr>
            <a:r>
              <a:rPr lang="en-US" sz="1687" b="0" i="0" u="none" strike="noStrike" cap="none" dirty="0">
                <a:solidFill>
                  <a:srgbClr val="000000"/>
                </a:solidFill>
                <a:latin typeface="Calibri"/>
                <a:ea typeface="Calibri"/>
                <a:cs typeface="Calibri"/>
                <a:sym typeface="Calibri"/>
              </a:rPr>
              <a:t>School for  Computing and Augmented Intelligence (</a:t>
            </a:r>
            <a:r>
              <a:rPr lang="en-US" sz="1687" i="1" cap="none" dirty="0">
                <a:solidFill>
                  <a:srgbClr val="000000"/>
                </a:solidFill>
                <a:latin typeface="Calibri"/>
                <a:ea typeface="Calibri"/>
                <a:cs typeface="Calibri"/>
                <a:sym typeface="Calibri"/>
              </a:rPr>
              <a:t>SCAI</a:t>
            </a:r>
            <a:r>
              <a:rPr lang="en-US" sz="1687" b="0" i="0" u="none" strike="noStrike" cap="none" dirty="0">
                <a:solidFill>
                  <a:srgbClr val="000000"/>
                </a:solidFill>
                <a:latin typeface="Calibri"/>
                <a:ea typeface="Calibri"/>
                <a:cs typeface="Calibri"/>
                <a:sym typeface="Calibri"/>
              </a:rPr>
              <a:t>)</a:t>
            </a:r>
            <a:endParaRPr dirty="0"/>
          </a:p>
          <a:p>
            <a:pPr marL="0" marR="0" lvl="0" indent="0" algn="ctr" rtl="0">
              <a:lnSpc>
                <a:spcPct val="90000"/>
              </a:lnSpc>
              <a:spcBef>
                <a:spcPts val="0"/>
              </a:spcBef>
              <a:spcAft>
                <a:spcPts val="0"/>
              </a:spcAft>
              <a:buClr>
                <a:srgbClr val="000000"/>
              </a:buClr>
              <a:buSzPct val="100000"/>
              <a:buFont typeface="Arial"/>
              <a:buNone/>
            </a:pPr>
            <a:r>
              <a:rPr lang="en-US" sz="1687" b="0" i="0" u="none" strike="noStrike" cap="none" dirty="0">
                <a:solidFill>
                  <a:srgbClr val="000000"/>
                </a:solidFill>
                <a:latin typeface="Calibri"/>
                <a:ea typeface="Calibri"/>
                <a:cs typeface="Calibri"/>
                <a:sym typeface="Calibri"/>
              </a:rPr>
              <a:t>Ira A. Fulton Schools of Engineering</a:t>
            </a:r>
            <a:endParaRPr dirty="0"/>
          </a:p>
          <a:p>
            <a:pPr marL="0" marR="0" lvl="0" indent="0" algn="ctr" rtl="0">
              <a:lnSpc>
                <a:spcPct val="90000"/>
              </a:lnSpc>
              <a:spcBef>
                <a:spcPts val="0"/>
              </a:spcBef>
              <a:spcAft>
                <a:spcPts val="0"/>
              </a:spcAft>
              <a:buClr>
                <a:srgbClr val="000000"/>
              </a:buClr>
              <a:buSzPct val="100000"/>
              <a:buFont typeface="Arial"/>
              <a:buNone/>
            </a:pPr>
            <a:r>
              <a:rPr lang="en-US" sz="1687" b="0" i="0" u="none" strike="noStrike" cap="none" dirty="0">
                <a:solidFill>
                  <a:srgbClr val="000000"/>
                </a:solidFill>
                <a:latin typeface="Calibri"/>
                <a:ea typeface="Calibri"/>
                <a:cs typeface="Calibri"/>
                <a:sym typeface="Calibri"/>
              </a:rPr>
              <a:t>Arizona State University</a:t>
            </a:r>
            <a:endParaRPr dirty="0"/>
          </a:p>
          <a:p>
            <a:pPr marL="0" lvl="0" indent="0" algn="ctr" rtl="0">
              <a:lnSpc>
                <a:spcPct val="90000"/>
              </a:lnSpc>
              <a:spcBef>
                <a:spcPts val="1200"/>
              </a:spcBef>
              <a:spcAft>
                <a:spcPts val="0"/>
              </a:spcAft>
              <a:buSzPct val="100000"/>
              <a:buNone/>
            </a:pPr>
            <a:endParaRPr sz="1200" dirty="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A2580-F4B9-D60E-7628-6D0AB0379CEC}"/>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D4A536D0-F6B9-D5AA-12C9-126D470FA26A}"/>
              </a:ext>
            </a:extLst>
          </p:cNvPr>
          <p:cNvSpPr>
            <a:spLocks noGrp="1"/>
          </p:cNvSpPr>
          <p:nvPr>
            <p:ph type="body" idx="1"/>
          </p:nvPr>
        </p:nvSpPr>
        <p:spPr/>
        <p:txBody>
          <a:bodyPr/>
          <a:lstStyle/>
          <a:p>
            <a:r>
              <a:rPr lang="en-US" dirty="0"/>
              <a:t>Goal:	Predict Covid-19 prevalence using WBE data</a:t>
            </a:r>
          </a:p>
          <a:p>
            <a:r>
              <a:rPr lang="en-US" dirty="0"/>
              <a:t>Current:	Many existing models</a:t>
            </a:r>
            <a:br>
              <a:rPr lang="en-US" dirty="0"/>
            </a:br>
            <a:r>
              <a:rPr lang="en-US" dirty="0"/>
              <a:t>		Currently rely on hierarchical approaches</a:t>
            </a:r>
            <a:br>
              <a:rPr lang="en-US" dirty="0"/>
            </a:br>
            <a:r>
              <a:rPr lang="en-US" dirty="0"/>
              <a:t>		Require full retraining for new regions</a:t>
            </a:r>
            <a:br>
              <a:rPr lang="en-US" dirty="0"/>
            </a:br>
            <a:r>
              <a:rPr lang="en-US" dirty="0"/>
              <a:t>		Require long historical datasets</a:t>
            </a:r>
            <a:br>
              <a:rPr lang="en-US" dirty="0"/>
            </a:br>
            <a:r>
              <a:rPr lang="en-US" dirty="0"/>
              <a:t>		Ex. Li et al. 2023</a:t>
            </a:r>
          </a:p>
          <a:p>
            <a:r>
              <a:rPr lang="en-US" dirty="0"/>
              <a:t>New:	Meta-Learning Approach</a:t>
            </a:r>
            <a:br>
              <a:rPr lang="en-US" dirty="0"/>
            </a:br>
            <a:r>
              <a:rPr lang="en-US" dirty="0"/>
              <a:t>		“Learning to learn”</a:t>
            </a:r>
            <a:br>
              <a:rPr lang="en-US" dirty="0"/>
            </a:br>
            <a:r>
              <a:rPr lang="en-US" dirty="0"/>
              <a:t>		Learn multiple similar tasks, to rapidly adapt to a new one</a:t>
            </a:r>
          </a:p>
        </p:txBody>
      </p:sp>
    </p:spTree>
    <p:extLst>
      <p:ext uri="{BB962C8B-B14F-4D97-AF65-F5344CB8AC3E}">
        <p14:creationId xmlns:p14="http://schemas.microsoft.com/office/powerpoint/2010/main" val="830663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D2920-0220-641A-CD1E-268C86154DD9}"/>
              </a:ext>
            </a:extLst>
          </p:cNvPr>
          <p:cNvSpPr>
            <a:spLocks noGrp="1"/>
          </p:cNvSpPr>
          <p:nvPr>
            <p:ph type="title"/>
          </p:nvPr>
        </p:nvSpPr>
        <p:spPr/>
        <p:txBody>
          <a:bodyPr/>
          <a:lstStyle/>
          <a:p>
            <a:r>
              <a:rPr lang="en-US" dirty="0"/>
              <a:t>Li et al Model Overview</a:t>
            </a:r>
          </a:p>
        </p:txBody>
      </p:sp>
      <p:sp>
        <p:nvSpPr>
          <p:cNvPr id="3" name="Text Placeholder 2">
            <a:extLst>
              <a:ext uri="{FF2B5EF4-FFF2-40B4-BE49-F238E27FC236}">
                <a16:creationId xmlns:a16="http://schemas.microsoft.com/office/drawing/2014/main" id="{50FF7F81-4EF7-C2AB-1A53-F25CFF13CA4F}"/>
              </a:ext>
            </a:extLst>
          </p:cNvPr>
          <p:cNvSpPr>
            <a:spLocks noGrp="1"/>
          </p:cNvSpPr>
          <p:nvPr>
            <p:ph type="body" idx="1"/>
          </p:nvPr>
        </p:nvSpPr>
        <p:spPr/>
        <p:txBody>
          <a:bodyPr>
            <a:normAutofit/>
          </a:bodyPr>
          <a:lstStyle/>
          <a:p>
            <a:r>
              <a:rPr lang="en-US" dirty="0"/>
              <a:t>Goal:	Predict how many people will be hospitalized with Covid-19 in this county </a:t>
            </a:r>
            <a:br>
              <a:rPr lang="en-US" dirty="0"/>
            </a:br>
            <a:r>
              <a:rPr lang="en-US" dirty="0"/>
              <a:t>		within the next 1 – 4 weeks?</a:t>
            </a:r>
          </a:p>
          <a:p>
            <a:r>
              <a:rPr lang="en-US" dirty="0"/>
              <a:t>Input:	Weekly SARS-Cov-2 levels in wastewater, historical weekly COVID-19 </a:t>
            </a:r>
            <a:br>
              <a:rPr lang="en-US" dirty="0"/>
            </a:br>
            <a:r>
              <a:rPr lang="en-US" dirty="0"/>
              <a:t>		admissions, population and context data ALL per county</a:t>
            </a:r>
          </a:p>
          <a:p>
            <a:r>
              <a:rPr lang="en-US" dirty="0"/>
              <a:t>Output:	Number of new Covid-19 hospitalizations per 100k people, 1 – 4 week lead</a:t>
            </a:r>
          </a:p>
          <a:p>
            <a:r>
              <a:rPr lang="en-US" dirty="0"/>
              <a:t>Modeling:	Machine Learning model using random forest w/ 20 months of training data</a:t>
            </a:r>
          </a:p>
          <a:p>
            <a:r>
              <a:rPr lang="en-US" dirty="0"/>
              <a:t>Result:	Mean Absolute Error (MAE) of 4-6 patients per 100k people</a:t>
            </a:r>
          </a:p>
          <a:p>
            <a:r>
              <a:rPr lang="en-US" dirty="0"/>
              <a:t>Weakness:	Low hospitalization counts, poor wastewater sampling, small population</a:t>
            </a:r>
          </a:p>
          <a:p>
            <a:r>
              <a:rPr lang="en-US" dirty="0"/>
              <a:t>Significance:	Commonly used as a benchmark model for WBE x Covid-19</a:t>
            </a:r>
            <a:br>
              <a:rPr lang="en-US" dirty="0"/>
            </a:br>
            <a:r>
              <a:rPr lang="en-US" dirty="0"/>
              <a:t>		WBE data circumvents need for individual clinical testing/case reporting</a:t>
            </a:r>
          </a:p>
        </p:txBody>
      </p:sp>
    </p:spTree>
    <p:extLst>
      <p:ext uri="{BB962C8B-B14F-4D97-AF65-F5344CB8AC3E}">
        <p14:creationId xmlns:p14="http://schemas.microsoft.com/office/powerpoint/2010/main" val="2739310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B262F-F4F2-C48E-8794-BFA108B02EAB}"/>
              </a:ext>
            </a:extLst>
          </p:cNvPr>
          <p:cNvSpPr>
            <a:spLocks noGrp="1"/>
          </p:cNvSpPr>
          <p:nvPr>
            <p:ph type="title"/>
          </p:nvPr>
        </p:nvSpPr>
        <p:spPr/>
        <p:txBody>
          <a:bodyPr/>
          <a:lstStyle/>
          <a:p>
            <a:r>
              <a:rPr lang="en-US" dirty="0"/>
              <a:t>Li et al. Datasets</a:t>
            </a:r>
          </a:p>
        </p:txBody>
      </p:sp>
      <p:sp>
        <p:nvSpPr>
          <p:cNvPr id="3" name="Text Placeholder 2">
            <a:extLst>
              <a:ext uri="{FF2B5EF4-FFF2-40B4-BE49-F238E27FC236}">
                <a16:creationId xmlns:a16="http://schemas.microsoft.com/office/drawing/2014/main" id="{508E157D-8603-067F-B722-5CDCAE0D889C}"/>
              </a:ext>
            </a:extLst>
          </p:cNvPr>
          <p:cNvSpPr>
            <a:spLocks noGrp="1"/>
          </p:cNvSpPr>
          <p:nvPr>
            <p:ph type="body" idx="1"/>
          </p:nvPr>
        </p:nvSpPr>
        <p:spPr/>
        <p:txBody>
          <a:bodyPr>
            <a:normAutofit lnSpcReduction="10000"/>
          </a:bodyPr>
          <a:lstStyle/>
          <a:p>
            <a:pPr marL="571500" indent="-457200">
              <a:buClrTx/>
              <a:buFont typeface="+mj-lt"/>
              <a:buAutoNum type="arabicPeriod"/>
            </a:pPr>
            <a:r>
              <a:rPr lang="en-US" dirty="0"/>
              <a:t>Wastewater SARS-CoV-2 Concentration (CRNA) (CDC_NWSS)</a:t>
            </a:r>
            <a:br>
              <a:rPr lang="en-US" dirty="0"/>
            </a:br>
            <a:r>
              <a:rPr lang="en-US" dirty="0"/>
              <a:t>Role: Primary predictor</a:t>
            </a:r>
          </a:p>
          <a:p>
            <a:pPr marL="571500" indent="-457200">
              <a:buClrTx/>
              <a:buFont typeface="+mj-lt"/>
              <a:buAutoNum type="arabicPeriod"/>
            </a:pPr>
            <a:r>
              <a:rPr lang="en-US" dirty="0"/>
              <a:t>County-level Covid-19 Hospitalizations (HHS)</a:t>
            </a:r>
            <a:br>
              <a:rPr lang="en-US" dirty="0"/>
            </a:br>
            <a:r>
              <a:rPr lang="en-US" dirty="0"/>
              <a:t>Role: Target outcome</a:t>
            </a:r>
          </a:p>
          <a:p>
            <a:pPr marL="571500" indent="-457200">
              <a:buClrTx/>
              <a:buFont typeface="+mj-lt"/>
              <a:buAutoNum type="arabicPeriod"/>
            </a:pPr>
            <a:r>
              <a:rPr lang="en-US" dirty="0"/>
              <a:t>Covid-19 Community Vulnerability Index (CCVI)</a:t>
            </a:r>
            <a:br>
              <a:rPr lang="en-US" dirty="0"/>
            </a:br>
            <a:r>
              <a:rPr lang="en-US" dirty="0"/>
              <a:t>Role: Context predictor (vulnerability, demographics)</a:t>
            </a:r>
          </a:p>
          <a:p>
            <a:pPr marL="571500" indent="-457200">
              <a:buClrTx/>
              <a:buFont typeface="+mj-lt"/>
              <a:buAutoNum type="arabicPeriod"/>
            </a:pPr>
            <a:r>
              <a:rPr lang="en-US" dirty="0"/>
              <a:t>County-level Vaccination Coverage</a:t>
            </a:r>
            <a:br>
              <a:rPr lang="en-US" dirty="0"/>
            </a:br>
            <a:r>
              <a:rPr lang="en-US" dirty="0"/>
              <a:t>Role: Context predictor (population immunity)</a:t>
            </a:r>
          </a:p>
          <a:p>
            <a:pPr marL="571500" indent="-457200">
              <a:buClrTx/>
              <a:buFont typeface="+mj-lt"/>
              <a:buAutoNum type="arabicPeriod"/>
            </a:pPr>
            <a:r>
              <a:rPr lang="en-US" dirty="0"/>
              <a:t>Daily Air Temperature</a:t>
            </a:r>
            <a:br>
              <a:rPr lang="en-US" dirty="0"/>
            </a:br>
            <a:r>
              <a:rPr lang="en-US" dirty="0"/>
              <a:t>Role: Viral predictor (RNA decay)</a:t>
            </a:r>
          </a:p>
          <a:p>
            <a:pPr marL="571500" indent="-457200">
              <a:buClrTx/>
              <a:buFont typeface="+mj-lt"/>
              <a:buAutoNum type="arabicPeriod"/>
            </a:pPr>
            <a:r>
              <a:rPr lang="en-US" dirty="0"/>
              <a:t>Daily Precipitation</a:t>
            </a:r>
            <a:br>
              <a:rPr lang="en-US" dirty="0"/>
            </a:br>
            <a:r>
              <a:rPr lang="en-US" dirty="0"/>
              <a:t>Role: Viral predictor (wastewater dilution)</a:t>
            </a:r>
          </a:p>
        </p:txBody>
      </p:sp>
    </p:spTree>
    <p:extLst>
      <p:ext uri="{BB962C8B-B14F-4D97-AF65-F5344CB8AC3E}">
        <p14:creationId xmlns:p14="http://schemas.microsoft.com/office/powerpoint/2010/main" val="14366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2616F-491C-9641-1FCC-CDB6EA3FF635}"/>
              </a:ext>
            </a:extLst>
          </p:cNvPr>
          <p:cNvSpPr>
            <a:spLocks noGrp="1"/>
          </p:cNvSpPr>
          <p:nvPr>
            <p:ph type="title"/>
          </p:nvPr>
        </p:nvSpPr>
        <p:spPr/>
        <p:txBody>
          <a:bodyPr/>
          <a:lstStyle/>
          <a:p>
            <a:r>
              <a:rPr lang="en-US" dirty="0"/>
              <a:t>WBE Data</a:t>
            </a:r>
          </a:p>
        </p:txBody>
      </p:sp>
      <p:sp>
        <p:nvSpPr>
          <p:cNvPr id="3" name="Text Placeholder 2">
            <a:extLst>
              <a:ext uri="{FF2B5EF4-FFF2-40B4-BE49-F238E27FC236}">
                <a16:creationId xmlns:a16="http://schemas.microsoft.com/office/drawing/2014/main" id="{FC8D5803-10F7-A572-8B6F-A96A1CD9DA38}"/>
              </a:ext>
            </a:extLst>
          </p:cNvPr>
          <p:cNvSpPr>
            <a:spLocks noGrp="1"/>
          </p:cNvSpPr>
          <p:nvPr>
            <p:ph type="body" idx="1"/>
          </p:nvPr>
        </p:nvSpPr>
        <p:spPr/>
        <p:txBody>
          <a:bodyPr>
            <a:normAutofit fontScale="92500" lnSpcReduction="10000"/>
          </a:bodyPr>
          <a:lstStyle/>
          <a:p>
            <a:r>
              <a:rPr lang="en-US" dirty="0" err="1"/>
              <a:t>fips_code</a:t>
            </a:r>
            <a:r>
              <a:rPr lang="en-US" dirty="0"/>
              <a:t>: 5 digit id code for county</a:t>
            </a:r>
          </a:p>
          <a:p>
            <a:r>
              <a:rPr lang="en-US" dirty="0" err="1"/>
              <a:t>week_end_date</a:t>
            </a:r>
            <a:r>
              <a:rPr lang="en-US" dirty="0"/>
              <a:t>: end of the reporting week, since data might be collected on different days</a:t>
            </a:r>
          </a:p>
          <a:p>
            <a:r>
              <a:rPr lang="en-US" dirty="0" err="1"/>
              <a:t>n_samples</a:t>
            </a:r>
            <a:r>
              <a:rPr lang="en-US" dirty="0"/>
              <a:t>/</a:t>
            </a:r>
            <a:r>
              <a:rPr lang="en-US" dirty="0" err="1"/>
              <a:t>n_sites</a:t>
            </a:r>
            <a:r>
              <a:rPr lang="en-US" dirty="0"/>
              <a:t>: how many samples were collected in that week and number of sites</a:t>
            </a:r>
          </a:p>
          <a:p>
            <a:r>
              <a:rPr lang="en-US" dirty="0" err="1"/>
              <a:t>sum_population_served</a:t>
            </a:r>
            <a:r>
              <a:rPr lang="en-US" dirty="0"/>
              <a:t>: number of population covered by sampling</a:t>
            </a:r>
          </a:p>
          <a:p>
            <a:r>
              <a:rPr lang="en-US" dirty="0" err="1"/>
              <a:t>crna_median</a:t>
            </a:r>
            <a:r>
              <a:rPr lang="en-US" dirty="0"/>
              <a:t>/</a:t>
            </a:r>
            <a:r>
              <a:rPr lang="en-US" dirty="0" err="1"/>
              <a:t>crna_mean</a:t>
            </a:r>
            <a:r>
              <a:rPr lang="en-US" dirty="0"/>
              <a:t>: measured concentration of SARS-CoV-2 RNA</a:t>
            </a:r>
          </a:p>
          <a:p>
            <a:r>
              <a:rPr lang="en-US" dirty="0"/>
              <a:t>ptc_15d_median: 15 day percent change in viral concentration across sites</a:t>
            </a:r>
          </a:p>
          <a:p>
            <a:r>
              <a:rPr lang="en-US" dirty="0" err="1"/>
              <a:t>percentile_median</a:t>
            </a:r>
            <a:r>
              <a:rPr lang="en-US" dirty="0"/>
              <a:t>: comparison of current week viral level vs historical</a:t>
            </a:r>
          </a:p>
          <a:p>
            <a:r>
              <a:rPr lang="en-US" dirty="0"/>
              <a:t>pop_2019: population of county, 2019 census estimate</a:t>
            </a:r>
          </a:p>
          <a:p>
            <a:r>
              <a:rPr lang="en-US" dirty="0" err="1"/>
              <a:t>crna_popw_mean</a:t>
            </a:r>
            <a:r>
              <a:rPr lang="en-US" dirty="0"/>
              <a:t>/crna_popw_log10: population-weighted average of viral concentration across all sites in the county (and the log10 of the mean)</a:t>
            </a:r>
          </a:p>
        </p:txBody>
      </p:sp>
    </p:spTree>
    <p:extLst>
      <p:ext uri="{BB962C8B-B14F-4D97-AF65-F5344CB8AC3E}">
        <p14:creationId xmlns:p14="http://schemas.microsoft.com/office/powerpoint/2010/main" val="2462981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30BC-7AEA-4394-A605-38984CBA30E2}"/>
              </a:ext>
            </a:extLst>
          </p:cNvPr>
          <p:cNvSpPr>
            <a:spLocks noGrp="1"/>
          </p:cNvSpPr>
          <p:nvPr>
            <p:ph type="title"/>
          </p:nvPr>
        </p:nvSpPr>
        <p:spPr/>
        <p:txBody>
          <a:bodyPr/>
          <a:lstStyle/>
          <a:p>
            <a:r>
              <a:rPr lang="en-US" dirty="0"/>
              <a:t>HHS Data</a:t>
            </a:r>
          </a:p>
        </p:txBody>
      </p:sp>
      <p:sp>
        <p:nvSpPr>
          <p:cNvPr id="3" name="Text Placeholder 2">
            <a:extLst>
              <a:ext uri="{FF2B5EF4-FFF2-40B4-BE49-F238E27FC236}">
                <a16:creationId xmlns:a16="http://schemas.microsoft.com/office/drawing/2014/main" id="{63C1AB7B-BCD2-D703-DAAC-595B6EB59097}"/>
              </a:ext>
            </a:extLst>
          </p:cNvPr>
          <p:cNvSpPr>
            <a:spLocks noGrp="1"/>
          </p:cNvSpPr>
          <p:nvPr>
            <p:ph type="body" idx="1"/>
          </p:nvPr>
        </p:nvSpPr>
        <p:spPr/>
        <p:txBody>
          <a:bodyPr/>
          <a:lstStyle/>
          <a:p>
            <a:r>
              <a:rPr lang="en-US" dirty="0" err="1"/>
              <a:t>fips_code</a:t>
            </a:r>
            <a:r>
              <a:rPr lang="en-US" dirty="0"/>
              <a:t>: 5 digit id code for county</a:t>
            </a:r>
          </a:p>
          <a:p>
            <a:r>
              <a:rPr lang="en-US" dirty="0" err="1"/>
              <a:t>week_end_date</a:t>
            </a:r>
            <a:r>
              <a:rPr lang="en-US" dirty="0"/>
              <a:t>: end of the reporting week, since data might be collected on different days</a:t>
            </a:r>
          </a:p>
          <a:p>
            <a:r>
              <a:rPr lang="en-US" dirty="0"/>
              <a:t>pop_2019: population of county, 2019 census estimate</a:t>
            </a:r>
          </a:p>
          <a:p>
            <a:r>
              <a:rPr lang="en-US" dirty="0" err="1"/>
              <a:t>hos_wn_count</a:t>
            </a:r>
            <a:r>
              <a:rPr lang="en-US" dirty="0"/>
              <a:t>: number of new COVID-19 hospitalizations during the week</a:t>
            </a:r>
          </a:p>
          <a:p>
            <a:r>
              <a:rPr lang="en-US" dirty="0"/>
              <a:t>hos_wn_per_100k: same as above, but for every 10,000 people</a:t>
            </a:r>
          </a:p>
          <a:p>
            <a:r>
              <a:rPr lang="en-US" dirty="0" err="1"/>
              <a:t>hos_cs</a:t>
            </a:r>
            <a:r>
              <a:rPr lang="en-US" dirty="0"/>
              <a:t>: cumulative hospitalizations over the last 7 days (rolling)</a:t>
            </a:r>
          </a:p>
          <a:p>
            <a:r>
              <a:rPr lang="en-US" dirty="0" err="1"/>
              <a:t>hos_ca</a:t>
            </a:r>
            <a:r>
              <a:rPr lang="en-US" dirty="0"/>
              <a:t>: average hospitalizations over the last 7 days (rolling)</a:t>
            </a:r>
          </a:p>
          <a:p>
            <a:endParaRPr lang="en-US" dirty="0"/>
          </a:p>
        </p:txBody>
      </p:sp>
    </p:spTree>
    <p:extLst>
      <p:ext uri="{BB962C8B-B14F-4D97-AF65-F5344CB8AC3E}">
        <p14:creationId xmlns:p14="http://schemas.microsoft.com/office/powerpoint/2010/main" val="1047817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E3CF3-C806-BA96-5973-EC0BD0DBEB5E}"/>
              </a:ext>
            </a:extLst>
          </p:cNvPr>
          <p:cNvSpPr>
            <a:spLocks noGrp="1"/>
          </p:cNvSpPr>
          <p:nvPr>
            <p:ph type="title"/>
          </p:nvPr>
        </p:nvSpPr>
        <p:spPr/>
        <p:txBody>
          <a:bodyPr/>
          <a:lstStyle/>
          <a:p>
            <a:r>
              <a:rPr lang="en-US" dirty="0"/>
              <a:t>Other Models</a:t>
            </a:r>
          </a:p>
        </p:txBody>
      </p:sp>
      <p:graphicFrame>
        <p:nvGraphicFramePr>
          <p:cNvPr id="3" name="Table 2">
            <a:extLst>
              <a:ext uri="{FF2B5EF4-FFF2-40B4-BE49-F238E27FC236}">
                <a16:creationId xmlns:a16="http://schemas.microsoft.com/office/drawing/2014/main" id="{6B0862C9-53F8-9662-D81D-8C05410F4C17}"/>
              </a:ext>
            </a:extLst>
          </p:cNvPr>
          <p:cNvGraphicFramePr>
            <a:graphicFrameLocks noGrp="1"/>
          </p:cNvGraphicFramePr>
          <p:nvPr>
            <p:extLst>
              <p:ext uri="{D42A27DB-BD31-4B8C-83A1-F6EECF244321}">
                <p14:modId xmlns:p14="http://schemas.microsoft.com/office/powerpoint/2010/main" val="84256917"/>
              </p:ext>
            </p:extLst>
          </p:nvPr>
        </p:nvGraphicFramePr>
        <p:xfrm>
          <a:off x="1207911" y="1737360"/>
          <a:ext cx="9947770" cy="324104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1151691546"/>
                    </a:ext>
                  </a:extLst>
                </a:gridCol>
                <a:gridCol w="1535289">
                  <a:extLst>
                    <a:ext uri="{9D8B030D-6E8A-4147-A177-3AD203B41FA5}">
                      <a16:colId xmlns:a16="http://schemas.microsoft.com/office/drawing/2014/main" val="749371944"/>
                    </a:ext>
                  </a:extLst>
                </a:gridCol>
                <a:gridCol w="1659466">
                  <a:extLst>
                    <a:ext uri="{9D8B030D-6E8A-4147-A177-3AD203B41FA5}">
                      <a16:colId xmlns:a16="http://schemas.microsoft.com/office/drawing/2014/main" val="409259942"/>
                    </a:ext>
                  </a:extLst>
                </a:gridCol>
                <a:gridCol w="3408794">
                  <a:extLst>
                    <a:ext uri="{9D8B030D-6E8A-4147-A177-3AD203B41FA5}">
                      <a16:colId xmlns:a16="http://schemas.microsoft.com/office/drawing/2014/main" val="24713668"/>
                    </a:ext>
                  </a:extLst>
                </a:gridCol>
                <a:gridCol w="1989554">
                  <a:extLst>
                    <a:ext uri="{9D8B030D-6E8A-4147-A177-3AD203B41FA5}">
                      <a16:colId xmlns:a16="http://schemas.microsoft.com/office/drawing/2014/main" val="799625010"/>
                    </a:ext>
                  </a:extLst>
                </a:gridCol>
              </a:tblGrid>
              <a:tr h="370840">
                <a:tc>
                  <a:txBody>
                    <a:bodyPr/>
                    <a:lstStyle/>
                    <a:p>
                      <a:r>
                        <a:rPr lang="en-US" dirty="0"/>
                        <a:t>Model</a:t>
                      </a:r>
                    </a:p>
                  </a:txBody>
                  <a:tcPr/>
                </a:tc>
                <a:tc>
                  <a:txBody>
                    <a:bodyPr/>
                    <a:lstStyle/>
                    <a:p>
                      <a:r>
                        <a:rPr lang="en-US" dirty="0"/>
                        <a:t>Method</a:t>
                      </a:r>
                    </a:p>
                  </a:txBody>
                  <a:tcPr/>
                </a:tc>
                <a:tc>
                  <a:txBody>
                    <a:bodyPr/>
                    <a:lstStyle/>
                    <a:p>
                      <a:r>
                        <a:rPr lang="en-US" dirty="0"/>
                        <a:t>Outcome</a:t>
                      </a:r>
                    </a:p>
                  </a:txBody>
                  <a:tcPr/>
                </a:tc>
                <a:tc>
                  <a:txBody>
                    <a:bodyPr/>
                    <a:lstStyle/>
                    <a:p>
                      <a:r>
                        <a:rPr lang="en-US" dirty="0"/>
                        <a:t>Extra Data</a:t>
                      </a:r>
                    </a:p>
                  </a:txBody>
                  <a:tcPr/>
                </a:tc>
                <a:tc>
                  <a:txBody>
                    <a:bodyPr/>
                    <a:lstStyle/>
                    <a:p>
                      <a:r>
                        <a:rPr lang="en-US" dirty="0"/>
                        <a:t>Difference</a:t>
                      </a:r>
                    </a:p>
                  </a:txBody>
                  <a:tcPr/>
                </a:tc>
                <a:extLst>
                  <a:ext uri="{0D108BD9-81ED-4DB2-BD59-A6C34878D82A}">
                    <a16:rowId xmlns:a16="http://schemas.microsoft.com/office/drawing/2014/main" val="626266150"/>
                  </a:ext>
                </a:extLst>
              </a:tr>
              <a:tr h="370840">
                <a:tc>
                  <a:txBody>
                    <a:bodyPr/>
                    <a:lstStyle/>
                    <a:p>
                      <a:r>
                        <a:rPr lang="en-US" dirty="0"/>
                        <a:t>Li et al 2023</a:t>
                      </a:r>
                    </a:p>
                  </a:txBody>
                  <a:tcPr/>
                </a:tc>
                <a:tc>
                  <a:txBody>
                    <a:bodyPr/>
                    <a:lstStyle/>
                    <a:p>
                      <a:r>
                        <a:rPr lang="en-US" dirty="0"/>
                        <a:t>Random Forest</a:t>
                      </a:r>
                    </a:p>
                  </a:txBody>
                  <a:tcPr/>
                </a:tc>
                <a:tc>
                  <a:txBody>
                    <a:bodyPr/>
                    <a:lstStyle/>
                    <a:p>
                      <a:r>
                        <a:rPr lang="en-US" dirty="0"/>
                        <a:t>Hospitalizations</a:t>
                      </a:r>
                    </a:p>
                  </a:txBody>
                  <a:tcPr/>
                </a:tc>
                <a:tc>
                  <a:txBody>
                    <a:bodyPr/>
                    <a:lstStyle/>
                    <a:p>
                      <a:r>
                        <a:rPr lang="en-US" dirty="0"/>
                        <a:t>CCVI, Population, Vaccination, Weather</a:t>
                      </a:r>
                    </a:p>
                  </a:txBody>
                  <a:tcPr/>
                </a:tc>
                <a:tc>
                  <a:txBody>
                    <a:bodyPr/>
                    <a:lstStyle/>
                    <a:p>
                      <a:endParaRPr lang="en-US" dirty="0"/>
                    </a:p>
                  </a:txBody>
                  <a:tcPr/>
                </a:tc>
                <a:extLst>
                  <a:ext uri="{0D108BD9-81ED-4DB2-BD59-A6C34878D82A}">
                    <a16:rowId xmlns:a16="http://schemas.microsoft.com/office/drawing/2014/main" val="376083169"/>
                  </a:ext>
                </a:extLst>
              </a:tr>
              <a:tr h="370840">
                <a:tc>
                  <a:txBody>
                    <a:bodyPr/>
                    <a:lstStyle/>
                    <a:p>
                      <a:r>
                        <a:rPr lang="en-US" dirty="0"/>
                        <a:t>Lai 2023</a:t>
                      </a:r>
                    </a:p>
                  </a:txBody>
                  <a:tcPr/>
                </a:tc>
                <a:tc>
                  <a:txBody>
                    <a:bodyPr/>
                    <a:lstStyle/>
                    <a:p>
                      <a:r>
                        <a:rPr lang="en-US" dirty="0"/>
                        <a:t>TSML</a:t>
                      </a:r>
                    </a:p>
                  </a:txBody>
                  <a:tcPr/>
                </a:tc>
                <a:tc>
                  <a:txBody>
                    <a:bodyPr/>
                    <a:lstStyle/>
                    <a:p>
                      <a:r>
                        <a:rPr lang="en-US" dirty="0"/>
                        <a:t>Cases</a:t>
                      </a:r>
                    </a:p>
                  </a:txBody>
                  <a:tcPr/>
                </a:tc>
                <a:tc>
                  <a:txBody>
                    <a:bodyPr/>
                    <a:lstStyle/>
                    <a:p>
                      <a:r>
                        <a:rPr lang="en-US" dirty="0"/>
                        <a:t>Ambient Temperature, Water Temperature, Add. Engineered Features</a:t>
                      </a:r>
                    </a:p>
                  </a:txBody>
                  <a:tcPr/>
                </a:tc>
                <a:tc>
                  <a:txBody>
                    <a:bodyPr/>
                    <a:lstStyle/>
                    <a:p>
                      <a:r>
                        <a:rPr lang="en-US" dirty="0"/>
                        <a:t>Water focused, Predicts cases</a:t>
                      </a:r>
                    </a:p>
                  </a:txBody>
                  <a:tcPr/>
                </a:tc>
                <a:extLst>
                  <a:ext uri="{0D108BD9-81ED-4DB2-BD59-A6C34878D82A}">
                    <a16:rowId xmlns:a16="http://schemas.microsoft.com/office/drawing/2014/main" val="1003352415"/>
                  </a:ext>
                </a:extLst>
              </a:tr>
              <a:tr h="370840">
                <a:tc>
                  <a:txBody>
                    <a:bodyPr/>
                    <a:lstStyle/>
                    <a:p>
                      <a:r>
                        <a:rPr lang="en-US" dirty="0"/>
                        <a:t>Jiang 2022</a:t>
                      </a:r>
                    </a:p>
                  </a:txBody>
                  <a:tcPr/>
                </a:tc>
                <a:tc>
                  <a:txBody>
                    <a:bodyPr/>
                    <a:lstStyle/>
                    <a:p>
                      <a:r>
                        <a:rPr lang="en-US" dirty="0"/>
                        <a:t>ANN</a:t>
                      </a:r>
                    </a:p>
                  </a:txBody>
                  <a:tcPr/>
                </a:tc>
                <a:tc>
                  <a:txBody>
                    <a:bodyPr/>
                    <a:lstStyle/>
                    <a:p>
                      <a:r>
                        <a:rPr lang="en-US" dirty="0"/>
                        <a:t>Cases + </a:t>
                      </a:r>
                      <a:r>
                        <a:rPr lang="en-US" dirty="0" err="1"/>
                        <a:t>R_e</a:t>
                      </a:r>
                      <a:endParaRPr lang="en-US" dirty="0"/>
                    </a:p>
                  </a:txBody>
                  <a:tcPr/>
                </a:tc>
                <a:tc>
                  <a:txBody>
                    <a:bodyPr/>
                    <a:lstStyle/>
                    <a:p>
                      <a:r>
                        <a:rPr lang="en-US" dirty="0"/>
                        <a:t>Clinical Case Counts</a:t>
                      </a:r>
                    </a:p>
                  </a:txBody>
                  <a:tcPr/>
                </a:tc>
                <a:tc>
                  <a:txBody>
                    <a:bodyPr/>
                    <a:lstStyle/>
                    <a:p>
                      <a:r>
                        <a:rPr lang="en-US" dirty="0"/>
                        <a:t>Deep connection between WBE &amp; cases</a:t>
                      </a:r>
                    </a:p>
                  </a:txBody>
                  <a:tcPr/>
                </a:tc>
                <a:extLst>
                  <a:ext uri="{0D108BD9-81ED-4DB2-BD59-A6C34878D82A}">
                    <a16:rowId xmlns:a16="http://schemas.microsoft.com/office/drawing/2014/main" val="3546164498"/>
                  </a:ext>
                </a:extLst>
              </a:tr>
              <a:tr h="370840">
                <a:tc>
                  <a:txBody>
                    <a:bodyPr/>
                    <a:lstStyle/>
                    <a:p>
                      <a:r>
                        <a:rPr lang="en-US" dirty="0"/>
                        <a:t>Jeng 2023</a:t>
                      </a:r>
                    </a:p>
                  </a:txBody>
                  <a:tcPr/>
                </a:tc>
                <a:tc>
                  <a:txBody>
                    <a:bodyPr/>
                    <a:lstStyle/>
                    <a:p>
                      <a:r>
                        <a:rPr lang="en-US" dirty="0"/>
                        <a:t>Copula-TS</a:t>
                      </a:r>
                    </a:p>
                  </a:txBody>
                  <a:tcPr/>
                </a:tc>
                <a:tc>
                  <a:txBody>
                    <a:bodyPr/>
                    <a:lstStyle/>
                    <a:p>
                      <a:r>
                        <a:rPr lang="en-US" dirty="0"/>
                        <a:t>Cases + Hospitalizations + Deaths</a:t>
                      </a:r>
                    </a:p>
                  </a:txBody>
                  <a:tcPr/>
                </a:tc>
                <a:tc>
                  <a:txBody>
                    <a:bodyPr/>
                    <a:lstStyle/>
                    <a:p>
                      <a:r>
                        <a:rPr lang="en-US" dirty="0"/>
                        <a:t>Clinical Case Series</a:t>
                      </a:r>
                    </a:p>
                  </a:txBody>
                  <a:tcPr/>
                </a:tc>
                <a:tc>
                  <a:txBody>
                    <a:bodyPr/>
                    <a:lstStyle/>
                    <a:p>
                      <a:r>
                        <a:rPr lang="en-US" dirty="0"/>
                        <a:t>Copula modeling to jointly model multiple health indicators</a:t>
                      </a:r>
                    </a:p>
                  </a:txBody>
                  <a:tcPr/>
                </a:tc>
                <a:extLst>
                  <a:ext uri="{0D108BD9-81ED-4DB2-BD59-A6C34878D82A}">
                    <a16:rowId xmlns:a16="http://schemas.microsoft.com/office/drawing/2014/main" val="1991053596"/>
                  </a:ext>
                </a:extLst>
              </a:tr>
              <a:tr h="370840">
                <a:tc>
                  <a:txBody>
                    <a:bodyPr/>
                    <a:lstStyle/>
                    <a:p>
                      <a:r>
                        <a:rPr lang="en-US" dirty="0"/>
                        <a:t>Rankin 2025</a:t>
                      </a:r>
                    </a:p>
                  </a:txBody>
                  <a:tcPr/>
                </a:tc>
                <a:tc>
                  <a:txBody>
                    <a:bodyPr/>
                    <a:lstStyle/>
                    <a:p>
                      <a:r>
                        <a:rPr lang="en-US" dirty="0"/>
                        <a:t>GAM</a:t>
                      </a:r>
                    </a:p>
                  </a:txBody>
                  <a:tcPr/>
                </a:tc>
                <a:tc>
                  <a:txBody>
                    <a:bodyPr/>
                    <a:lstStyle/>
                    <a:p>
                      <a:r>
                        <a:rPr lang="en-US" dirty="0"/>
                        <a:t>Hospitalizations</a:t>
                      </a:r>
                    </a:p>
                  </a:txBody>
                  <a:tcPr/>
                </a:tc>
                <a:tc>
                  <a:txBody>
                    <a:bodyPr/>
                    <a:lstStyle/>
                    <a:p>
                      <a:r>
                        <a:rPr lang="en-US" dirty="0"/>
                        <a:t>Past Infections, Hospitalizations, Vaccination, CCVI</a:t>
                      </a:r>
                    </a:p>
                  </a:txBody>
                  <a:tcPr/>
                </a:tc>
                <a:tc>
                  <a:txBody>
                    <a:bodyPr/>
                    <a:lstStyle/>
                    <a:p>
                      <a:r>
                        <a:rPr lang="en-US" dirty="0"/>
                        <a:t>Focus on immunity and vulnerability; Less environmental</a:t>
                      </a:r>
                    </a:p>
                  </a:txBody>
                  <a:tcPr/>
                </a:tc>
                <a:extLst>
                  <a:ext uri="{0D108BD9-81ED-4DB2-BD59-A6C34878D82A}">
                    <a16:rowId xmlns:a16="http://schemas.microsoft.com/office/drawing/2014/main" val="12681211"/>
                  </a:ext>
                </a:extLst>
              </a:tr>
            </a:tbl>
          </a:graphicData>
        </a:graphic>
      </p:graphicFrame>
    </p:spTree>
    <p:extLst>
      <p:ext uri="{BB962C8B-B14F-4D97-AF65-F5344CB8AC3E}">
        <p14:creationId xmlns:p14="http://schemas.microsoft.com/office/powerpoint/2010/main" val="3706283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DC724F97-3543-C6E8-E518-77275DB31BF5}"/>
            </a:ext>
          </a:extLst>
        </p:cNvPr>
        <p:cNvGrpSpPr/>
        <p:nvPr/>
      </p:nvGrpSpPr>
      <p:grpSpPr>
        <a:xfrm>
          <a:off x="0" y="0"/>
          <a:ext cx="0" cy="0"/>
          <a:chOff x="0" y="0"/>
          <a:chExt cx="0" cy="0"/>
        </a:xfrm>
      </p:grpSpPr>
      <p:sp>
        <p:nvSpPr>
          <p:cNvPr id="119" name="Google Shape;119;g34f6f6a9aa8_0_259">
            <a:extLst>
              <a:ext uri="{FF2B5EF4-FFF2-40B4-BE49-F238E27FC236}">
                <a16:creationId xmlns:a16="http://schemas.microsoft.com/office/drawing/2014/main" id="{AA47B138-A989-95F0-A5C4-B2EF27516315}"/>
              </a:ext>
            </a:extLst>
          </p:cNvPr>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b="1" dirty="0"/>
              <a:t>Results so far…</a:t>
            </a:r>
            <a:endParaRPr dirty="0"/>
          </a:p>
        </p:txBody>
      </p:sp>
      <p:sp>
        <p:nvSpPr>
          <p:cNvPr id="120" name="Google Shape;120;g34f6f6a9aa8_0_259">
            <a:extLst>
              <a:ext uri="{FF2B5EF4-FFF2-40B4-BE49-F238E27FC236}">
                <a16:creationId xmlns:a16="http://schemas.microsoft.com/office/drawing/2014/main" id="{2D8DEB7E-5267-747E-BF33-7AF3A9FC3CD9}"/>
              </a:ext>
            </a:extLst>
          </p:cNvPr>
          <p:cNvSpPr txBox="1"/>
          <p:nvPr/>
        </p:nvSpPr>
        <p:spPr>
          <a:xfrm>
            <a:off x="1097280" y="2347128"/>
            <a:ext cx="10058400" cy="3204980"/>
          </a:xfrm>
          <a:prstGeom prst="rect">
            <a:avLst/>
          </a:prstGeom>
          <a:noFill/>
          <a:ln>
            <a:noFill/>
          </a:ln>
        </p:spPr>
        <p:txBody>
          <a:bodyPr spcFirstLastPara="1" wrap="square" lIns="50800" tIns="50800" rIns="50800" bIns="50800" anchor="ctr" anchorCtr="0">
            <a:spAutoFit/>
          </a:bodyPr>
          <a:lstStyle/>
          <a:p>
            <a:pPr marL="342900" marR="0" lvl="0" indent="-368300" algn="l" rtl="0">
              <a:lnSpc>
                <a:spcPct val="120000"/>
              </a:lnSpc>
              <a:spcBef>
                <a:spcPts val="0"/>
              </a:spcBef>
              <a:spcAft>
                <a:spcPts val="0"/>
              </a:spcAft>
              <a:buClr>
                <a:srgbClr val="000000"/>
              </a:buClr>
              <a:buSzPts val="2800"/>
              <a:buFont typeface="Calibri"/>
              <a:buChar char="•"/>
            </a:pPr>
            <a:r>
              <a:rPr lang="en-US" sz="2800" dirty="0">
                <a:latin typeface="Calibri"/>
                <a:ea typeface="Calibri"/>
                <a:cs typeface="Calibri"/>
                <a:sym typeface="Calibri"/>
              </a:rPr>
              <a:t>Replicate Li et al. model: a hierarchical statistical ML model that predicts COVID-19 case prevalence and hospitalization trends from WBE data</a:t>
            </a:r>
          </a:p>
          <a:p>
            <a:pPr marL="342900" marR="0" lvl="0" indent="-368300" algn="l" rtl="0">
              <a:lnSpc>
                <a:spcPct val="120000"/>
              </a:lnSpc>
              <a:spcBef>
                <a:spcPts val="0"/>
              </a:spcBef>
              <a:spcAft>
                <a:spcPts val="0"/>
              </a:spcAft>
              <a:buClr>
                <a:srgbClr val="000000"/>
              </a:buClr>
              <a:buSzPts val="2800"/>
              <a:buFont typeface="Calibri"/>
              <a:buChar char="•"/>
            </a:pPr>
            <a:r>
              <a:rPr lang="en-US" sz="2800" dirty="0" err="1">
                <a:latin typeface="Calibri"/>
                <a:ea typeface="Calibri"/>
                <a:cs typeface="Calibri"/>
                <a:sym typeface="Calibri"/>
              </a:rPr>
              <a:t>Raodblocks</a:t>
            </a:r>
            <a:r>
              <a:rPr lang="en-US" sz="2800" dirty="0">
                <a:latin typeface="Calibri"/>
                <a:ea typeface="Calibri"/>
                <a:cs typeface="Calibri"/>
                <a:sym typeface="Calibri"/>
              </a:rPr>
              <a:t>: datasets are either unable to be found/private</a:t>
            </a:r>
          </a:p>
          <a:p>
            <a:pPr marL="342900" marR="0" lvl="0" indent="-368300" algn="l" rtl="0">
              <a:lnSpc>
                <a:spcPct val="120000"/>
              </a:lnSpc>
              <a:spcBef>
                <a:spcPts val="0"/>
              </a:spcBef>
              <a:spcAft>
                <a:spcPts val="0"/>
              </a:spcAft>
              <a:buClr>
                <a:srgbClr val="000000"/>
              </a:buClr>
              <a:buSzPts val="2800"/>
              <a:buFont typeface="Calibri"/>
              <a:buChar char="•"/>
            </a:pPr>
            <a:r>
              <a:rPr lang="en-US" sz="2800" dirty="0">
                <a:latin typeface="Calibri"/>
                <a:ea typeface="Calibri"/>
                <a:cs typeface="Calibri"/>
                <a:sym typeface="Calibri"/>
              </a:rPr>
              <a:t>Result: comparable performance of Li et al. model, same structure, different dataset (</a:t>
            </a:r>
            <a:r>
              <a:rPr lang="en-US" sz="2800" dirty="0" err="1">
                <a:latin typeface="Calibri"/>
                <a:ea typeface="Calibri"/>
                <a:cs typeface="Calibri"/>
                <a:sym typeface="Calibri"/>
              </a:rPr>
              <a:t>cdc_nwss</a:t>
            </a:r>
            <a:r>
              <a:rPr lang="en-US" sz="2800" dirty="0">
                <a:latin typeface="Calibri"/>
                <a:ea typeface="Calibri"/>
                <a:cs typeface="Calibri"/>
                <a:sym typeface="Calibri"/>
              </a:rPr>
              <a:t> vs </a:t>
            </a:r>
            <a:r>
              <a:rPr lang="en-US" sz="2800" dirty="0" err="1">
                <a:latin typeface="Calibri"/>
                <a:ea typeface="Calibri"/>
                <a:cs typeface="Calibri"/>
                <a:sym typeface="Calibri"/>
              </a:rPr>
              <a:t>biobot</a:t>
            </a:r>
            <a:r>
              <a:rPr lang="en-US" sz="2800" dirty="0">
                <a:latin typeface="Calibri"/>
                <a:ea typeface="Calibri"/>
                <a:cs typeface="Calibri"/>
                <a:sym typeface="Calibri"/>
              </a:rPr>
              <a:t>)</a:t>
            </a:r>
          </a:p>
        </p:txBody>
      </p:sp>
    </p:spTree>
    <p:extLst>
      <p:ext uri="{BB962C8B-B14F-4D97-AF65-F5344CB8AC3E}">
        <p14:creationId xmlns:p14="http://schemas.microsoft.com/office/powerpoint/2010/main" val="3718560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B8DA4-EBC7-1363-B748-FDC7FCE34A2C}"/>
              </a:ext>
            </a:extLst>
          </p:cNvPr>
          <p:cNvSpPr>
            <a:spLocks noGrp="1"/>
          </p:cNvSpPr>
          <p:nvPr>
            <p:ph type="title"/>
          </p:nvPr>
        </p:nvSpPr>
        <p:spPr/>
        <p:txBody>
          <a:bodyPr/>
          <a:lstStyle/>
          <a:p>
            <a:r>
              <a:rPr lang="en-US" b="1" dirty="0"/>
              <a:t>Results so far…</a:t>
            </a:r>
            <a:endParaRPr lang="en-US" dirty="0"/>
          </a:p>
        </p:txBody>
      </p:sp>
      <p:graphicFrame>
        <p:nvGraphicFramePr>
          <p:cNvPr id="5" name="Table 4">
            <a:extLst>
              <a:ext uri="{FF2B5EF4-FFF2-40B4-BE49-F238E27FC236}">
                <a16:creationId xmlns:a16="http://schemas.microsoft.com/office/drawing/2014/main" id="{93A5D70C-905C-15ED-2F72-53942597BBFB}"/>
              </a:ext>
            </a:extLst>
          </p:cNvPr>
          <p:cNvGraphicFramePr>
            <a:graphicFrameLocks noGrp="1"/>
          </p:cNvGraphicFramePr>
          <p:nvPr>
            <p:extLst>
              <p:ext uri="{D42A27DB-BD31-4B8C-83A1-F6EECF244321}">
                <p14:modId xmlns:p14="http://schemas.microsoft.com/office/powerpoint/2010/main" val="4157411214"/>
              </p:ext>
            </p:extLst>
          </p:nvPr>
        </p:nvGraphicFramePr>
        <p:xfrm>
          <a:off x="2001520" y="4397870"/>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628028165"/>
                    </a:ext>
                  </a:extLst>
                </a:gridCol>
                <a:gridCol w="2709333">
                  <a:extLst>
                    <a:ext uri="{9D8B030D-6E8A-4147-A177-3AD203B41FA5}">
                      <a16:colId xmlns:a16="http://schemas.microsoft.com/office/drawing/2014/main" val="1056314490"/>
                    </a:ext>
                  </a:extLst>
                </a:gridCol>
                <a:gridCol w="2709333">
                  <a:extLst>
                    <a:ext uri="{9D8B030D-6E8A-4147-A177-3AD203B41FA5}">
                      <a16:colId xmlns:a16="http://schemas.microsoft.com/office/drawing/2014/main" val="3514836399"/>
                    </a:ext>
                  </a:extLst>
                </a:gridCol>
              </a:tblGrid>
              <a:tr h="370840">
                <a:tc>
                  <a:txBody>
                    <a:bodyPr/>
                    <a:lstStyle/>
                    <a:p>
                      <a:r>
                        <a:rPr lang="en-US" dirty="0"/>
                        <a:t>Lead (weeks ahead)</a:t>
                      </a:r>
                    </a:p>
                  </a:txBody>
                  <a:tcPr/>
                </a:tc>
                <a:tc>
                  <a:txBody>
                    <a:bodyPr/>
                    <a:lstStyle/>
                    <a:p>
                      <a:r>
                        <a:rPr lang="en-US" dirty="0"/>
                        <a:t>My Model (MAE)</a:t>
                      </a:r>
                    </a:p>
                  </a:txBody>
                  <a:tcPr/>
                </a:tc>
                <a:tc>
                  <a:txBody>
                    <a:bodyPr/>
                    <a:lstStyle/>
                    <a:p>
                      <a:r>
                        <a:rPr lang="en-US" dirty="0"/>
                        <a:t>Li et al.</a:t>
                      </a:r>
                    </a:p>
                  </a:txBody>
                  <a:tcPr/>
                </a:tc>
                <a:extLst>
                  <a:ext uri="{0D108BD9-81ED-4DB2-BD59-A6C34878D82A}">
                    <a16:rowId xmlns:a16="http://schemas.microsoft.com/office/drawing/2014/main" val="133389415"/>
                  </a:ext>
                </a:extLst>
              </a:tr>
              <a:tr h="370840">
                <a:tc>
                  <a:txBody>
                    <a:bodyPr/>
                    <a:lstStyle/>
                    <a:p>
                      <a:r>
                        <a:rPr lang="en-US" dirty="0"/>
                        <a:t>1 week</a:t>
                      </a:r>
                    </a:p>
                  </a:txBody>
                  <a:tcPr/>
                </a:tc>
                <a:tc>
                  <a:txBody>
                    <a:bodyPr/>
                    <a:lstStyle/>
                    <a:p>
                      <a:r>
                        <a:rPr lang="en-US" dirty="0"/>
                        <a:t>5.7</a:t>
                      </a:r>
                    </a:p>
                  </a:txBody>
                  <a:tcPr/>
                </a:tc>
                <a:tc>
                  <a:txBody>
                    <a:bodyPr/>
                    <a:lstStyle/>
                    <a:p>
                      <a:r>
                        <a:rPr lang="en-US" dirty="0"/>
                        <a:t>4-6</a:t>
                      </a:r>
                    </a:p>
                  </a:txBody>
                  <a:tcPr/>
                </a:tc>
                <a:extLst>
                  <a:ext uri="{0D108BD9-81ED-4DB2-BD59-A6C34878D82A}">
                    <a16:rowId xmlns:a16="http://schemas.microsoft.com/office/drawing/2014/main" val="2970811087"/>
                  </a:ext>
                </a:extLst>
              </a:tr>
              <a:tr h="370840">
                <a:tc>
                  <a:txBody>
                    <a:bodyPr/>
                    <a:lstStyle/>
                    <a:p>
                      <a:r>
                        <a:rPr lang="en-US" dirty="0"/>
                        <a:t>2 weeks</a:t>
                      </a:r>
                    </a:p>
                  </a:txBody>
                  <a:tcPr/>
                </a:tc>
                <a:tc>
                  <a:txBody>
                    <a:bodyPr/>
                    <a:lstStyle/>
                    <a:p>
                      <a:r>
                        <a:rPr lang="en-US" dirty="0"/>
                        <a:t>5.6</a:t>
                      </a:r>
                    </a:p>
                  </a:txBody>
                  <a:tcPr/>
                </a:tc>
                <a:tc>
                  <a:txBody>
                    <a:bodyPr/>
                    <a:lstStyle/>
                    <a:p>
                      <a:r>
                        <a:rPr lang="en-US" dirty="0"/>
                        <a:t>4-6</a:t>
                      </a:r>
                    </a:p>
                  </a:txBody>
                  <a:tcPr/>
                </a:tc>
                <a:extLst>
                  <a:ext uri="{0D108BD9-81ED-4DB2-BD59-A6C34878D82A}">
                    <a16:rowId xmlns:a16="http://schemas.microsoft.com/office/drawing/2014/main" val="596396680"/>
                  </a:ext>
                </a:extLst>
              </a:tr>
              <a:tr h="370840">
                <a:tc>
                  <a:txBody>
                    <a:bodyPr/>
                    <a:lstStyle/>
                    <a:p>
                      <a:r>
                        <a:rPr lang="en-US" dirty="0"/>
                        <a:t>3 weeks</a:t>
                      </a:r>
                    </a:p>
                  </a:txBody>
                  <a:tcPr/>
                </a:tc>
                <a:tc>
                  <a:txBody>
                    <a:bodyPr/>
                    <a:lstStyle/>
                    <a:p>
                      <a:r>
                        <a:rPr lang="en-US" dirty="0"/>
                        <a:t>5.44</a:t>
                      </a:r>
                    </a:p>
                  </a:txBody>
                  <a:tcPr/>
                </a:tc>
                <a:tc>
                  <a:txBody>
                    <a:bodyPr/>
                    <a:lstStyle/>
                    <a:p>
                      <a:r>
                        <a:rPr lang="en-US" dirty="0"/>
                        <a:t>4-6</a:t>
                      </a:r>
                    </a:p>
                  </a:txBody>
                  <a:tcPr/>
                </a:tc>
                <a:extLst>
                  <a:ext uri="{0D108BD9-81ED-4DB2-BD59-A6C34878D82A}">
                    <a16:rowId xmlns:a16="http://schemas.microsoft.com/office/drawing/2014/main" val="2037069004"/>
                  </a:ext>
                </a:extLst>
              </a:tr>
              <a:tr h="370840">
                <a:tc>
                  <a:txBody>
                    <a:bodyPr/>
                    <a:lstStyle/>
                    <a:p>
                      <a:r>
                        <a:rPr lang="en-US" dirty="0"/>
                        <a:t>4 weeks</a:t>
                      </a:r>
                    </a:p>
                  </a:txBody>
                  <a:tcPr/>
                </a:tc>
                <a:tc>
                  <a:txBody>
                    <a:bodyPr/>
                    <a:lstStyle/>
                    <a:p>
                      <a:r>
                        <a:rPr lang="en-US" dirty="0"/>
                        <a:t>5.56</a:t>
                      </a:r>
                    </a:p>
                  </a:txBody>
                  <a:tcPr/>
                </a:tc>
                <a:tc>
                  <a:txBody>
                    <a:bodyPr/>
                    <a:lstStyle/>
                    <a:p>
                      <a:r>
                        <a:rPr lang="en-US" dirty="0"/>
                        <a:t>4-6</a:t>
                      </a:r>
                    </a:p>
                  </a:txBody>
                  <a:tcPr/>
                </a:tc>
                <a:extLst>
                  <a:ext uri="{0D108BD9-81ED-4DB2-BD59-A6C34878D82A}">
                    <a16:rowId xmlns:a16="http://schemas.microsoft.com/office/drawing/2014/main" val="403417942"/>
                  </a:ext>
                </a:extLst>
              </a:tr>
            </a:tbl>
          </a:graphicData>
        </a:graphic>
      </p:graphicFrame>
      <p:sp>
        <p:nvSpPr>
          <p:cNvPr id="6" name="Google Shape;120;g34f6f6a9aa8_0_259">
            <a:extLst>
              <a:ext uri="{FF2B5EF4-FFF2-40B4-BE49-F238E27FC236}">
                <a16:creationId xmlns:a16="http://schemas.microsoft.com/office/drawing/2014/main" id="{BB000194-4CB8-78CA-E985-F70420E62919}"/>
              </a:ext>
            </a:extLst>
          </p:cNvPr>
          <p:cNvSpPr txBox="1"/>
          <p:nvPr/>
        </p:nvSpPr>
        <p:spPr>
          <a:xfrm>
            <a:off x="1097280" y="1737360"/>
            <a:ext cx="10058400" cy="2170851"/>
          </a:xfrm>
          <a:prstGeom prst="rect">
            <a:avLst/>
          </a:prstGeom>
          <a:noFill/>
          <a:ln>
            <a:noFill/>
          </a:ln>
        </p:spPr>
        <p:txBody>
          <a:bodyPr spcFirstLastPara="1" wrap="square" lIns="50800" tIns="50800" rIns="50800" bIns="50800" anchor="ctr" anchorCtr="0">
            <a:spAutoFit/>
          </a:bodyPr>
          <a:lstStyle/>
          <a:p>
            <a:pPr marL="342900" marR="0" lvl="0" indent="-368300" algn="l" rtl="0">
              <a:lnSpc>
                <a:spcPct val="120000"/>
              </a:lnSpc>
              <a:spcBef>
                <a:spcPts val="0"/>
              </a:spcBef>
              <a:spcAft>
                <a:spcPts val="0"/>
              </a:spcAft>
              <a:buClr>
                <a:srgbClr val="000000"/>
              </a:buClr>
              <a:buSzPts val="2800"/>
              <a:buFont typeface="Calibri"/>
              <a:buChar char="•"/>
            </a:pPr>
            <a:r>
              <a:rPr lang="en-US" sz="2800" dirty="0">
                <a:latin typeface="Calibri" panose="020F0502020204030204" pitchFamily="34" charset="0"/>
                <a:ea typeface="Calibri" panose="020F0502020204030204" pitchFamily="34" charset="0"/>
                <a:cs typeface="Calibri" panose="020F0502020204030204" pitchFamily="34" charset="0"/>
                <a:sym typeface="Calibri"/>
              </a:rPr>
              <a:t>Replicated model went from 2022-01-01 to 2022-12-31</a:t>
            </a:r>
          </a:p>
          <a:p>
            <a:pPr marL="342900" marR="0" lvl="0" indent="-368300" algn="l" rtl="0">
              <a:lnSpc>
                <a:spcPct val="120000"/>
              </a:lnSpc>
              <a:spcBef>
                <a:spcPts val="0"/>
              </a:spcBef>
              <a:spcAft>
                <a:spcPts val="0"/>
              </a:spcAft>
              <a:buClr>
                <a:srgbClr val="000000"/>
              </a:buClr>
              <a:buSzPts val="2800"/>
              <a:buFont typeface="Calibri"/>
              <a:buChar char="•"/>
            </a:pPr>
            <a:r>
              <a:rPr lang="en-US" sz="2800" dirty="0">
                <a:latin typeface="Calibri" panose="020F0502020204030204" pitchFamily="34" charset="0"/>
                <a:ea typeface="Calibri" panose="020F0502020204030204" pitchFamily="34" charset="0"/>
                <a:cs typeface="Calibri" panose="020F0502020204030204" pitchFamily="34" charset="0"/>
                <a:sym typeface="Calibri"/>
              </a:rPr>
              <a:t>MAE was based on ALL predictions made for 6 months after</a:t>
            </a:r>
          </a:p>
          <a:p>
            <a:pPr marL="342900" lvl="0" indent="-368300">
              <a:lnSpc>
                <a:spcPct val="120000"/>
              </a:lnSpc>
              <a:buSzPts val="2800"/>
              <a:buFont typeface="Calibri"/>
              <a:buChar char="•"/>
            </a:pPr>
            <a:r>
              <a:rPr lang="en-US" sz="2800" dirty="0">
                <a:latin typeface="Calibri" panose="020F0502020204030204" pitchFamily="34" charset="0"/>
                <a:ea typeface="Calibri" panose="020F0502020204030204" pitchFamily="34" charset="0"/>
                <a:cs typeface="Calibri" panose="020F0502020204030204" pitchFamily="34" charset="0"/>
                <a:sym typeface="Calibri"/>
              </a:rPr>
              <a:t>Predicted </a:t>
            </a:r>
            <a:r>
              <a:rPr lang="en-US" sz="2800" dirty="0">
                <a:latin typeface="Calibri" panose="020F0502020204030204" pitchFamily="34" charset="0"/>
                <a:ea typeface="Calibri" panose="020F0502020204030204" pitchFamily="34" charset="0"/>
                <a:cs typeface="Calibri" panose="020F0502020204030204" pitchFamily="34" charset="0"/>
              </a:rPr>
              <a:t>weekly new hospital admissions per 100,000 population</a:t>
            </a:r>
          </a:p>
          <a:p>
            <a:pPr marL="342900" lvl="0" indent="-368300">
              <a:lnSpc>
                <a:spcPct val="120000"/>
              </a:lnSpc>
              <a:buSzPts val="2800"/>
              <a:buFont typeface="Calibri"/>
              <a:buChar char="•"/>
            </a:pPr>
            <a:r>
              <a:rPr lang="en-US" sz="2800" dirty="0">
                <a:latin typeface="Calibri" panose="020F0502020204030204" pitchFamily="34" charset="0"/>
                <a:ea typeface="Calibri" panose="020F0502020204030204" pitchFamily="34" charset="0"/>
                <a:cs typeface="Calibri" panose="020F0502020204030204" pitchFamily="34" charset="0"/>
                <a:sym typeface="Calibri"/>
              </a:rPr>
              <a:t>Earlier timeframe was less accurate (8 MAE), poor data quality</a:t>
            </a:r>
          </a:p>
        </p:txBody>
      </p:sp>
    </p:spTree>
    <p:extLst>
      <p:ext uri="{BB962C8B-B14F-4D97-AF65-F5344CB8AC3E}">
        <p14:creationId xmlns:p14="http://schemas.microsoft.com/office/powerpoint/2010/main" val="429639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34f6f6a9aa8_0_100"/>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b="1" dirty="0"/>
              <a:t>Why Meta-Learning?</a:t>
            </a:r>
            <a:endParaRPr dirty="0"/>
          </a:p>
        </p:txBody>
      </p:sp>
      <p:graphicFrame>
        <p:nvGraphicFramePr>
          <p:cNvPr id="2" name="Table 1">
            <a:extLst>
              <a:ext uri="{FF2B5EF4-FFF2-40B4-BE49-F238E27FC236}">
                <a16:creationId xmlns:a16="http://schemas.microsoft.com/office/drawing/2014/main" id="{A3E66161-5D03-F57A-A373-51FBF5D118FE}"/>
              </a:ext>
            </a:extLst>
          </p:cNvPr>
          <p:cNvGraphicFramePr>
            <a:graphicFrameLocks noGrp="1"/>
          </p:cNvGraphicFramePr>
          <p:nvPr>
            <p:extLst>
              <p:ext uri="{D42A27DB-BD31-4B8C-83A1-F6EECF244321}">
                <p14:modId xmlns:p14="http://schemas.microsoft.com/office/powerpoint/2010/main" val="2627702823"/>
              </p:ext>
            </p:extLst>
          </p:nvPr>
        </p:nvGraphicFramePr>
        <p:xfrm>
          <a:off x="1200266" y="1820530"/>
          <a:ext cx="9955413" cy="3505200"/>
        </p:xfrm>
        <a:graphic>
          <a:graphicData uri="http://schemas.openxmlformats.org/drawingml/2006/table">
            <a:tbl>
              <a:tblPr firstRow="1" bandRow="1">
                <a:tableStyleId>{5C22544A-7EE6-4342-B048-85BDC9FD1C3A}</a:tableStyleId>
              </a:tblPr>
              <a:tblGrid>
                <a:gridCol w="2328997">
                  <a:extLst>
                    <a:ext uri="{9D8B030D-6E8A-4147-A177-3AD203B41FA5}">
                      <a16:colId xmlns:a16="http://schemas.microsoft.com/office/drawing/2014/main" val="353557811"/>
                    </a:ext>
                  </a:extLst>
                </a:gridCol>
                <a:gridCol w="3641558">
                  <a:extLst>
                    <a:ext uri="{9D8B030D-6E8A-4147-A177-3AD203B41FA5}">
                      <a16:colId xmlns:a16="http://schemas.microsoft.com/office/drawing/2014/main" val="3840597150"/>
                    </a:ext>
                  </a:extLst>
                </a:gridCol>
                <a:gridCol w="3984858">
                  <a:extLst>
                    <a:ext uri="{9D8B030D-6E8A-4147-A177-3AD203B41FA5}">
                      <a16:colId xmlns:a16="http://schemas.microsoft.com/office/drawing/2014/main" val="1047070369"/>
                    </a:ext>
                  </a:extLst>
                </a:gridCol>
              </a:tblGrid>
              <a:tr h="370840">
                <a:tc>
                  <a:txBody>
                    <a:bodyPr/>
                    <a:lstStyle/>
                    <a:p>
                      <a:r>
                        <a:rPr lang="en-US" sz="1100" dirty="0"/>
                        <a:t>Feature</a:t>
                      </a:r>
                    </a:p>
                  </a:txBody>
                  <a:tcPr/>
                </a:tc>
                <a:tc>
                  <a:txBody>
                    <a:bodyPr/>
                    <a:lstStyle/>
                    <a:p>
                      <a:r>
                        <a:rPr lang="en-US" sz="1100" dirty="0"/>
                        <a:t>Hierarchical</a:t>
                      </a:r>
                    </a:p>
                  </a:txBody>
                  <a:tcPr/>
                </a:tc>
                <a:tc>
                  <a:txBody>
                    <a:bodyPr/>
                    <a:lstStyle/>
                    <a:p>
                      <a:r>
                        <a:rPr lang="en-US" sz="1100" dirty="0"/>
                        <a:t>Meta-Learning</a:t>
                      </a:r>
                    </a:p>
                  </a:txBody>
                  <a:tcPr/>
                </a:tc>
                <a:extLst>
                  <a:ext uri="{0D108BD9-81ED-4DB2-BD59-A6C34878D82A}">
                    <a16:rowId xmlns:a16="http://schemas.microsoft.com/office/drawing/2014/main" val="1803814594"/>
                  </a:ext>
                </a:extLst>
              </a:tr>
              <a:tr h="370840">
                <a:tc>
                  <a:txBody>
                    <a:bodyPr/>
                    <a:lstStyle/>
                    <a:p>
                      <a:r>
                        <a:rPr lang="en-US" sz="1100" dirty="0"/>
                        <a:t>Data Requirement</a:t>
                      </a:r>
                    </a:p>
                  </a:txBody>
                  <a:tcPr/>
                </a:tc>
                <a:tc>
                  <a:txBody>
                    <a:bodyPr/>
                    <a:lstStyle/>
                    <a:p>
                      <a:r>
                        <a:rPr lang="en-US" sz="1100" dirty="0"/>
                        <a:t>Initial: Large long-term dataset per region</a:t>
                      </a:r>
                      <a:br>
                        <a:rPr lang="en-US" sz="1100" dirty="0"/>
                      </a:br>
                      <a:r>
                        <a:rPr lang="en-US" sz="1100" dirty="0"/>
                        <a:t>Post: Long-term historical dataset for new region</a:t>
                      </a:r>
                    </a:p>
                  </a:txBody>
                  <a:tcPr/>
                </a:tc>
                <a:tc>
                  <a:txBody>
                    <a:bodyPr/>
                    <a:lstStyle/>
                    <a:p>
                      <a:r>
                        <a:rPr lang="en-US" sz="1100" dirty="0"/>
                        <a:t>Initial: Large, broad and diverse set of regional datasets</a:t>
                      </a:r>
                    </a:p>
                    <a:p>
                      <a:r>
                        <a:rPr lang="en-US" sz="1100" b="1" dirty="0"/>
                        <a:t>Post: Adaptation using few samples from new region</a:t>
                      </a:r>
                    </a:p>
                  </a:txBody>
                  <a:tcPr/>
                </a:tc>
                <a:extLst>
                  <a:ext uri="{0D108BD9-81ED-4DB2-BD59-A6C34878D82A}">
                    <a16:rowId xmlns:a16="http://schemas.microsoft.com/office/drawing/2014/main" val="1837306437"/>
                  </a:ext>
                </a:extLst>
              </a:tr>
              <a:tr h="370840">
                <a:tc>
                  <a:txBody>
                    <a:bodyPr/>
                    <a:lstStyle/>
                    <a:p>
                      <a:r>
                        <a:rPr lang="en-US" sz="1100" dirty="0"/>
                        <a:t>Retraining</a:t>
                      </a:r>
                    </a:p>
                  </a:txBody>
                  <a:tcPr/>
                </a:tc>
                <a:tc>
                  <a:txBody>
                    <a:bodyPr/>
                    <a:lstStyle/>
                    <a:p>
                      <a:r>
                        <a:rPr lang="en-US" sz="1100" dirty="0"/>
                        <a:t>Full retraining anytime a new region is added</a:t>
                      </a:r>
                    </a:p>
                  </a:txBody>
                  <a:tcPr/>
                </a:tc>
                <a:tc>
                  <a:txBody>
                    <a:bodyPr/>
                    <a:lstStyle/>
                    <a:p>
                      <a:r>
                        <a:rPr lang="en-US" sz="1100" b="1" dirty="0"/>
                        <a:t>Fine-tuning only, no new retraining</a:t>
                      </a:r>
                    </a:p>
                  </a:txBody>
                  <a:tcPr/>
                </a:tc>
                <a:extLst>
                  <a:ext uri="{0D108BD9-81ED-4DB2-BD59-A6C34878D82A}">
                    <a16:rowId xmlns:a16="http://schemas.microsoft.com/office/drawing/2014/main" val="2555621973"/>
                  </a:ext>
                </a:extLst>
              </a:tr>
              <a:tr h="370840">
                <a:tc>
                  <a:txBody>
                    <a:bodyPr/>
                    <a:lstStyle/>
                    <a:p>
                      <a:r>
                        <a:rPr lang="en-US" sz="1100" dirty="0"/>
                        <a:t>Scalability</a:t>
                      </a:r>
                    </a:p>
                  </a:txBody>
                  <a:tcPr/>
                </a:tc>
                <a:tc>
                  <a:txBody>
                    <a:bodyPr/>
                    <a:lstStyle/>
                    <a:p>
                      <a:r>
                        <a:rPr lang="en-US" sz="1100" dirty="0"/>
                        <a:t>Limited, each region requires a refit or retrain</a:t>
                      </a:r>
                    </a:p>
                  </a:txBody>
                  <a:tcPr/>
                </a:tc>
                <a:tc>
                  <a:txBody>
                    <a:bodyPr/>
                    <a:lstStyle/>
                    <a:p>
                      <a:r>
                        <a:rPr lang="en-US" sz="1100" b="1" dirty="0"/>
                        <a:t>High, new regions adapt quickly without large retraining</a:t>
                      </a:r>
                    </a:p>
                  </a:txBody>
                  <a:tcPr/>
                </a:tc>
                <a:extLst>
                  <a:ext uri="{0D108BD9-81ED-4DB2-BD59-A6C34878D82A}">
                    <a16:rowId xmlns:a16="http://schemas.microsoft.com/office/drawing/2014/main" val="637893481"/>
                  </a:ext>
                </a:extLst>
              </a:tr>
              <a:tr h="370840">
                <a:tc>
                  <a:txBody>
                    <a:bodyPr/>
                    <a:lstStyle/>
                    <a:p>
                      <a:r>
                        <a:rPr lang="en-US" sz="1100" dirty="0"/>
                        <a:t>Generalization</a:t>
                      </a:r>
                    </a:p>
                  </a:txBody>
                  <a:tcPr/>
                </a:tc>
                <a:tc>
                  <a:txBody>
                    <a:bodyPr/>
                    <a:lstStyle/>
                    <a:p>
                      <a:r>
                        <a:rPr lang="en-US" sz="1100" dirty="0"/>
                        <a:t>Strong within learned regions only</a:t>
                      </a:r>
                    </a:p>
                  </a:txBody>
                  <a:tcPr/>
                </a:tc>
                <a:tc>
                  <a:txBody>
                    <a:bodyPr/>
                    <a:lstStyle/>
                    <a:p>
                      <a:r>
                        <a:rPr lang="en-US" sz="1100" dirty="0"/>
                        <a:t>Strong across similar regions, weaker if regions are dissimilar</a:t>
                      </a:r>
                    </a:p>
                  </a:txBody>
                  <a:tcPr/>
                </a:tc>
                <a:extLst>
                  <a:ext uri="{0D108BD9-81ED-4DB2-BD59-A6C34878D82A}">
                    <a16:rowId xmlns:a16="http://schemas.microsoft.com/office/drawing/2014/main" val="4054257987"/>
                  </a:ext>
                </a:extLst>
              </a:tr>
              <a:tr h="370840">
                <a:tc>
                  <a:txBody>
                    <a:bodyPr/>
                    <a:lstStyle/>
                    <a:p>
                      <a:r>
                        <a:rPr lang="en-US" sz="1100" dirty="0"/>
                        <a:t>Data Gaps</a:t>
                      </a:r>
                    </a:p>
                  </a:txBody>
                  <a:tcPr/>
                </a:tc>
                <a:tc>
                  <a:txBody>
                    <a:bodyPr/>
                    <a:lstStyle/>
                    <a:p>
                      <a:r>
                        <a:rPr lang="en-US" sz="1100" dirty="0"/>
                        <a:t>Need complete time series data</a:t>
                      </a:r>
                    </a:p>
                  </a:txBody>
                  <a:tcPr/>
                </a:tc>
                <a:tc>
                  <a:txBody>
                    <a:bodyPr/>
                    <a:lstStyle/>
                    <a:p>
                      <a:r>
                        <a:rPr lang="en-US" sz="1100" dirty="0"/>
                        <a:t>Can deal with some gaps, but noisy data is harmful</a:t>
                      </a:r>
                    </a:p>
                  </a:txBody>
                  <a:tcPr/>
                </a:tc>
                <a:extLst>
                  <a:ext uri="{0D108BD9-81ED-4DB2-BD59-A6C34878D82A}">
                    <a16:rowId xmlns:a16="http://schemas.microsoft.com/office/drawing/2014/main" val="982319472"/>
                  </a:ext>
                </a:extLst>
              </a:tr>
              <a:tr h="370840">
                <a:tc>
                  <a:txBody>
                    <a:bodyPr/>
                    <a:lstStyle/>
                    <a:p>
                      <a:r>
                        <a:rPr lang="en-US" sz="1100" dirty="0"/>
                        <a:t>Computation Cost</a:t>
                      </a:r>
                    </a:p>
                  </a:txBody>
                  <a:tcPr/>
                </a:tc>
                <a:tc>
                  <a:txBody>
                    <a:bodyPr/>
                    <a:lstStyle/>
                    <a:p>
                      <a:r>
                        <a:rPr lang="en-US" sz="1100" dirty="0"/>
                        <a:t>High overall and with each new region, more cost</a:t>
                      </a:r>
                    </a:p>
                  </a:txBody>
                  <a:tcPr/>
                </a:tc>
                <a:tc>
                  <a:txBody>
                    <a:bodyPr/>
                    <a:lstStyle/>
                    <a:p>
                      <a:r>
                        <a:rPr lang="en-US" sz="1100" b="1" dirty="0"/>
                        <a:t>Meta-training cost is high, but adaption training is lightweight</a:t>
                      </a:r>
                    </a:p>
                  </a:txBody>
                  <a:tcPr/>
                </a:tc>
                <a:extLst>
                  <a:ext uri="{0D108BD9-81ED-4DB2-BD59-A6C34878D82A}">
                    <a16:rowId xmlns:a16="http://schemas.microsoft.com/office/drawing/2014/main" val="3902548391"/>
                  </a:ext>
                </a:extLst>
              </a:tr>
              <a:tr h="370840">
                <a:tc>
                  <a:txBody>
                    <a:bodyPr/>
                    <a:lstStyle/>
                    <a:p>
                      <a:r>
                        <a:rPr lang="en-US" sz="1100" dirty="0"/>
                        <a:t>Maintenance</a:t>
                      </a:r>
                    </a:p>
                  </a:txBody>
                  <a:tcPr/>
                </a:tc>
                <a:tc>
                  <a:txBody>
                    <a:bodyPr/>
                    <a:lstStyle/>
                    <a:p>
                      <a:r>
                        <a:rPr lang="en-US" sz="1100" b="1" dirty="0"/>
                        <a:t>Straightforward with frequent updates</a:t>
                      </a:r>
                    </a:p>
                  </a:txBody>
                  <a:tcPr/>
                </a:tc>
                <a:tc>
                  <a:txBody>
                    <a:bodyPr/>
                    <a:lstStyle/>
                    <a:p>
                      <a:r>
                        <a:rPr lang="en-US" sz="1100" dirty="0"/>
                        <a:t>Complex, requires specific adaptation logic</a:t>
                      </a:r>
                    </a:p>
                  </a:txBody>
                  <a:tcPr/>
                </a:tc>
                <a:extLst>
                  <a:ext uri="{0D108BD9-81ED-4DB2-BD59-A6C34878D82A}">
                    <a16:rowId xmlns:a16="http://schemas.microsoft.com/office/drawing/2014/main" val="3833978867"/>
                  </a:ext>
                </a:extLst>
              </a:tr>
              <a:tr h="370840">
                <a:tc>
                  <a:txBody>
                    <a:bodyPr/>
                    <a:lstStyle/>
                    <a:p>
                      <a:r>
                        <a:rPr lang="en-US" sz="1100" dirty="0"/>
                        <a:t>Interpretability</a:t>
                      </a:r>
                    </a:p>
                  </a:txBody>
                  <a:tcPr/>
                </a:tc>
                <a:tc>
                  <a:txBody>
                    <a:bodyPr/>
                    <a:lstStyle/>
                    <a:p>
                      <a:r>
                        <a:rPr lang="en-US" sz="1100" b="1" dirty="0"/>
                        <a:t>Clear hierarchical structure w/ coefficients per region</a:t>
                      </a:r>
                    </a:p>
                  </a:txBody>
                  <a:tcPr/>
                </a:tc>
                <a:tc>
                  <a:txBody>
                    <a:bodyPr/>
                    <a:lstStyle/>
                    <a:p>
                      <a:r>
                        <a:rPr lang="en-US" sz="1100" dirty="0"/>
                        <a:t>Opaque, model’s internal workings are not easily interpretable</a:t>
                      </a:r>
                    </a:p>
                  </a:txBody>
                  <a:tcPr/>
                </a:tc>
                <a:extLst>
                  <a:ext uri="{0D108BD9-81ED-4DB2-BD59-A6C34878D82A}">
                    <a16:rowId xmlns:a16="http://schemas.microsoft.com/office/drawing/2014/main" val="138128970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E1533-08C9-6352-6E6D-8EFA1136BEE0}"/>
              </a:ext>
            </a:extLst>
          </p:cNvPr>
          <p:cNvSpPr>
            <a:spLocks noGrp="1"/>
          </p:cNvSpPr>
          <p:nvPr>
            <p:ph type="title"/>
          </p:nvPr>
        </p:nvSpPr>
        <p:spPr/>
        <p:txBody>
          <a:bodyPr/>
          <a:lstStyle/>
          <a:p>
            <a:r>
              <a:rPr lang="en-US" dirty="0"/>
              <a:t>Meta-Learning Plan</a:t>
            </a:r>
          </a:p>
        </p:txBody>
      </p:sp>
      <p:sp>
        <p:nvSpPr>
          <p:cNvPr id="3" name="Text Placeholder 2">
            <a:extLst>
              <a:ext uri="{FF2B5EF4-FFF2-40B4-BE49-F238E27FC236}">
                <a16:creationId xmlns:a16="http://schemas.microsoft.com/office/drawing/2014/main" id="{8098B237-D2C4-DAD0-5B3A-9A081B9CA96E}"/>
              </a:ext>
            </a:extLst>
          </p:cNvPr>
          <p:cNvSpPr>
            <a:spLocks noGrp="1"/>
          </p:cNvSpPr>
          <p:nvPr>
            <p:ph type="body" idx="1"/>
          </p:nvPr>
        </p:nvSpPr>
        <p:spPr>
          <a:xfrm>
            <a:off x="1097280" y="1845733"/>
            <a:ext cx="10058400" cy="4182533"/>
          </a:xfrm>
        </p:spPr>
        <p:txBody>
          <a:bodyPr>
            <a:normAutofit/>
          </a:bodyPr>
          <a:lstStyle/>
          <a:p>
            <a:r>
              <a:rPr lang="en-US" dirty="0"/>
              <a:t>Same datasets as Li et al. model + additional datasets that support meta-learning approach</a:t>
            </a:r>
          </a:p>
          <a:p>
            <a:pPr lvl="1"/>
            <a:r>
              <a:rPr lang="en-US" dirty="0"/>
              <a:t>Mobility data</a:t>
            </a:r>
          </a:p>
          <a:p>
            <a:pPr lvl="1"/>
            <a:r>
              <a:rPr lang="en-US" dirty="0"/>
              <a:t>Weather, Temperature, Climate</a:t>
            </a:r>
          </a:p>
          <a:p>
            <a:pPr lvl="1"/>
            <a:r>
              <a:rPr lang="en-US" dirty="0"/>
              <a:t>Other ideas!</a:t>
            </a:r>
          </a:p>
          <a:p>
            <a:r>
              <a:rPr lang="en-US" dirty="0"/>
              <a:t>Achieve better or similar results of Li et al. model in terms of prediction accuracy but…</a:t>
            </a:r>
          </a:p>
          <a:p>
            <a:pPr lvl="1"/>
            <a:r>
              <a:rPr lang="en-US" dirty="0"/>
              <a:t>Prove that training will require </a:t>
            </a:r>
            <a:r>
              <a:rPr lang="en-US" b="1" dirty="0"/>
              <a:t>shorter </a:t>
            </a:r>
            <a:r>
              <a:rPr lang="en-US" dirty="0"/>
              <a:t>period of historical data</a:t>
            </a:r>
          </a:p>
          <a:p>
            <a:pPr lvl="1"/>
            <a:r>
              <a:rPr lang="en-US" dirty="0"/>
              <a:t>Prove that predicting for a new county requires </a:t>
            </a:r>
            <a:r>
              <a:rPr lang="en-US" b="1" dirty="0"/>
              <a:t>less</a:t>
            </a:r>
            <a:r>
              <a:rPr lang="en-US" dirty="0"/>
              <a:t> period of historical data</a:t>
            </a:r>
          </a:p>
          <a:p>
            <a:pPr lvl="1"/>
            <a:r>
              <a:rPr lang="en-US" dirty="0"/>
              <a:t>Prove that computation cost for adding a new county is </a:t>
            </a:r>
            <a:r>
              <a:rPr lang="en-US" b="1" dirty="0"/>
              <a:t>reduced</a:t>
            </a:r>
          </a:p>
          <a:p>
            <a:r>
              <a:rPr lang="en-US" dirty="0"/>
              <a:t>Model</a:t>
            </a:r>
          </a:p>
          <a:p>
            <a:pPr lvl="1"/>
            <a:r>
              <a:rPr lang="en-US" dirty="0"/>
              <a:t>Rather than a MAML (Model-Agnostic Meta-Learning)</a:t>
            </a:r>
          </a:p>
          <a:p>
            <a:pPr lvl="1"/>
            <a:r>
              <a:rPr lang="en-US" dirty="0"/>
              <a:t>Simple Multi-task hierarchical shared model</a:t>
            </a:r>
          </a:p>
          <a:p>
            <a:pPr lvl="1"/>
            <a:r>
              <a:rPr lang="en-US" dirty="0"/>
              <a:t>Input Data -&gt; Shared Encoder -&gt; County Embedding -&gt; Prediction</a:t>
            </a:r>
          </a:p>
          <a:p>
            <a:pPr lvl="1"/>
            <a:r>
              <a:rPr lang="en-US" dirty="0"/>
              <a:t>If multi-task is lacking, MAML techniques to add onto will be looked into</a:t>
            </a:r>
          </a:p>
        </p:txBody>
      </p:sp>
    </p:spTree>
    <p:extLst>
      <p:ext uri="{BB962C8B-B14F-4D97-AF65-F5344CB8AC3E}">
        <p14:creationId xmlns:p14="http://schemas.microsoft.com/office/powerpoint/2010/main" val="1628329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1F001-2B8B-B950-D8F9-E0C4B8555570}"/>
              </a:ext>
            </a:extLst>
          </p:cNvPr>
          <p:cNvSpPr>
            <a:spLocks noGrp="1"/>
          </p:cNvSpPr>
          <p:nvPr>
            <p:ph type="title"/>
          </p:nvPr>
        </p:nvSpPr>
        <p:spPr/>
        <p:txBody>
          <a:bodyPr/>
          <a:lstStyle/>
          <a:p>
            <a:r>
              <a:rPr lang="en-US" dirty="0"/>
              <a:t>Novelty</a:t>
            </a:r>
          </a:p>
        </p:txBody>
      </p:sp>
      <p:sp>
        <p:nvSpPr>
          <p:cNvPr id="3" name="Text Placeholder 2">
            <a:extLst>
              <a:ext uri="{FF2B5EF4-FFF2-40B4-BE49-F238E27FC236}">
                <a16:creationId xmlns:a16="http://schemas.microsoft.com/office/drawing/2014/main" id="{8980B2DB-CAFC-3E4E-1005-6FAA148DB231}"/>
              </a:ext>
            </a:extLst>
          </p:cNvPr>
          <p:cNvSpPr>
            <a:spLocks noGrp="1"/>
          </p:cNvSpPr>
          <p:nvPr>
            <p:ph type="body" idx="1"/>
          </p:nvPr>
        </p:nvSpPr>
        <p:spPr/>
        <p:txBody>
          <a:bodyPr/>
          <a:lstStyle/>
          <a:p>
            <a:pPr marL="114300" indent="0">
              <a:buNone/>
            </a:pPr>
            <a:r>
              <a:rPr lang="en-US" dirty="0"/>
              <a:t>Conceptually, this looks basically the same as the Li et al. model! What’s different?</a:t>
            </a:r>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r>
              <a:rPr lang="en-US" dirty="0"/>
              <a:t>Novelty comes from: Temporal encoder + county embeddings, meta-learning (which isn’t being used in this WBE X COVID-19 space) and few-shot/cold start performance metrics</a:t>
            </a:r>
          </a:p>
        </p:txBody>
      </p:sp>
      <p:graphicFrame>
        <p:nvGraphicFramePr>
          <p:cNvPr id="4" name="Table 3">
            <a:extLst>
              <a:ext uri="{FF2B5EF4-FFF2-40B4-BE49-F238E27FC236}">
                <a16:creationId xmlns:a16="http://schemas.microsoft.com/office/drawing/2014/main" id="{CBB65540-1F76-B0FB-1EDB-8FA38294CC7C}"/>
              </a:ext>
            </a:extLst>
          </p:cNvPr>
          <p:cNvGraphicFramePr>
            <a:graphicFrameLocks noGrp="1"/>
          </p:cNvGraphicFramePr>
          <p:nvPr>
            <p:extLst>
              <p:ext uri="{D42A27DB-BD31-4B8C-83A1-F6EECF244321}">
                <p14:modId xmlns:p14="http://schemas.microsoft.com/office/powerpoint/2010/main" val="3997763413"/>
              </p:ext>
            </p:extLst>
          </p:nvPr>
        </p:nvGraphicFramePr>
        <p:xfrm>
          <a:off x="2032000" y="2687320"/>
          <a:ext cx="8128000" cy="20574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097312780"/>
                    </a:ext>
                  </a:extLst>
                </a:gridCol>
                <a:gridCol w="4064000">
                  <a:extLst>
                    <a:ext uri="{9D8B030D-6E8A-4147-A177-3AD203B41FA5}">
                      <a16:colId xmlns:a16="http://schemas.microsoft.com/office/drawing/2014/main" val="1080003162"/>
                    </a:ext>
                  </a:extLst>
                </a:gridCol>
              </a:tblGrid>
              <a:tr h="370840">
                <a:tc>
                  <a:txBody>
                    <a:bodyPr/>
                    <a:lstStyle/>
                    <a:p>
                      <a:r>
                        <a:rPr lang="en-US" dirty="0"/>
                        <a:t>Li</a:t>
                      </a:r>
                    </a:p>
                  </a:txBody>
                  <a:tcPr/>
                </a:tc>
                <a:tc>
                  <a:txBody>
                    <a:bodyPr/>
                    <a:lstStyle/>
                    <a:p>
                      <a:r>
                        <a:rPr lang="en-US" dirty="0"/>
                        <a:t>Meta-learning</a:t>
                      </a:r>
                    </a:p>
                  </a:txBody>
                  <a:tcPr/>
                </a:tc>
                <a:extLst>
                  <a:ext uri="{0D108BD9-81ED-4DB2-BD59-A6C34878D82A}">
                    <a16:rowId xmlns:a16="http://schemas.microsoft.com/office/drawing/2014/main" val="476329303"/>
                  </a:ext>
                </a:extLst>
              </a:tr>
              <a:tr h="370840">
                <a:tc>
                  <a:txBody>
                    <a:bodyPr/>
                    <a:lstStyle/>
                    <a:p>
                      <a:r>
                        <a:rPr lang="en-US" dirty="0"/>
                        <a:t>One Random Forest per county</a:t>
                      </a:r>
                      <a:br>
                        <a:rPr lang="en-US" dirty="0"/>
                      </a:br>
                      <a:r>
                        <a:rPr lang="en-US" dirty="0"/>
                        <a:t>Train full RF model for new county</a:t>
                      </a:r>
                    </a:p>
                  </a:txBody>
                  <a:tcPr/>
                </a:tc>
                <a:tc>
                  <a:txBody>
                    <a:bodyPr/>
                    <a:lstStyle/>
                    <a:p>
                      <a:r>
                        <a:rPr lang="en-US" dirty="0"/>
                        <a:t>One shared encoder that learns from all counties at once</a:t>
                      </a:r>
                      <a:br>
                        <a:rPr lang="en-US" dirty="0"/>
                      </a:br>
                      <a:r>
                        <a:rPr lang="en-US" dirty="0"/>
                        <a:t>For a new county: freeze the encoder and learn tiny county embedding</a:t>
                      </a:r>
                    </a:p>
                  </a:txBody>
                  <a:tcPr/>
                </a:tc>
                <a:extLst>
                  <a:ext uri="{0D108BD9-81ED-4DB2-BD59-A6C34878D82A}">
                    <a16:rowId xmlns:a16="http://schemas.microsoft.com/office/drawing/2014/main" val="2602186115"/>
                  </a:ext>
                </a:extLst>
              </a:tr>
              <a:tr h="370840">
                <a:tc>
                  <a:txBody>
                    <a:bodyPr/>
                    <a:lstStyle/>
                    <a:p>
                      <a:r>
                        <a:rPr lang="en-US" dirty="0"/>
                        <a:t>Temporal data is artificially/manually created</a:t>
                      </a:r>
                    </a:p>
                  </a:txBody>
                  <a:tcPr/>
                </a:tc>
                <a:tc>
                  <a:txBody>
                    <a:bodyPr/>
                    <a:lstStyle/>
                    <a:p>
                      <a:r>
                        <a:rPr lang="en-US" dirty="0"/>
                        <a:t>Model learns temporal dynamics over time</a:t>
                      </a:r>
                    </a:p>
                  </a:txBody>
                  <a:tcPr/>
                </a:tc>
                <a:extLst>
                  <a:ext uri="{0D108BD9-81ED-4DB2-BD59-A6C34878D82A}">
                    <a16:rowId xmlns:a16="http://schemas.microsoft.com/office/drawing/2014/main" val="936803022"/>
                  </a:ext>
                </a:extLst>
              </a:tr>
              <a:tr h="370840">
                <a:tc>
                  <a:txBody>
                    <a:bodyPr/>
                    <a:lstStyle/>
                    <a:p>
                      <a:r>
                        <a:rPr lang="en-US" dirty="0"/>
                        <a:t>Requires lots of data for new county</a:t>
                      </a:r>
                    </a:p>
                  </a:txBody>
                  <a:tcPr/>
                </a:tc>
                <a:tc>
                  <a:txBody>
                    <a:bodyPr/>
                    <a:lstStyle/>
                    <a:p>
                      <a:r>
                        <a:rPr lang="en-US" dirty="0"/>
                        <a:t>Attempts to do adaption with less data</a:t>
                      </a:r>
                    </a:p>
                  </a:txBody>
                  <a:tcPr/>
                </a:tc>
                <a:extLst>
                  <a:ext uri="{0D108BD9-81ED-4DB2-BD59-A6C34878D82A}">
                    <a16:rowId xmlns:a16="http://schemas.microsoft.com/office/drawing/2014/main" val="1268915479"/>
                  </a:ext>
                </a:extLst>
              </a:tr>
            </a:tbl>
          </a:graphicData>
        </a:graphic>
      </p:graphicFrame>
    </p:spTree>
    <p:extLst>
      <p:ext uri="{BB962C8B-B14F-4D97-AF65-F5344CB8AC3E}">
        <p14:creationId xmlns:p14="http://schemas.microsoft.com/office/powerpoint/2010/main" val="2779567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BC36A1E0-454A-A06A-9442-07203E6715C6}"/>
            </a:ext>
          </a:extLst>
        </p:cNvPr>
        <p:cNvGrpSpPr/>
        <p:nvPr/>
      </p:nvGrpSpPr>
      <p:grpSpPr>
        <a:xfrm>
          <a:off x="0" y="0"/>
          <a:ext cx="0" cy="0"/>
          <a:chOff x="0" y="0"/>
          <a:chExt cx="0" cy="0"/>
        </a:xfrm>
      </p:grpSpPr>
      <p:sp>
        <p:nvSpPr>
          <p:cNvPr id="119" name="Google Shape;119;g34f6f6a9aa8_0_259">
            <a:extLst>
              <a:ext uri="{FF2B5EF4-FFF2-40B4-BE49-F238E27FC236}">
                <a16:creationId xmlns:a16="http://schemas.microsoft.com/office/drawing/2014/main" id="{710D85B3-9E3F-304B-A8B1-E78D8B87C6E9}"/>
              </a:ext>
            </a:extLst>
          </p:cNvPr>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b="1" dirty="0"/>
              <a:t>Continual Learning?</a:t>
            </a:r>
            <a:endParaRPr dirty="0"/>
          </a:p>
        </p:txBody>
      </p:sp>
      <p:sp>
        <p:nvSpPr>
          <p:cNvPr id="2" name="Google Shape;120;g34f6f6a9aa8_0_259">
            <a:extLst>
              <a:ext uri="{FF2B5EF4-FFF2-40B4-BE49-F238E27FC236}">
                <a16:creationId xmlns:a16="http://schemas.microsoft.com/office/drawing/2014/main" id="{0730D627-0400-8B15-39F1-D2EC118893BF}"/>
              </a:ext>
            </a:extLst>
          </p:cNvPr>
          <p:cNvSpPr txBox="1"/>
          <p:nvPr/>
        </p:nvSpPr>
        <p:spPr>
          <a:xfrm>
            <a:off x="1097280" y="2088600"/>
            <a:ext cx="10058400" cy="3722045"/>
          </a:xfrm>
          <a:prstGeom prst="rect">
            <a:avLst/>
          </a:prstGeom>
          <a:noFill/>
          <a:ln>
            <a:noFill/>
          </a:ln>
        </p:spPr>
        <p:txBody>
          <a:bodyPr spcFirstLastPara="1" wrap="square" lIns="50800" tIns="50800" rIns="50800" bIns="50800" anchor="ctr" anchorCtr="0">
            <a:spAutoFit/>
          </a:bodyPr>
          <a:lstStyle/>
          <a:p>
            <a:pPr marL="342900" marR="0" lvl="0" indent="-368300" algn="l" rtl="0">
              <a:lnSpc>
                <a:spcPct val="120000"/>
              </a:lnSpc>
              <a:spcBef>
                <a:spcPts val="0"/>
              </a:spcBef>
              <a:spcAft>
                <a:spcPts val="0"/>
              </a:spcAft>
              <a:buClr>
                <a:srgbClr val="000000"/>
              </a:buClr>
              <a:buSzPts val="2800"/>
              <a:buFont typeface="Calibri"/>
              <a:buChar char="•"/>
            </a:pPr>
            <a:r>
              <a:rPr lang="en-US" sz="2800" dirty="0">
                <a:latin typeface="Calibri"/>
                <a:ea typeface="Calibri"/>
                <a:cs typeface="Calibri"/>
                <a:sym typeface="Calibri"/>
              </a:rPr>
              <a:t>One thought I had after planning and writing all this was continual learning. Continual learning models are models that continue to learn trends after they are designed, which thinking about how viruses evolve, it kind of makes sense to integrate it. People change too, like population levels and amount of people that are vaccinated. Interestingly, hierarchical models with continual learning for COVID-19 X WBE do not exist, non WBE does though.</a:t>
            </a:r>
          </a:p>
        </p:txBody>
      </p:sp>
    </p:spTree>
    <p:extLst>
      <p:ext uri="{BB962C8B-B14F-4D97-AF65-F5344CB8AC3E}">
        <p14:creationId xmlns:p14="http://schemas.microsoft.com/office/powerpoint/2010/main" val="2464023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g34f6f6a9aa8_0_161"/>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b="1"/>
              <a:t>Reference</a:t>
            </a:r>
            <a:endParaRPr/>
          </a:p>
        </p:txBody>
      </p:sp>
      <p:sp>
        <p:nvSpPr>
          <p:cNvPr id="160" name="Google Shape;160;g34f6f6a9aa8_0_161"/>
          <p:cNvSpPr txBox="1">
            <a:spLocks noGrp="1"/>
          </p:cNvSpPr>
          <p:nvPr>
            <p:ph type="body" idx="1"/>
          </p:nvPr>
        </p:nvSpPr>
        <p:spPr>
          <a:xfrm>
            <a:off x="1097280" y="1845733"/>
            <a:ext cx="10058400" cy="4487333"/>
          </a:xfrm>
          <a:prstGeom prst="rect">
            <a:avLst/>
          </a:prstGeom>
          <a:noFill/>
          <a:ln>
            <a:noFill/>
          </a:ln>
        </p:spPr>
        <p:txBody>
          <a:bodyPr spcFirstLastPara="1" wrap="square" lIns="0" tIns="45700" rIns="0" bIns="45700" anchor="t" anchorCtr="0">
            <a:noAutofit/>
          </a:bodyPr>
          <a:lstStyle/>
          <a:p>
            <a:pPr marL="171450" indent="-171450">
              <a:lnSpc>
                <a:spcPct val="120000"/>
              </a:lnSpc>
              <a:spcBef>
                <a:spcPts val="0"/>
              </a:spcBef>
              <a:buClr>
                <a:srgbClr val="212121"/>
              </a:buClr>
              <a:buSzPts val="2000"/>
              <a:buFont typeface="Arial" panose="020B0604020202020204" pitchFamily="34" charset="0"/>
              <a:buChar char="•"/>
            </a:pPr>
            <a:r>
              <a:rPr lang="en-US" sz="1050" dirty="0"/>
              <a:t>Artificial neural network (Water Research, 2022)Jiang, G., Wu, J., Weidhaas, J., Li, X., Chen, Y., Mueller, J., Li, J., Kumar, M., Zhou, X., Arora, S., Haramoto, E., </a:t>
            </a:r>
            <a:r>
              <a:rPr lang="en-US" sz="1050" dirty="0" err="1"/>
              <a:t>Sherchan</a:t>
            </a:r>
            <a:r>
              <a:rPr lang="en-US" sz="1050" dirty="0"/>
              <a:t>, S., Orive, G., </a:t>
            </a:r>
            <a:r>
              <a:rPr lang="en-US" sz="1050" dirty="0" err="1"/>
              <a:t>Lertxundi</a:t>
            </a:r>
            <a:r>
              <a:rPr lang="en-US" sz="1050" dirty="0"/>
              <a:t>, U., Honda, R., Kitajima, M., &amp; Jackson, G. (2022). Artificial neural network-based estimation of COVID-19 case numbers and effective reproduction rate using wastewater-based epidemiology. Water Research, 218, 118451.</a:t>
            </a:r>
            <a:br>
              <a:rPr lang="en-US" sz="1050" dirty="0"/>
            </a:br>
            <a:r>
              <a:rPr lang="en-US" sz="1050" dirty="0">
                <a:hlinkClick r:id="rId3"/>
              </a:rPr>
              <a:t>https://doi.org/10.1016/j.watres.2022.118451S0043135422004055</a:t>
            </a:r>
            <a:endParaRPr lang="en-US" sz="1050" dirty="0"/>
          </a:p>
          <a:p>
            <a:pPr marL="171450" indent="-171450">
              <a:lnSpc>
                <a:spcPct val="120000"/>
              </a:lnSpc>
              <a:spcBef>
                <a:spcPts val="0"/>
              </a:spcBef>
              <a:buClr>
                <a:srgbClr val="212121"/>
              </a:buClr>
              <a:buSzPts val="2000"/>
              <a:buFont typeface="Arial" panose="020B0604020202020204" pitchFamily="34" charset="0"/>
              <a:buChar char="•"/>
            </a:pPr>
            <a:r>
              <a:rPr lang="en-US" sz="1050" dirty="0"/>
              <a:t>Time series ML WBE forecasting (STOTEN, 2023)Lai, M., Cao, Y., Wulff, S. S., Robinson, T. J., McGuire, A., &amp; Bisha, B. (2023). A time series based machine learning strategy for wastewater-based forecasting and nowcasting of COVID-19 dynamics. Science of the Total Environment, 897, 165105.</a:t>
            </a:r>
            <a:br>
              <a:rPr lang="en-US" sz="1050" dirty="0"/>
            </a:br>
            <a:r>
              <a:rPr lang="en-US" sz="1050" dirty="0">
                <a:hlinkClick r:id="rId4"/>
              </a:rPr>
              <a:t>h</a:t>
            </a:r>
            <a:r>
              <a:rPr lang="en-US" sz="1050" dirty="0">
                <a:hlinkClick r:id="rId4"/>
              </a:rPr>
              <a:t>ttps://doi.org/10.1016/j.scitotenv.2023.165105S0048969723037282</a:t>
            </a:r>
            <a:endParaRPr lang="en-US" sz="1050" dirty="0"/>
          </a:p>
          <a:p>
            <a:pPr marL="171450" indent="-171450">
              <a:lnSpc>
                <a:spcPct val="120000"/>
              </a:lnSpc>
              <a:spcBef>
                <a:spcPts val="0"/>
              </a:spcBef>
              <a:buClr>
                <a:srgbClr val="212121"/>
              </a:buClr>
              <a:buSzPts val="2000"/>
              <a:buFont typeface="Arial" panose="020B0604020202020204" pitchFamily="34" charset="0"/>
              <a:buChar char="•"/>
            </a:pPr>
            <a:r>
              <a:rPr lang="en-US" sz="1050" dirty="0"/>
              <a:t>Multi-city GAM hospitalization forecasting (STOTEN, 2025)Rankin, N., Saiyed, S., Du, H., &amp; Gardner, L. M. (2025). A multi-city COVID-19 forecasting model utilizing wastewater-based epidemiology. Science of the Total Environment, 960, 178172.</a:t>
            </a:r>
            <a:br>
              <a:rPr lang="en-US" sz="1050" dirty="0"/>
            </a:br>
            <a:r>
              <a:rPr lang="en-US" sz="1050" dirty="0">
                <a:hlinkClick r:id="rId5"/>
              </a:rPr>
              <a:t>https://doi.org/10.1016/j.scitotenv.2024.178172S004896972408330X</a:t>
            </a:r>
            <a:endParaRPr lang="en-US" sz="1050" dirty="0"/>
          </a:p>
          <a:p>
            <a:pPr marL="171450" indent="-171450">
              <a:lnSpc>
                <a:spcPct val="120000"/>
              </a:lnSpc>
              <a:spcBef>
                <a:spcPts val="0"/>
              </a:spcBef>
              <a:buClr>
                <a:srgbClr val="212121"/>
              </a:buClr>
              <a:buSzPts val="2000"/>
              <a:buFont typeface="Arial" panose="020B0604020202020204" pitchFamily="34" charset="0"/>
              <a:buChar char="•"/>
            </a:pPr>
            <a:r>
              <a:rPr lang="en-US" sz="1050" dirty="0"/>
              <a:t>Copula time-series forecasting (STOTEN, 2023)Jeng, H. A., Singh, R., Diawara, N., Curtis, K., Gonzalez, R., Welch, N., Jackson, C., Jurgens, D., &amp; Adikari, S. (2023). Application of wastewater-based surveillance and copula time-series model for COVID-19 forecasts. Science of the Total Environment, 885, 163655. </a:t>
            </a:r>
            <a:r>
              <a:rPr lang="en-US" sz="1050" dirty="0">
                <a:hlinkClick r:id="rId6"/>
              </a:rPr>
              <a:t>https://doi.org/10.1016/j.scitotenv.2023.163655</a:t>
            </a:r>
            <a:endParaRPr lang="en-US" sz="1050" dirty="0"/>
          </a:p>
          <a:p>
            <a:pPr marL="171450" indent="-171450">
              <a:lnSpc>
                <a:spcPct val="120000"/>
              </a:lnSpc>
              <a:spcBef>
                <a:spcPts val="0"/>
              </a:spcBef>
              <a:buClr>
                <a:srgbClr val="212121"/>
              </a:buClr>
              <a:buSzPts val="2000"/>
              <a:buFont typeface="Arial" panose="020B0604020202020204" pitchFamily="34" charset="0"/>
              <a:buChar char="•"/>
            </a:pPr>
            <a:r>
              <a:rPr lang="en-US" sz="1050" dirty="0"/>
              <a:t>Jiang, G., Liu, Y., Tang, S., Kitajima, M., Haramoto, E., Arora, S., Choi, P. M., Jackson, G., D’Aoust, P. M., </a:t>
            </a:r>
            <a:r>
              <a:rPr lang="en-US" sz="1050" dirty="0" err="1"/>
              <a:t>Delatolla</a:t>
            </a:r>
            <a:r>
              <a:rPr lang="en-US" sz="1050" dirty="0"/>
              <a:t>, R., Zhang, S., Guo, Y., Wu, J., Chen, Y., Sharma, E., </a:t>
            </a:r>
            <a:r>
              <a:rPr lang="en-US" sz="1050" dirty="0" err="1"/>
              <a:t>Prosun</a:t>
            </a:r>
            <a:r>
              <a:rPr lang="en-US" sz="1050" dirty="0"/>
              <a:t>, T. A., Zhao, J., Kumar, M., Honda, R., Ahmed, W., &amp; Meiman, J. (2023). </a:t>
            </a:r>
            <a:r>
              <a:rPr lang="en-US" sz="1050" i="1" dirty="0"/>
              <a:t>Moving forward with COVID-19: Future research prospects of wastewater-based epidemiology methodologies and applications</a:t>
            </a:r>
            <a:r>
              <a:rPr lang="en-US" sz="1050" dirty="0"/>
              <a:t>. </a:t>
            </a:r>
            <a:r>
              <a:rPr lang="en-US" sz="1050" b="1" dirty="0"/>
              <a:t>Current Opinion in Environmental Science &amp; Health, 33</a:t>
            </a:r>
            <a:r>
              <a:rPr lang="en-US" sz="1050" dirty="0"/>
              <a:t>, 100458.</a:t>
            </a:r>
            <a:br>
              <a:rPr lang="en-US" sz="1050" dirty="0"/>
            </a:br>
            <a:r>
              <a:rPr lang="en-US" sz="1050" dirty="0">
                <a:hlinkClick r:id="rId7"/>
              </a:rPr>
              <a:t>https://doi.org/10.1016/j.coesh.2023.100458</a:t>
            </a:r>
            <a:endParaRPr lang="en-US" sz="1050" dirty="0"/>
          </a:p>
          <a:p>
            <a:pPr marL="171450" indent="-171450">
              <a:lnSpc>
                <a:spcPct val="120000"/>
              </a:lnSpc>
              <a:spcBef>
                <a:spcPts val="0"/>
              </a:spcBef>
              <a:buClr>
                <a:srgbClr val="212121"/>
              </a:buClr>
              <a:buSzPts val="2000"/>
              <a:buFont typeface="Arial" panose="020B0604020202020204" pitchFamily="34" charset="0"/>
              <a:buChar char="•"/>
            </a:pPr>
            <a:r>
              <a:rPr lang="en-US" sz="1050" dirty="0"/>
              <a:t>Ai, Y., He, F., Lancaster, E., &amp; Lee, J. (2022). Application of machine learning for multi-community COVID-19 outbreak predictions with wastewater surveillance. PLOS ONE, 17(11), e0277154.</a:t>
            </a:r>
            <a:br>
              <a:rPr lang="en-US" sz="1050" dirty="0"/>
            </a:br>
            <a:r>
              <a:rPr lang="en-US" sz="1050" dirty="0">
                <a:hlinkClick r:id="rId8"/>
              </a:rPr>
              <a:t>https://doi.org/10.1371/journal.pone.0277154</a:t>
            </a:r>
            <a:endParaRPr lang="en-US" sz="1050" dirty="0"/>
          </a:p>
          <a:p>
            <a:pPr marL="171450" indent="-171450">
              <a:lnSpc>
                <a:spcPct val="120000"/>
              </a:lnSpc>
              <a:spcBef>
                <a:spcPts val="0"/>
              </a:spcBef>
              <a:buClr>
                <a:srgbClr val="212121"/>
              </a:buClr>
              <a:buSzPts val="2000"/>
              <a:buFont typeface="Arial" panose="020B0604020202020204" pitchFamily="34" charset="0"/>
              <a:buChar char="•"/>
            </a:pPr>
            <a:r>
              <a:rPr lang="en-US" sz="1050" dirty="0"/>
              <a:t>Li, X., Liu, H., Gao, L., Wang, Y., Zhang, J., Li, Y., et al. (2023). Wastewater-based epidemiology predicts COVID-19-induced weekly new hospital admissions in over 150 USA counties. Nature Communications, 14, 4548.</a:t>
            </a:r>
            <a:br>
              <a:rPr lang="en-US" sz="1050" dirty="0"/>
            </a:br>
            <a:r>
              <a:rPr lang="en-US" sz="1050" dirty="0">
                <a:hlinkClick r:id="rId9"/>
              </a:rPr>
              <a:t>https://doi.org/10.1038/s41467-023-40305-x</a:t>
            </a:r>
            <a:endParaRPr lang="en-US" sz="1050" dirty="0"/>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1928</TotalTime>
  <Words>6604</Words>
  <Application>Microsoft Office PowerPoint</Application>
  <PresentationFormat>Widescreen</PresentationFormat>
  <Paragraphs>484</Paragraphs>
  <Slides>14</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Retrospect</vt:lpstr>
      <vt:lpstr>IFML Research Idea Presentation  Meta-Learning for County-Level COVID-19 Prevalence Prediction from Wastewater Surveillance Data</vt:lpstr>
      <vt:lpstr>Introduction</vt:lpstr>
      <vt:lpstr>Li et al Model Overview</vt:lpstr>
      <vt:lpstr>Li et al. Datasets</vt:lpstr>
      <vt:lpstr>WBE Data</vt:lpstr>
      <vt:lpstr>HHS Data</vt:lpstr>
      <vt:lpstr>Other Models</vt:lpstr>
      <vt:lpstr>Results so far…</vt:lpstr>
      <vt:lpstr>Results so far…</vt:lpstr>
      <vt:lpstr>Why Meta-Learning?</vt:lpstr>
      <vt:lpstr>Meta-Learning Plan</vt:lpstr>
      <vt:lpstr>Novelty</vt:lpstr>
      <vt:lpstr>Continual Learning?</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Eric Kim</dc:creator>
  <cp:lastModifiedBy>Eric Kim</cp:lastModifiedBy>
  <cp:revision>2</cp:revision>
  <dcterms:created xsi:type="dcterms:W3CDTF">2024-09-23T01:19:48Z</dcterms:created>
  <dcterms:modified xsi:type="dcterms:W3CDTF">2025-11-25T08:38:16Z</dcterms:modified>
</cp:coreProperties>
</file>