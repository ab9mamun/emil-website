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9"/>
  </p:notesMasterIdLst>
  <p:sldIdLst>
    <p:sldId id="1164" r:id="rId2"/>
    <p:sldId id="1221" r:id="rId3"/>
    <p:sldId id="1234" r:id="rId4"/>
    <p:sldId id="1235" r:id="rId5"/>
    <p:sldId id="1236" r:id="rId6"/>
    <p:sldId id="1238" r:id="rId7"/>
    <p:sldId id="123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8158" autoAdjust="0"/>
  </p:normalViewPr>
  <p:slideViewPr>
    <p:cSldViewPr snapToGrid="0">
      <p:cViewPr varScale="1">
        <p:scale>
          <a:sx n="88" d="100"/>
          <a:sy n="88" d="100"/>
        </p:scale>
        <p:origin x="14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c Kim" userId="f3af028d46f0bb00" providerId="LiveId" clId="{1E1C29BC-925D-412A-8126-C21905786C34}"/>
    <pc:docChg chg="undo custSel addSld delSld modSld sldOrd">
      <pc:chgData name="Eric Kim" userId="f3af028d46f0bb00" providerId="LiveId" clId="{1E1C29BC-925D-412A-8126-C21905786C34}" dt="2026-04-15T17:11:29.736" v="19767" actId="47"/>
      <pc:docMkLst>
        <pc:docMk/>
      </pc:docMkLst>
      <pc:sldChg chg="modSp mod">
        <pc:chgData name="Eric Kim" userId="f3af028d46f0bb00" providerId="LiveId" clId="{1E1C29BC-925D-412A-8126-C21905786C34}" dt="2026-04-15T07:55:57.440" v="8253" actId="20577"/>
        <pc:sldMkLst>
          <pc:docMk/>
          <pc:sldMk cId="2955960054" sldId="1164"/>
        </pc:sldMkLst>
        <pc:spChg chg="mod">
          <ac:chgData name="Eric Kim" userId="f3af028d46f0bb00" providerId="LiveId" clId="{1E1C29BC-925D-412A-8126-C21905786C34}" dt="2026-04-15T07:55:57.440" v="8253" actId="20577"/>
          <ac:spMkLst>
            <pc:docMk/>
            <pc:sldMk cId="2955960054" sldId="1164"/>
            <ac:spMk id="2" creationId="{86502007-200B-2BD2-9EB0-5EE2A6A353A4}"/>
          </ac:spMkLst>
        </pc:spChg>
      </pc:sldChg>
      <pc:sldChg chg="delSp modSp mod delAnim modAnim modNotesTx">
        <pc:chgData name="Eric Kim" userId="f3af028d46f0bb00" providerId="LiveId" clId="{1E1C29BC-925D-412A-8126-C21905786C34}" dt="2026-04-15T15:25:05.365" v="15749" actId="113"/>
        <pc:sldMkLst>
          <pc:docMk/>
          <pc:sldMk cId="2961856518" sldId="1221"/>
        </pc:sldMkLst>
        <pc:spChg chg="mod">
          <ac:chgData name="Eric Kim" userId="f3af028d46f0bb00" providerId="LiveId" clId="{1E1C29BC-925D-412A-8126-C21905786C34}" dt="2026-04-15T07:56:14.351" v="8294" actId="5793"/>
          <ac:spMkLst>
            <pc:docMk/>
            <pc:sldMk cId="2961856518" sldId="1221"/>
            <ac:spMk id="2" creationId="{E7A6C277-AB7B-C2B0-5AD1-FBA2B00B1185}"/>
          </ac:spMkLst>
        </pc:spChg>
        <pc:spChg chg="mod">
          <ac:chgData name="Eric Kim" userId="f3af028d46f0bb00" providerId="LiveId" clId="{1E1C29BC-925D-412A-8126-C21905786C34}" dt="2026-04-15T15:25:05.365" v="15749" actId="113"/>
          <ac:spMkLst>
            <pc:docMk/>
            <pc:sldMk cId="2961856518" sldId="1221"/>
            <ac:spMk id="6" creationId="{D12C8A46-FD83-73BA-180A-606EAA23C58E}"/>
          </ac:spMkLst>
        </pc:spChg>
      </pc:sldChg>
      <pc:sldChg chg="del">
        <pc:chgData name="Eric Kim" userId="f3af028d46f0bb00" providerId="LiveId" clId="{1E1C29BC-925D-412A-8126-C21905786C34}" dt="2026-04-15T17:06:22.709" v="18630" actId="47"/>
        <pc:sldMkLst>
          <pc:docMk/>
          <pc:sldMk cId="2613995854" sldId="1222"/>
        </pc:sldMkLst>
      </pc:sldChg>
      <pc:sldChg chg="del">
        <pc:chgData name="Eric Kim" userId="f3af028d46f0bb00" providerId="LiveId" clId="{1E1C29BC-925D-412A-8126-C21905786C34}" dt="2026-04-15T17:06:22.160" v="18629" actId="47"/>
        <pc:sldMkLst>
          <pc:docMk/>
          <pc:sldMk cId="3233707881" sldId="1223"/>
        </pc:sldMkLst>
      </pc:sldChg>
      <pc:sldChg chg="del">
        <pc:chgData name="Eric Kim" userId="f3af028d46f0bb00" providerId="LiveId" clId="{1E1C29BC-925D-412A-8126-C21905786C34}" dt="2026-04-15T17:06:21.530" v="18628" actId="47"/>
        <pc:sldMkLst>
          <pc:docMk/>
          <pc:sldMk cId="2610431545" sldId="1224"/>
        </pc:sldMkLst>
      </pc:sldChg>
      <pc:sldChg chg="del">
        <pc:chgData name="Eric Kim" userId="f3af028d46f0bb00" providerId="LiveId" clId="{1E1C29BC-925D-412A-8126-C21905786C34}" dt="2026-04-15T17:06:20.641" v="18627" actId="47"/>
        <pc:sldMkLst>
          <pc:docMk/>
          <pc:sldMk cId="3903219413" sldId="1225"/>
        </pc:sldMkLst>
      </pc:sldChg>
      <pc:sldChg chg="del">
        <pc:chgData name="Eric Kim" userId="f3af028d46f0bb00" providerId="LiveId" clId="{1E1C29BC-925D-412A-8126-C21905786C34}" dt="2026-04-15T17:06:20.108" v="18626" actId="47"/>
        <pc:sldMkLst>
          <pc:docMk/>
          <pc:sldMk cId="1921974994" sldId="1226"/>
        </pc:sldMkLst>
      </pc:sldChg>
      <pc:sldChg chg="del">
        <pc:chgData name="Eric Kim" userId="f3af028d46f0bb00" providerId="LiveId" clId="{1E1C29BC-925D-412A-8126-C21905786C34}" dt="2026-04-15T17:06:19.556" v="18625" actId="47"/>
        <pc:sldMkLst>
          <pc:docMk/>
          <pc:sldMk cId="72928179" sldId="1227"/>
        </pc:sldMkLst>
      </pc:sldChg>
      <pc:sldChg chg="del">
        <pc:chgData name="Eric Kim" userId="f3af028d46f0bb00" providerId="LiveId" clId="{1E1C29BC-925D-412A-8126-C21905786C34}" dt="2026-04-15T17:06:18.786" v="18624" actId="47"/>
        <pc:sldMkLst>
          <pc:docMk/>
          <pc:sldMk cId="2153509314" sldId="1228"/>
        </pc:sldMkLst>
      </pc:sldChg>
      <pc:sldChg chg="del">
        <pc:chgData name="Eric Kim" userId="f3af028d46f0bb00" providerId="LiveId" clId="{1E1C29BC-925D-412A-8126-C21905786C34}" dt="2026-04-15T17:06:17.875" v="18623" actId="47"/>
        <pc:sldMkLst>
          <pc:docMk/>
          <pc:sldMk cId="2270176086" sldId="1229"/>
        </pc:sldMkLst>
      </pc:sldChg>
      <pc:sldChg chg="del">
        <pc:chgData name="Eric Kim" userId="f3af028d46f0bb00" providerId="LiveId" clId="{1E1C29BC-925D-412A-8126-C21905786C34}" dt="2026-04-15T17:06:17.024" v="18622" actId="47"/>
        <pc:sldMkLst>
          <pc:docMk/>
          <pc:sldMk cId="3481706199" sldId="1230"/>
        </pc:sldMkLst>
      </pc:sldChg>
      <pc:sldChg chg="del">
        <pc:chgData name="Eric Kim" userId="f3af028d46f0bb00" providerId="LiveId" clId="{1E1C29BC-925D-412A-8126-C21905786C34}" dt="2026-04-15T17:06:16.454" v="18621" actId="47"/>
        <pc:sldMkLst>
          <pc:docMk/>
          <pc:sldMk cId="2061418678" sldId="1231"/>
        </pc:sldMkLst>
      </pc:sldChg>
      <pc:sldChg chg="del">
        <pc:chgData name="Eric Kim" userId="f3af028d46f0bb00" providerId="LiveId" clId="{1E1C29BC-925D-412A-8126-C21905786C34}" dt="2026-04-15T17:11:29.736" v="19767" actId="47"/>
        <pc:sldMkLst>
          <pc:docMk/>
          <pc:sldMk cId="835365018" sldId="1232"/>
        </pc:sldMkLst>
      </pc:sldChg>
      <pc:sldChg chg="modSp add del mod">
        <pc:chgData name="Eric Kim" userId="f3af028d46f0bb00" providerId="LiveId" clId="{1E1C29BC-925D-412A-8126-C21905786C34}" dt="2026-04-15T17:07:47.464" v="19001" actId="47"/>
        <pc:sldMkLst>
          <pc:docMk/>
          <pc:sldMk cId="3098949252" sldId="1233"/>
        </pc:sldMkLst>
        <pc:spChg chg="mod">
          <ac:chgData name="Eric Kim" userId="f3af028d46f0bb00" providerId="LiveId" clId="{1E1C29BC-925D-412A-8126-C21905786C34}" dt="2026-04-15T17:06:07.812" v="18620" actId="27636"/>
          <ac:spMkLst>
            <pc:docMk/>
            <pc:sldMk cId="3098949252" sldId="1233"/>
            <ac:spMk id="6" creationId="{4259B48A-C7E6-70E6-91CC-324357A6DB50}"/>
          </ac:spMkLst>
        </pc:spChg>
      </pc:sldChg>
      <pc:sldChg chg="modSp add mod modNotesTx">
        <pc:chgData name="Eric Kim" userId="f3af028d46f0bb00" providerId="LiveId" clId="{1E1C29BC-925D-412A-8126-C21905786C34}" dt="2026-04-15T09:21:15.488" v="13165" actId="20577"/>
        <pc:sldMkLst>
          <pc:docMk/>
          <pc:sldMk cId="2463985021" sldId="1234"/>
        </pc:sldMkLst>
        <pc:spChg chg="mod">
          <ac:chgData name="Eric Kim" userId="f3af028d46f0bb00" providerId="LiveId" clId="{1E1C29BC-925D-412A-8126-C21905786C34}" dt="2026-04-15T08:14:51.547" v="10422" actId="20577"/>
          <ac:spMkLst>
            <pc:docMk/>
            <pc:sldMk cId="2463985021" sldId="1234"/>
            <ac:spMk id="2" creationId="{605C50C7-F22C-A483-1A0D-8972324D771D}"/>
          </ac:spMkLst>
        </pc:spChg>
        <pc:spChg chg="mod">
          <ac:chgData name="Eric Kim" userId="f3af028d46f0bb00" providerId="LiveId" clId="{1E1C29BC-925D-412A-8126-C21905786C34}" dt="2026-04-15T08:29:32.296" v="10991" actId="20577"/>
          <ac:spMkLst>
            <pc:docMk/>
            <pc:sldMk cId="2463985021" sldId="1234"/>
            <ac:spMk id="6" creationId="{FCA01F43-AEE4-951E-1FD2-D7DA5DFB51CE}"/>
          </ac:spMkLst>
        </pc:spChg>
      </pc:sldChg>
      <pc:sldChg chg="modSp add mod modNotesTx">
        <pc:chgData name="Eric Kim" userId="f3af028d46f0bb00" providerId="LiveId" clId="{1E1C29BC-925D-412A-8126-C21905786C34}" dt="2026-04-15T15:23:18.058" v="15685" actId="20577"/>
        <pc:sldMkLst>
          <pc:docMk/>
          <pc:sldMk cId="1416622468" sldId="1235"/>
        </pc:sldMkLst>
        <pc:spChg chg="mod">
          <ac:chgData name="Eric Kim" userId="f3af028d46f0bb00" providerId="LiveId" clId="{1E1C29BC-925D-412A-8126-C21905786C34}" dt="2026-04-15T15:13:21.385" v="13989" actId="20577"/>
          <ac:spMkLst>
            <pc:docMk/>
            <pc:sldMk cId="1416622468" sldId="1235"/>
            <ac:spMk id="2" creationId="{FD29103D-FC90-DB4B-57F6-CA0B57B77C7D}"/>
          </ac:spMkLst>
        </pc:spChg>
        <pc:spChg chg="mod">
          <ac:chgData name="Eric Kim" userId="f3af028d46f0bb00" providerId="LiveId" clId="{1E1C29BC-925D-412A-8126-C21905786C34}" dt="2026-04-15T15:22:39.912" v="15489" actId="20577"/>
          <ac:spMkLst>
            <pc:docMk/>
            <pc:sldMk cId="1416622468" sldId="1235"/>
            <ac:spMk id="6" creationId="{A81B19EE-3104-9AE8-1228-5DE6A9A4B5A0}"/>
          </ac:spMkLst>
        </pc:spChg>
      </pc:sldChg>
      <pc:sldChg chg="addSp modSp add mod modNotesTx">
        <pc:chgData name="Eric Kim" userId="f3af028d46f0bb00" providerId="LiveId" clId="{1E1C29BC-925D-412A-8126-C21905786C34}" dt="2026-04-15T15:35:23.062" v="17366" actId="1076"/>
        <pc:sldMkLst>
          <pc:docMk/>
          <pc:sldMk cId="1587859243" sldId="1236"/>
        </pc:sldMkLst>
        <pc:spChg chg="mod">
          <ac:chgData name="Eric Kim" userId="f3af028d46f0bb00" providerId="LiveId" clId="{1E1C29BC-925D-412A-8126-C21905786C34}" dt="2026-04-15T15:24:05.510" v="15715" actId="20577"/>
          <ac:spMkLst>
            <pc:docMk/>
            <pc:sldMk cId="1587859243" sldId="1236"/>
            <ac:spMk id="2" creationId="{76BDD6ED-2F11-E8FE-6541-B6DD47163C21}"/>
          </ac:spMkLst>
        </pc:spChg>
        <pc:spChg chg="mod">
          <ac:chgData name="Eric Kim" userId="f3af028d46f0bb00" providerId="LiveId" clId="{1E1C29BC-925D-412A-8126-C21905786C34}" dt="2026-04-15T15:28:11.454" v="16182" actId="20577"/>
          <ac:spMkLst>
            <pc:docMk/>
            <pc:sldMk cId="1587859243" sldId="1236"/>
            <ac:spMk id="6" creationId="{AF4F728A-DF92-32C6-EEDA-E6AEFA1E6C33}"/>
          </ac:spMkLst>
        </pc:spChg>
        <pc:picChg chg="add mod">
          <ac:chgData name="Eric Kim" userId="f3af028d46f0bb00" providerId="LiveId" clId="{1E1C29BC-925D-412A-8126-C21905786C34}" dt="2026-04-15T15:35:23.062" v="17366" actId="1076"/>
          <ac:picMkLst>
            <pc:docMk/>
            <pc:sldMk cId="1587859243" sldId="1236"/>
            <ac:picMk id="5" creationId="{7BF6616B-7DD9-2B53-13F7-F9795B7AC788}"/>
          </ac:picMkLst>
        </pc:picChg>
      </pc:sldChg>
      <pc:sldChg chg="modSp add del mod ord">
        <pc:chgData name="Eric Kim" userId="f3af028d46f0bb00" providerId="LiveId" clId="{1E1C29BC-925D-412A-8126-C21905786C34}" dt="2026-04-15T17:08:05.389" v="19003" actId="47"/>
        <pc:sldMkLst>
          <pc:docMk/>
          <pc:sldMk cId="577204045" sldId="1237"/>
        </pc:sldMkLst>
        <pc:spChg chg="mod">
          <ac:chgData name="Eric Kim" userId="f3af028d46f0bb00" providerId="LiveId" clId="{1E1C29BC-925D-412A-8126-C21905786C34}" dt="2026-04-15T15:24:43.841" v="15734" actId="27636"/>
          <ac:spMkLst>
            <pc:docMk/>
            <pc:sldMk cId="577204045" sldId="1237"/>
            <ac:spMk id="6" creationId="{778943CA-7B7D-ECC6-7756-E35C484D07DE}"/>
          </ac:spMkLst>
        </pc:spChg>
      </pc:sldChg>
      <pc:sldChg chg="addSp delSp modSp add mod modNotesTx">
        <pc:chgData name="Eric Kim" userId="f3af028d46f0bb00" providerId="LiveId" clId="{1E1C29BC-925D-412A-8126-C21905786C34}" dt="2026-04-15T17:07:44.758" v="19000" actId="20577"/>
        <pc:sldMkLst>
          <pc:docMk/>
          <pc:sldMk cId="3631276041" sldId="1238"/>
        </pc:sldMkLst>
        <pc:spChg chg="mod">
          <ac:chgData name="Eric Kim" userId="f3af028d46f0bb00" providerId="LiveId" clId="{1E1C29BC-925D-412A-8126-C21905786C34}" dt="2026-04-15T15:35:31.304" v="17379" actId="20577"/>
          <ac:spMkLst>
            <pc:docMk/>
            <pc:sldMk cId="3631276041" sldId="1238"/>
            <ac:spMk id="2" creationId="{27B02F6C-45F2-9A78-CE1D-EE4C8E1C8C11}"/>
          </ac:spMkLst>
        </pc:spChg>
        <pc:spChg chg="add del">
          <ac:chgData name="Eric Kim" userId="f3af028d46f0bb00" providerId="LiveId" clId="{1E1C29BC-925D-412A-8126-C21905786C34}" dt="2026-04-15T16:05:23.876" v="18074" actId="478"/>
          <ac:spMkLst>
            <pc:docMk/>
            <pc:sldMk cId="3631276041" sldId="1238"/>
            <ac:spMk id="3" creationId="{80F3E51F-0C97-4F24-B686-438419B75F23}"/>
          </ac:spMkLst>
        </pc:spChg>
        <pc:spChg chg="mod">
          <ac:chgData name="Eric Kim" userId="f3af028d46f0bb00" providerId="LiveId" clId="{1E1C29BC-925D-412A-8126-C21905786C34}" dt="2026-04-15T17:06:40.779" v="18672" actId="20577"/>
          <ac:spMkLst>
            <pc:docMk/>
            <pc:sldMk cId="3631276041" sldId="1238"/>
            <ac:spMk id="6" creationId="{6D03DBA0-0AE0-B052-A6C1-FEB8A15611A0}"/>
          </ac:spMkLst>
        </pc:spChg>
        <pc:spChg chg="add del mod">
          <ac:chgData name="Eric Kim" userId="f3af028d46f0bb00" providerId="LiveId" clId="{1E1C29BC-925D-412A-8126-C21905786C34}" dt="2026-04-15T16:06:26.595" v="18098" actId="478"/>
          <ac:spMkLst>
            <pc:docMk/>
            <pc:sldMk cId="3631276041" sldId="1238"/>
            <ac:spMk id="7" creationId="{24BB1A6F-3960-C153-C8CF-926829C65931}"/>
          </ac:spMkLst>
        </pc:spChg>
        <pc:spChg chg="add mod">
          <ac:chgData name="Eric Kim" userId="f3af028d46f0bb00" providerId="LiveId" clId="{1E1C29BC-925D-412A-8126-C21905786C34}" dt="2026-04-15T16:07:23.295" v="18118" actId="1076"/>
          <ac:spMkLst>
            <pc:docMk/>
            <pc:sldMk cId="3631276041" sldId="1238"/>
            <ac:spMk id="9" creationId="{A52FA0A7-36AD-B082-CFB0-9D2DA45C26C8}"/>
          </ac:spMkLst>
        </pc:spChg>
        <pc:picChg chg="add del mod">
          <ac:chgData name="Eric Kim" userId="f3af028d46f0bb00" providerId="LiveId" clId="{1E1C29BC-925D-412A-8126-C21905786C34}" dt="2026-04-15T16:04:44.134" v="18072" actId="478"/>
          <ac:picMkLst>
            <pc:docMk/>
            <pc:sldMk cId="3631276041" sldId="1238"/>
            <ac:picMk id="1026" creationId="{58F656B3-C758-F9B0-E83F-FA9E60ABC5A5}"/>
          </ac:picMkLst>
        </pc:picChg>
        <pc:picChg chg="add mod">
          <ac:chgData name="Eric Kim" userId="f3af028d46f0bb00" providerId="LiveId" clId="{1E1C29BC-925D-412A-8126-C21905786C34}" dt="2026-04-15T16:06:37.996" v="18104" actId="1076"/>
          <ac:picMkLst>
            <pc:docMk/>
            <pc:sldMk cId="3631276041" sldId="1238"/>
            <ac:picMk id="1030" creationId="{C1FD2C8E-E623-4226-6476-DACA84DC0F73}"/>
          </ac:picMkLst>
        </pc:picChg>
      </pc:sldChg>
      <pc:sldChg chg="delSp modSp add mod modNotesTx">
        <pc:chgData name="Eric Kim" userId="f3af028d46f0bb00" providerId="LiveId" clId="{1E1C29BC-925D-412A-8126-C21905786C34}" dt="2026-04-15T17:11:26.980" v="19766" actId="20577"/>
        <pc:sldMkLst>
          <pc:docMk/>
          <pc:sldMk cId="499700727" sldId="1239"/>
        </pc:sldMkLst>
        <pc:spChg chg="mod">
          <ac:chgData name="Eric Kim" userId="f3af028d46f0bb00" providerId="LiveId" clId="{1E1C29BC-925D-412A-8126-C21905786C34}" dt="2026-04-15T17:08:10.369" v="19016" actId="20577"/>
          <ac:spMkLst>
            <pc:docMk/>
            <pc:sldMk cId="499700727" sldId="1239"/>
            <ac:spMk id="2" creationId="{12A060FD-5E01-8B7B-BA50-DA6E036EBB1A}"/>
          </ac:spMkLst>
        </pc:spChg>
        <pc:spChg chg="mod">
          <ac:chgData name="Eric Kim" userId="f3af028d46f0bb00" providerId="LiveId" clId="{1E1C29BC-925D-412A-8126-C21905786C34}" dt="2026-04-15T17:08:36.751" v="19078" actId="20577"/>
          <ac:spMkLst>
            <pc:docMk/>
            <pc:sldMk cId="499700727" sldId="1239"/>
            <ac:spMk id="6" creationId="{61540C4E-8142-A88E-989C-A2684F4F574D}"/>
          </ac:spMkLst>
        </pc:spChg>
        <pc:spChg chg="del">
          <ac:chgData name="Eric Kim" userId="f3af028d46f0bb00" providerId="LiveId" clId="{1E1C29BC-925D-412A-8126-C21905786C34}" dt="2026-04-15T17:08:14.162" v="19018" actId="478"/>
          <ac:spMkLst>
            <pc:docMk/>
            <pc:sldMk cId="499700727" sldId="1239"/>
            <ac:spMk id="9" creationId="{EEF59D6F-85EC-602E-5935-BE99019D9B77}"/>
          </ac:spMkLst>
        </pc:spChg>
        <pc:picChg chg="del">
          <ac:chgData name="Eric Kim" userId="f3af028d46f0bb00" providerId="LiveId" clId="{1E1C29BC-925D-412A-8126-C21905786C34}" dt="2026-04-15T17:08:12.946" v="19017" actId="478"/>
          <ac:picMkLst>
            <pc:docMk/>
            <pc:sldMk cId="499700727" sldId="1239"/>
            <ac:picMk id="1030" creationId="{621B8112-6984-8F7F-A6A1-527CF039238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DE4566-0CFC-47D4-8A17-19A8B9F77107}"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9DA017-2F44-4592-94D8-18777622AEF3}" type="slidenum">
              <a:rPr lang="en-US" smtClean="0"/>
              <a:t>‹#›</a:t>
            </a:fld>
            <a:endParaRPr lang="en-US"/>
          </a:p>
        </p:txBody>
      </p:sp>
    </p:spTree>
    <p:extLst>
      <p:ext uri="{BB962C8B-B14F-4D97-AF65-F5344CB8AC3E}">
        <p14:creationId xmlns:p14="http://schemas.microsoft.com/office/powerpoint/2010/main" val="3212294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time I talked about how to do a scoping review and basically covered about as far as I personally got.</a:t>
            </a:r>
          </a:p>
          <a:p>
            <a:r>
              <a:rPr lang="en-US" dirty="0"/>
              <a:t>Since then I’ve managed to approach the final stages. Yay~</a:t>
            </a:r>
          </a:p>
          <a:p>
            <a:r>
              <a:rPr lang="en-US" dirty="0"/>
              <a:t>These last stages I also thought were important (and I’ve been only reading wastewater related papers so…) I’ll be covering essentially the second half of the scoping review.</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EB9CB0-8DBB-4A5D-B2E4-17BB9D895EB0}"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63198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t>
            </a:r>
          </a:p>
          <a:p>
            <a:r>
              <a:rPr lang="en-US" dirty="0"/>
              <a:t>So last time I had picked a topic, made the appropriate search strings, did the search, deduplicated it and was doing the initial screening.</a:t>
            </a:r>
          </a:p>
          <a:p>
            <a:r>
              <a:rPr lang="en-US" dirty="0"/>
              <a:t>Now I’ve finished the initial screening and went onto to better things.</a:t>
            </a:r>
          </a:p>
          <a:p>
            <a:r>
              <a:rPr lang="en-US" dirty="0"/>
              <a:t>Mainly actually reading and digesting the papers.</a:t>
            </a:r>
          </a:p>
          <a:p>
            <a:r>
              <a:rPr lang="en-US" dirty="0"/>
              <a:t>So if the first half I covered was about exploring and getting a rough feel of the topic,</a:t>
            </a:r>
          </a:p>
          <a:p>
            <a:r>
              <a:rPr lang="en-US" dirty="0"/>
              <a:t>This latter half would actually be getting to know about the topic.</a:t>
            </a:r>
          </a:p>
          <a:p>
            <a:endParaRPr lang="en-US" dirty="0"/>
          </a:p>
          <a:p>
            <a:r>
              <a:rPr lang="en-US" dirty="0"/>
              <a:t>The final screening is what it says on the tin, you do a final screening of the papers you approved so far.</a:t>
            </a:r>
          </a:p>
          <a:p>
            <a:r>
              <a:rPr lang="en-US" dirty="0"/>
              <a:t>Like you actually fully read them through, or at least make sure it fulfills your requirements.</a:t>
            </a:r>
          </a:p>
          <a:p>
            <a:r>
              <a:rPr lang="en-US" dirty="0"/>
              <a:t>Paper chaining is searching for more papers through the ones you approved.</a:t>
            </a:r>
          </a:p>
          <a:p>
            <a:r>
              <a:rPr lang="en-US" dirty="0"/>
              <a:t>Data extraction and synthesis means to extract data from the paper and put it together in an informative way.</a:t>
            </a:r>
          </a:p>
          <a:p>
            <a:r>
              <a:rPr lang="en-US" dirty="0"/>
              <a:t>Then you take all this and write a paper.</a:t>
            </a:r>
          </a:p>
        </p:txBody>
      </p:sp>
      <p:sp>
        <p:nvSpPr>
          <p:cNvPr id="4" name="Slide Number Placeholder 3"/>
          <p:cNvSpPr>
            <a:spLocks noGrp="1"/>
          </p:cNvSpPr>
          <p:nvPr>
            <p:ph type="sldNum" sz="quarter" idx="5"/>
          </p:nvPr>
        </p:nvSpPr>
        <p:spPr/>
        <p:txBody>
          <a:bodyPr/>
          <a:lstStyle/>
          <a:p>
            <a:fld id="{369DA017-2F44-4592-94D8-18777622AEF3}" type="slidenum">
              <a:rPr lang="en-US" smtClean="0"/>
              <a:t>2</a:t>
            </a:fld>
            <a:endParaRPr lang="en-US"/>
          </a:p>
        </p:txBody>
      </p:sp>
    </p:spTree>
    <p:extLst>
      <p:ext uri="{BB962C8B-B14F-4D97-AF65-F5344CB8AC3E}">
        <p14:creationId xmlns:p14="http://schemas.microsoft.com/office/powerpoint/2010/main" val="27925961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0AC6F-CA66-15CE-AA0C-B4F9FEE3B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76B25-4485-FBA5-515C-0FAE20968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72DE79-DF83-85FA-00E7-3C17373FE54D}"/>
              </a:ext>
            </a:extLst>
          </p:cNvPr>
          <p:cNvSpPr>
            <a:spLocks noGrp="1"/>
          </p:cNvSpPr>
          <p:nvPr>
            <p:ph type="body" idx="1"/>
          </p:nvPr>
        </p:nvSpPr>
        <p:spPr/>
        <p:txBody>
          <a:bodyPr/>
          <a:lstStyle/>
          <a:p>
            <a:r>
              <a:rPr lang="en-US" dirty="0"/>
              <a:t>So… I don’t quite remember if I showed you guys the screening criteria for my scoping review.</a:t>
            </a:r>
          </a:p>
          <a:p>
            <a:r>
              <a:rPr lang="en-US" dirty="0"/>
              <a:t>Anyone remember?</a:t>
            </a:r>
          </a:p>
          <a:p>
            <a:r>
              <a:rPr lang="en-US" dirty="0"/>
              <a:t>*If they did, skip. If not continue*</a:t>
            </a:r>
          </a:p>
          <a:p>
            <a:r>
              <a:rPr lang="en-US" dirty="0"/>
              <a:t>Ok. So basically, the way you approach the criteria for a scoping review, following the PRISMA standard, is to create a PCC.</a:t>
            </a:r>
          </a:p>
          <a:p>
            <a:r>
              <a:rPr lang="en-US" dirty="0"/>
              <a:t>What I have here on the slide is the VERY basic portion, I’ll show you all the actual PCC I am using.</a:t>
            </a:r>
          </a:p>
          <a:p>
            <a:r>
              <a:rPr lang="en-US" dirty="0"/>
              <a:t>Essentially, the PCC is a way for you to target the specific papers you are looking for. What kind of population is the paper talking about, this doesn’t necessarily mean like human vs animal, but could be like specific population groups. Concept is just what subject you are looking at. Finally, context is what kind of well, the context in which the subject your looking for should be in.</a:t>
            </a:r>
          </a:p>
          <a:p>
            <a:r>
              <a:rPr lang="en-US" dirty="0"/>
              <a:t>Then on my document I also have the pre-screening rules and exact reasons of exclusion.</a:t>
            </a:r>
          </a:p>
          <a:p>
            <a:r>
              <a:rPr lang="en-US" dirty="0"/>
              <a:t>It’s very important that the PCC, screening rules and exclusion reasons are VERY clear.</a:t>
            </a:r>
          </a:p>
          <a:p>
            <a:r>
              <a:rPr lang="en-US" dirty="0"/>
              <a:t>When you get to writing the paper based off the screening, you are essentially writing all this out AND defending your logic as to why you wording something in a specific way.</a:t>
            </a:r>
          </a:p>
          <a:p>
            <a:endParaRPr lang="en-US" dirty="0"/>
          </a:p>
          <a:p>
            <a:r>
              <a:rPr lang="en-US" dirty="0"/>
              <a:t>Open the Scoping Document.</a:t>
            </a:r>
          </a:p>
          <a:p>
            <a:r>
              <a:rPr lang="en-US" dirty="0"/>
              <a:t>Here you can see in my PCC that I have listed exactly what kind of requirements have to be met for each section.</a:t>
            </a:r>
          </a:p>
          <a:p>
            <a:r>
              <a:rPr lang="en-US" dirty="0"/>
              <a:t>Read out parts of PCC..</a:t>
            </a:r>
          </a:p>
          <a:p>
            <a:endParaRPr lang="en-US" dirty="0"/>
          </a:p>
          <a:p>
            <a:r>
              <a:rPr lang="en-US" dirty="0"/>
              <a:t>So ok, so in the PCC I have things that I explicitly include and others that I exclude. There is also a section for maybe that is relevant for </a:t>
            </a:r>
          </a:p>
          <a:p>
            <a:r>
              <a:rPr lang="en-US" dirty="0"/>
              <a:t>Pretty sure I showed you all the search strings…</a:t>
            </a:r>
          </a:p>
          <a:p>
            <a:endParaRPr lang="en-US" dirty="0"/>
          </a:p>
          <a:p>
            <a:r>
              <a:rPr lang="en-US" dirty="0"/>
              <a:t>Now I have the pre-screening rules. I also learned that these pre-screening rules are essentially rules that I follow for both initial and final screening. Might be because of how detailed mine is, because otherwise you would be refining it as you go. (Which if you do then you have to do your screening again…)</a:t>
            </a:r>
          </a:p>
          <a:p>
            <a:endParaRPr lang="en-US" dirty="0"/>
          </a:p>
          <a:p>
            <a:r>
              <a:rPr lang="en-US" dirty="0"/>
              <a:t>Then I have exact exclusion reasons, ideally every single one of your papers should fit in one of the categories you set. This is also important because later on your make a flow chart of how many papers were excluded due to reason a/b and so on, therefore this is really nice to have.</a:t>
            </a:r>
          </a:p>
        </p:txBody>
      </p:sp>
      <p:sp>
        <p:nvSpPr>
          <p:cNvPr id="4" name="Slide Number Placeholder 3">
            <a:extLst>
              <a:ext uri="{FF2B5EF4-FFF2-40B4-BE49-F238E27FC236}">
                <a16:creationId xmlns:a16="http://schemas.microsoft.com/office/drawing/2014/main" id="{C48510CD-54AF-A685-0292-2A8F7FF52628}"/>
              </a:ext>
            </a:extLst>
          </p:cNvPr>
          <p:cNvSpPr>
            <a:spLocks noGrp="1"/>
          </p:cNvSpPr>
          <p:nvPr>
            <p:ph type="sldNum" sz="quarter" idx="5"/>
          </p:nvPr>
        </p:nvSpPr>
        <p:spPr/>
        <p:txBody>
          <a:bodyPr/>
          <a:lstStyle/>
          <a:p>
            <a:fld id="{369DA017-2F44-4592-94D8-18777622AEF3}" type="slidenum">
              <a:rPr lang="en-US" smtClean="0"/>
              <a:t>3</a:t>
            </a:fld>
            <a:endParaRPr lang="en-US"/>
          </a:p>
        </p:txBody>
      </p:sp>
    </p:spTree>
    <p:extLst>
      <p:ext uri="{BB962C8B-B14F-4D97-AF65-F5344CB8AC3E}">
        <p14:creationId xmlns:p14="http://schemas.microsoft.com/office/powerpoint/2010/main" val="2661916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022C4-819C-F06A-70D2-D3180150A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A4B9F3-370E-DD93-E276-992B5D878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C6BF3-187C-04BE-73AB-6EDE7D1F0DEC}"/>
              </a:ext>
            </a:extLst>
          </p:cNvPr>
          <p:cNvSpPr>
            <a:spLocks noGrp="1"/>
          </p:cNvSpPr>
          <p:nvPr>
            <p:ph type="body" idx="1"/>
          </p:nvPr>
        </p:nvSpPr>
        <p:spPr/>
        <p:txBody>
          <a:bodyPr/>
          <a:lstStyle/>
          <a:p>
            <a:r>
              <a:rPr lang="en-US" dirty="0"/>
              <a:t>So, the final screening.</a:t>
            </a:r>
          </a:p>
          <a:p>
            <a:r>
              <a:rPr lang="en-US" dirty="0"/>
              <a:t>There are two ways to go about this.</a:t>
            </a:r>
          </a:p>
          <a:p>
            <a:r>
              <a:rPr lang="en-US" dirty="0"/>
              <a:t>Just read your papers and attempt to finish the screening.</a:t>
            </a:r>
          </a:p>
          <a:p>
            <a:r>
              <a:rPr lang="en-US" dirty="0"/>
              <a:t>or</a:t>
            </a:r>
          </a:p>
          <a:p>
            <a:r>
              <a:rPr lang="en-US" dirty="0"/>
              <a:t>Read your papers and extract data as you go.</a:t>
            </a:r>
          </a:p>
          <a:p>
            <a:r>
              <a:rPr lang="en-US" dirty="0"/>
              <a:t>Both ways are fine, personally I find that extracting as you go makes more sense.</a:t>
            </a:r>
          </a:p>
          <a:p>
            <a:r>
              <a:rPr lang="en-US" dirty="0"/>
              <a:t>The reason I say that is because the data you extract is essentially the reasons why a paper is included in your scoping review.</a:t>
            </a:r>
          </a:p>
          <a:p>
            <a:r>
              <a:rPr lang="en-US" dirty="0"/>
              <a:t>You cannot have any papers that are considered “maybe” at this stage.</a:t>
            </a:r>
          </a:p>
          <a:p>
            <a:r>
              <a:rPr lang="en-US" dirty="0"/>
              <a:t>So if you have some papers that could go either way at this point, like in the situation I am, you need to make a new rule or interpret the rules you made strictly.</a:t>
            </a:r>
          </a:p>
          <a:p>
            <a:r>
              <a:rPr lang="en-US" dirty="0"/>
              <a:t>For example, I have papers that are “maybe” because of alignment with population and sewage watersheds.</a:t>
            </a:r>
          </a:p>
          <a:p>
            <a:r>
              <a:rPr lang="en-US" dirty="0"/>
              <a:t>After THOROUGH research, I’ve found that of my 20~ish (maybe included) papers, I have to exclude almost half of them due to no clear alignment.</a:t>
            </a:r>
          </a:p>
          <a:p>
            <a:r>
              <a:rPr lang="en-US" dirty="0"/>
              <a:t>A paper that covers a small percentage of the population without an indication that the study applies to only that population isn’t valid for me.</a:t>
            </a:r>
          </a:p>
          <a:p>
            <a:r>
              <a:rPr lang="en-US" dirty="0"/>
              <a:t>Some form of aggregation or clear alignment is required.</a:t>
            </a:r>
          </a:p>
          <a:p>
            <a:endParaRPr lang="en-US" dirty="0"/>
          </a:p>
          <a:p>
            <a:r>
              <a:rPr lang="en-US" dirty="0"/>
              <a:t>Finding these alignments was pretty frustrating for me, because sometimes the language might be evasive. (Also kind of tells you the quality/focus of the work).</a:t>
            </a:r>
          </a:p>
          <a:p>
            <a:endParaRPr lang="en-US" dirty="0"/>
          </a:p>
          <a:p>
            <a:r>
              <a:rPr lang="en-US" dirty="0"/>
              <a:t>I personally chose to do data extraction at the same time, mainly because it helped me figure out this catchment alignment situation.</a:t>
            </a:r>
          </a:p>
          <a:p>
            <a:endParaRPr lang="en-US" dirty="0"/>
          </a:p>
          <a:p>
            <a:r>
              <a:rPr lang="en-US" dirty="0"/>
              <a:t>Data extraction also requires some form of template. You need to extract the same set of data between papers. You can also include a section for notes.</a:t>
            </a:r>
          </a:p>
          <a:p>
            <a:r>
              <a:rPr lang="en-US" dirty="0"/>
              <a:t>*Show them your extraction template*</a:t>
            </a:r>
          </a:p>
        </p:txBody>
      </p:sp>
      <p:sp>
        <p:nvSpPr>
          <p:cNvPr id="4" name="Slide Number Placeholder 3">
            <a:extLst>
              <a:ext uri="{FF2B5EF4-FFF2-40B4-BE49-F238E27FC236}">
                <a16:creationId xmlns:a16="http://schemas.microsoft.com/office/drawing/2014/main" id="{E95045FB-669F-55C8-F77E-372BC281EE26}"/>
              </a:ext>
            </a:extLst>
          </p:cNvPr>
          <p:cNvSpPr>
            <a:spLocks noGrp="1"/>
          </p:cNvSpPr>
          <p:nvPr>
            <p:ph type="sldNum" sz="quarter" idx="5"/>
          </p:nvPr>
        </p:nvSpPr>
        <p:spPr/>
        <p:txBody>
          <a:bodyPr/>
          <a:lstStyle/>
          <a:p>
            <a:fld id="{369DA017-2F44-4592-94D8-18777622AEF3}" type="slidenum">
              <a:rPr lang="en-US" smtClean="0"/>
              <a:t>4</a:t>
            </a:fld>
            <a:endParaRPr lang="en-US"/>
          </a:p>
        </p:txBody>
      </p:sp>
    </p:spTree>
    <p:extLst>
      <p:ext uri="{BB962C8B-B14F-4D97-AF65-F5344CB8AC3E}">
        <p14:creationId xmlns:p14="http://schemas.microsoft.com/office/powerpoint/2010/main" val="2712531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CC8A3-C4BF-B250-5347-AAD5463CE2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12CE6-84EA-5CA2-9FE3-27BD64F145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436F4C-83FC-B27E-3EAD-F7B1F56CC752}"/>
              </a:ext>
            </a:extLst>
          </p:cNvPr>
          <p:cNvSpPr>
            <a:spLocks noGrp="1"/>
          </p:cNvSpPr>
          <p:nvPr>
            <p:ph type="body" idx="1"/>
          </p:nvPr>
        </p:nvSpPr>
        <p:spPr/>
        <p:txBody>
          <a:bodyPr/>
          <a:lstStyle/>
          <a:p>
            <a:r>
              <a:rPr lang="en-US" dirty="0"/>
              <a:t>So once you finish your final screening and data extraction, you work on data synthesis.</a:t>
            </a:r>
          </a:p>
          <a:p>
            <a:r>
              <a:rPr lang="en-US" dirty="0"/>
              <a:t>I’ve done a little work on this, mainly since I am working on a very rough draft of the scoping review.</a:t>
            </a:r>
          </a:p>
          <a:p>
            <a:endParaRPr lang="en-US" dirty="0"/>
          </a:p>
          <a:p>
            <a:r>
              <a:rPr lang="en-US" dirty="0"/>
              <a:t>This should kind of naturally happen as you read papers, although this step is when you actually start writing those realizations down.</a:t>
            </a:r>
          </a:p>
          <a:p>
            <a:r>
              <a:rPr lang="en-US" dirty="0"/>
              <a:t>There is no template for this point, thank god.</a:t>
            </a:r>
          </a:p>
          <a:p>
            <a:endParaRPr lang="en-US" dirty="0"/>
          </a:p>
          <a:p>
            <a:r>
              <a:rPr lang="en-US" dirty="0"/>
              <a:t>So, I haven’t really written these down yet, but here is data synthesis of the papers that’s been going on in my head.</a:t>
            </a:r>
          </a:p>
          <a:p>
            <a:endParaRPr lang="en-US" dirty="0"/>
          </a:p>
          <a:p>
            <a:pPr marL="171450" indent="-171450">
              <a:buFontTx/>
              <a:buChar char="-"/>
            </a:pPr>
            <a:r>
              <a:rPr lang="en-US" dirty="0"/>
              <a:t>There is no standard benchmark to compare most of these studies for</a:t>
            </a:r>
          </a:p>
          <a:p>
            <a:pPr marL="171450" indent="-171450">
              <a:buFontTx/>
              <a:buChar char="-"/>
            </a:pPr>
            <a:r>
              <a:rPr lang="en-US" dirty="0"/>
              <a:t>A majority of these papers are either grouped toward the start or end of covid</a:t>
            </a:r>
          </a:p>
          <a:p>
            <a:pPr marL="171450" indent="-171450">
              <a:buFontTx/>
              <a:buChar char="-"/>
            </a:pPr>
            <a:r>
              <a:rPr lang="en-US" dirty="0"/>
              <a:t>Clarity of results actually depend on the start/end publish date</a:t>
            </a:r>
          </a:p>
          <a:p>
            <a:pPr marL="171450" indent="-171450">
              <a:buFontTx/>
              <a:buChar char="-"/>
            </a:pPr>
            <a:r>
              <a:rPr lang="en-US" dirty="0"/>
              <a:t>Many papers “further recommend ML” development, even if the paper is doing some form of ML</a:t>
            </a:r>
          </a:p>
          <a:p>
            <a:pPr marL="171450" indent="-171450">
              <a:buFontTx/>
              <a:buChar char="-"/>
            </a:pPr>
            <a:r>
              <a:rPr lang="en-US" dirty="0"/>
              <a:t>And so on.</a:t>
            </a:r>
          </a:p>
          <a:p>
            <a:pPr marL="171450" indent="-171450">
              <a:buFontTx/>
              <a:buChar char="-"/>
            </a:pPr>
            <a:endParaRPr lang="en-US" dirty="0"/>
          </a:p>
          <a:p>
            <a:pPr marL="0" indent="0">
              <a:buFontTx/>
              <a:buNone/>
            </a:pPr>
            <a:r>
              <a:rPr lang="en-US" dirty="0"/>
              <a:t>This is probably very surface level synthesis, but going through the templates for data extraction should clearly reveal some of this stuff.</a:t>
            </a:r>
          </a:p>
          <a:p>
            <a:pPr marL="0" indent="0">
              <a:buFontTx/>
              <a:buNone/>
            </a:pPr>
            <a:r>
              <a:rPr lang="en-US" dirty="0"/>
              <a:t>*Show them the thing again*</a:t>
            </a:r>
          </a:p>
          <a:p>
            <a:pPr marL="0" indent="0">
              <a:buFontTx/>
              <a:buNone/>
            </a:pPr>
            <a:endParaRPr lang="en-US" dirty="0"/>
          </a:p>
          <a:p>
            <a:pPr marL="0" indent="0">
              <a:buFontTx/>
              <a:buNone/>
            </a:pPr>
            <a:endParaRPr lang="en-US" dirty="0"/>
          </a:p>
        </p:txBody>
      </p:sp>
      <p:sp>
        <p:nvSpPr>
          <p:cNvPr id="4" name="Slide Number Placeholder 3">
            <a:extLst>
              <a:ext uri="{FF2B5EF4-FFF2-40B4-BE49-F238E27FC236}">
                <a16:creationId xmlns:a16="http://schemas.microsoft.com/office/drawing/2014/main" id="{F367EF4A-2D72-34B2-14C5-B56A487D0E9F}"/>
              </a:ext>
            </a:extLst>
          </p:cNvPr>
          <p:cNvSpPr>
            <a:spLocks noGrp="1"/>
          </p:cNvSpPr>
          <p:nvPr>
            <p:ph type="sldNum" sz="quarter" idx="5"/>
          </p:nvPr>
        </p:nvSpPr>
        <p:spPr/>
        <p:txBody>
          <a:bodyPr/>
          <a:lstStyle/>
          <a:p>
            <a:fld id="{369DA017-2F44-4592-94D8-18777622AEF3}" type="slidenum">
              <a:rPr lang="en-US" smtClean="0"/>
              <a:t>5</a:t>
            </a:fld>
            <a:endParaRPr lang="en-US"/>
          </a:p>
        </p:txBody>
      </p:sp>
    </p:spTree>
    <p:extLst>
      <p:ext uri="{BB962C8B-B14F-4D97-AF65-F5344CB8AC3E}">
        <p14:creationId xmlns:p14="http://schemas.microsoft.com/office/powerpoint/2010/main" val="1088794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19A8D-EA5C-8C48-E0FC-B907530DAD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91890-5D18-BC74-5A86-AAF4BBCE14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4AC4E1-7F7F-9B6E-F161-5A15325F59BA}"/>
              </a:ext>
            </a:extLst>
          </p:cNvPr>
          <p:cNvSpPr>
            <a:spLocks noGrp="1"/>
          </p:cNvSpPr>
          <p:nvPr>
            <p:ph type="body" idx="1"/>
          </p:nvPr>
        </p:nvSpPr>
        <p:spPr/>
        <p:txBody>
          <a:bodyPr/>
          <a:lstStyle/>
          <a:p>
            <a:r>
              <a:rPr lang="en-US" dirty="0"/>
              <a:t>Finally!</a:t>
            </a:r>
          </a:p>
          <a:p>
            <a:r>
              <a:rPr lang="en-US" dirty="0"/>
              <a:t>We are at actually writing the paper.</a:t>
            </a:r>
          </a:p>
          <a:p>
            <a:endParaRPr lang="en-US" dirty="0"/>
          </a:p>
          <a:p>
            <a:r>
              <a:rPr lang="en-US" dirty="0"/>
              <a:t>So from my experience with how the design of the PRISMA standard is set up.</a:t>
            </a:r>
          </a:p>
          <a:p>
            <a:r>
              <a:rPr lang="en-US" dirty="0"/>
              <a:t>It seems like most of the work is front loaded.</a:t>
            </a:r>
          </a:p>
          <a:p>
            <a:r>
              <a:rPr lang="en-US" dirty="0"/>
              <a:t>All the exact standards and templates that you’ve had to develop up to this point, you are including in your paper.</a:t>
            </a:r>
          </a:p>
          <a:p>
            <a:r>
              <a:rPr lang="en-US" dirty="0"/>
              <a:t>You give it all in detail, along with appropriate defense/reasoning for each point.</a:t>
            </a:r>
          </a:p>
          <a:p>
            <a:endParaRPr lang="en-US" dirty="0"/>
          </a:p>
          <a:p>
            <a:r>
              <a:rPr lang="en-US" dirty="0"/>
              <a:t>This section makes up a large portion of your paper.</a:t>
            </a:r>
          </a:p>
          <a:p>
            <a:r>
              <a:rPr lang="en-US" dirty="0"/>
              <a:t>Remember how I said there should be exclusion criteria recorded?</a:t>
            </a:r>
          </a:p>
          <a:p>
            <a:r>
              <a:rPr lang="en-US" dirty="0"/>
              <a:t>Well this PRISMA chart to the right is the reason for that.</a:t>
            </a:r>
          </a:p>
          <a:p>
            <a:r>
              <a:rPr lang="en-US" dirty="0"/>
              <a:t>I haven’t filled this out yet, since I am still going through some of my papers, but this diagram is a simple image of how you distilled your papers for the scoping review.</a:t>
            </a:r>
          </a:p>
          <a:p>
            <a:endParaRPr lang="en-US" dirty="0"/>
          </a:p>
          <a:p>
            <a:r>
              <a:rPr lang="en-US" dirty="0"/>
              <a:t>Finally, the extraction and synthesis steps generate the meat of the scoping review.</a:t>
            </a:r>
          </a:p>
          <a:p>
            <a:r>
              <a:rPr lang="en-US" dirty="0"/>
              <a:t>The first half is basically describing what you did and defending it.</a:t>
            </a:r>
          </a:p>
          <a:p>
            <a:r>
              <a:rPr lang="en-US" dirty="0"/>
              <a:t>The second half is reporting the results and insighted gained from it.</a:t>
            </a:r>
          </a:p>
          <a:p>
            <a:r>
              <a:rPr lang="en-US" dirty="0"/>
              <a:t>This is where all the notes for the synthesis come in handy.</a:t>
            </a:r>
          </a:p>
        </p:txBody>
      </p:sp>
      <p:sp>
        <p:nvSpPr>
          <p:cNvPr id="4" name="Slide Number Placeholder 3">
            <a:extLst>
              <a:ext uri="{FF2B5EF4-FFF2-40B4-BE49-F238E27FC236}">
                <a16:creationId xmlns:a16="http://schemas.microsoft.com/office/drawing/2014/main" id="{6C916B0A-9F26-1945-8D00-CF088E1E3AB5}"/>
              </a:ext>
            </a:extLst>
          </p:cNvPr>
          <p:cNvSpPr>
            <a:spLocks noGrp="1"/>
          </p:cNvSpPr>
          <p:nvPr>
            <p:ph type="sldNum" sz="quarter" idx="5"/>
          </p:nvPr>
        </p:nvSpPr>
        <p:spPr/>
        <p:txBody>
          <a:bodyPr/>
          <a:lstStyle/>
          <a:p>
            <a:fld id="{369DA017-2F44-4592-94D8-18777622AEF3}" type="slidenum">
              <a:rPr lang="en-US" smtClean="0"/>
              <a:t>6</a:t>
            </a:fld>
            <a:endParaRPr lang="en-US"/>
          </a:p>
        </p:txBody>
      </p:sp>
    </p:spTree>
    <p:extLst>
      <p:ext uri="{BB962C8B-B14F-4D97-AF65-F5344CB8AC3E}">
        <p14:creationId xmlns:p14="http://schemas.microsoft.com/office/powerpoint/2010/main" val="851878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A07C3-193D-201E-2A5C-9D2B347740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7C5FB1-157F-2E2C-1228-A2CAE8E61E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E33F70-E4E5-6FD0-5C0B-65BABE362F13}"/>
              </a:ext>
            </a:extLst>
          </p:cNvPr>
          <p:cNvSpPr>
            <a:spLocks noGrp="1"/>
          </p:cNvSpPr>
          <p:nvPr>
            <p:ph type="body" idx="1"/>
          </p:nvPr>
        </p:nvSpPr>
        <p:spPr/>
        <p:txBody>
          <a:bodyPr/>
          <a:lstStyle/>
          <a:p>
            <a:r>
              <a:rPr lang="en-US" dirty="0"/>
              <a:t>I would like to not do this again. Lol</a:t>
            </a:r>
          </a:p>
          <a:p>
            <a:r>
              <a:rPr lang="en-US" dirty="0"/>
              <a:t>I definitely was useful, but the learning curve was a little steep.</a:t>
            </a:r>
          </a:p>
          <a:p>
            <a:r>
              <a:rPr lang="en-US" dirty="0"/>
              <a:t>Particularly when jumping into a topic that I have no idea about.</a:t>
            </a:r>
          </a:p>
          <a:p>
            <a:r>
              <a:rPr lang="en-US" dirty="0"/>
              <a:t>I still don’t understand some of the things discussed in the papers, besides a general idea like</a:t>
            </a:r>
          </a:p>
          <a:p>
            <a:r>
              <a:rPr lang="en-US" dirty="0"/>
              <a:t>X,Y,Z are all ways to analyze samples or A,B,C are common methods used.</a:t>
            </a:r>
          </a:p>
          <a:p>
            <a:r>
              <a:rPr lang="en-US" dirty="0"/>
              <a:t>Actually, writing the paper or at least coming up with the idea for a rough draft wasn’t too hard when I got everything together.</a:t>
            </a:r>
          </a:p>
          <a:p>
            <a:endParaRPr lang="en-US" dirty="0"/>
          </a:p>
        </p:txBody>
      </p:sp>
      <p:sp>
        <p:nvSpPr>
          <p:cNvPr id="4" name="Slide Number Placeholder 3">
            <a:extLst>
              <a:ext uri="{FF2B5EF4-FFF2-40B4-BE49-F238E27FC236}">
                <a16:creationId xmlns:a16="http://schemas.microsoft.com/office/drawing/2014/main" id="{FC1F0967-1A69-B8F1-8C19-2BBE3FD2115F}"/>
              </a:ext>
            </a:extLst>
          </p:cNvPr>
          <p:cNvSpPr>
            <a:spLocks noGrp="1"/>
          </p:cNvSpPr>
          <p:nvPr>
            <p:ph type="sldNum" sz="quarter" idx="5"/>
          </p:nvPr>
        </p:nvSpPr>
        <p:spPr/>
        <p:txBody>
          <a:bodyPr/>
          <a:lstStyle/>
          <a:p>
            <a:fld id="{369DA017-2F44-4592-94D8-18777622AEF3}" type="slidenum">
              <a:rPr lang="en-US" smtClean="0"/>
              <a:t>7</a:t>
            </a:fld>
            <a:endParaRPr lang="en-US"/>
          </a:p>
        </p:txBody>
      </p:sp>
    </p:spTree>
    <p:extLst>
      <p:ext uri="{BB962C8B-B14F-4D97-AF65-F5344CB8AC3E}">
        <p14:creationId xmlns:p14="http://schemas.microsoft.com/office/powerpoint/2010/main" val="38938305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Google Shape;344;g1f688af0ced_0_34">
            <a:extLst>
              <a:ext uri="{FF2B5EF4-FFF2-40B4-BE49-F238E27FC236}">
                <a16:creationId xmlns:a16="http://schemas.microsoft.com/office/drawing/2014/main" id="{441A1850-1F29-F8F9-5615-5BC364EA9028}"/>
              </a:ext>
            </a:extLst>
          </p:cNvPr>
          <p:cNvSpPr txBox="1">
            <a:spLocks/>
          </p:cNvSpPr>
          <p:nvPr userDrawn="1"/>
        </p:nvSpPr>
        <p:spPr>
          <a:xfrm>
            <a:off x="0" y="6378572"/>
            <a:ext cx="12192000" cy="479428"/>
          </a:xfrm>
          <a:prstGeom prst="rect">
            <a:avLst/>
          </a:prstGeom>
          <a:solidFill>
            <a:srgbClr val="FFC000"/>
          </a:solidFill>
          <a:ln>
            <a:noFill/>
          </a:ln>
        </p:spPr>
        <p:txBody>
          <a:bodyPr spcFirstLastPara="1" vert="horz" wrap="square" lIns="91425" tIns="91425" rIns="91425" bIns="91425" rtlCol="0" anchor="t" anchorCtr="0">
            <a:noAutofit/>
          </a:bodyPr>
          <a:lstStyle>
            <a:lvl1pPr algn="l" defTabSz="914400" rtl="0" eaLnBrk="1" latinLnBrk="0" hangingPunct="1">
              <a:spcBef>
                <a:spcPct val="0"/>
              </a:spcBef>
              <a:buNone/>
              <a:defRPr sz="3600" b="1" kern="1200">
                <a:solidFill>
                  <a:schemeClr val="accent1">
                    <a:lumMod val="75000"/>
                  </a:schemeClr>
                </a:solidFill>
                <a:latin typeface="+mj-lt"/>
                <a:ea typeface="+mj-ea"/>
                <a:cs typeface="+mj-cs"/>
              </a:defRPr>
            </a:lvl1pPr>
          </a:lstStyle>
          <a:p>
            <a:pPr>
              <a:spcBef>
                <a:spcPts val="0"/>
              </a:spcBef>
              <a:buClr>
                <a:schemeClr val="dk1"/>
              </a:buClr>
              <a:buSzPts val="3200"/>
              <a:buFont typeface="Arial"/>
              <a:buNone/>
            </a:pPr>
            <a:endParaRPr lang="en-US" dirty="0"/>
          </a:p>
        </p:txBody>
      </p:sp>
      <p:sp>
        <p:nvSpPr>
          <p:cNvPr id="2" name="Title 1"/>
          <p:cNvSpPr>
            <a:spLocks noGrp="1"/>
          </p:cNvSpPr>
          <p:nvPr>
            <p:ph type="ctrTitle" hasCustomPrompt="1"/>
          </p:nvPr>
        </p:nvSpPr>
        <p:spPr>
          <a:xfrm>
            <a:off x="914400" y="1828803"/>
            <a:ext cx="10363200" cy="1470025"/>
          </a:xfrm>
        </p:spPr>
        <p:txBody>
          <a:bodyPr>
            <a:normAutofit/>
          </a:bodyPr>
          <a:lstStyle>
            <a:lvl1pPr marL="0" marR="0" indent="0" algn="ctr" defTabSz="914400" rtl="0" eaLnBrk="1" fontAlgn="auto" latinLnBrk="0" hangingPunct="1">
              <a:lnSpc>
                <a:spcPct val="100000"/>
              </a:lnSpc>
              <a:spcBef>
                <a:spcPct val="0"/>
              </a:spcBef>
              <a:spcAft>
                <a:spcPts val="0"/>
              </a:spcAft>
              <a:buClrTx/>
              <a:buSzTx/>
              <a:buFontTx/>
              <a:buNone/>
              <a:tabLst/>
              <a:defRPr sz="4000" i="1">
                <a:solidFill>
                  <a:schemeClr val="accent1">
                    <a:lumMod val="75000"/>
                  </a:schemeClr>
                </a:solidFill>
              </a:defRPr>
            </a:lvl1pPr>
          </a:lstStyle>
          <a:p>
            <a:r>
              <a:rPr lang="en-US" dirty="0"/>
              <a:t>Title</a:t>
            </a:r>
          </a:p>
        </p:txBody>
      </p:sp>
      <p:sp>
        <p:nvSpPr>
          <p:cNvPr id="3" name="Subtitle 2"/>
          <p:cNvSpPr>
            <a:spLocks noGrp="1"/>
          </p:cNvSpPr>
          <p:nvPr>
            <p:ph type="subTitle" idx="1" hasCustomPrompt="1"/>
          </p:nvPr>
        </p:nvSpPr>
        <p:spPr>
          <a:xfrm>
            <a:off x="353516" y="4191000"/>
            <a:ext cx="11352249" cy="1905000"/>
          </a:xfrm>
        </p:spPr>
        <p:txBody>
          <a:bodyPr>
            <a:normAutofit/>
          </a:bodyPr>
          <a:lstStyle>
            <a:lvl1pPr marL="0" indent="0" algn="l">
              <a:buNone/>
              <a:defRPr sz="300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Authors</a:t>
            </a:r>
          </a:p>
          <a:p>
            <a:r>
              <a:rPr lang="en-US" dirty="0"/>
              <a:t>Affiliations</a:t>
            </a:r>
          </a:p>
        </p:txBody>
      </p:sp>
      <p:sp>
        <p:nvSpPr>
          <p:cNvPr id="4" name="Date Placeholder 3"/>
          <p:cNvSpPr>
            <a:spLocks noGrp="1"/>
          </p:cNvSpPr>
          <p:nvPr>
            <p:ph type="dt" sz="half" idx="10"/>
          </p:nvPr>
        </p:nvSpPr>
        <p:spPr>
          <a:xfrm>
            <a:off x="304800" y="6400803"/>
            <a:ext cx="2844800" cy="365125"/>
          </a:xfrm>
        </p:spPr>
        <p:txBody>
          <a:bodyPr/>
          <a:lstStyle>
            <a:lvl1pPr>
              <a:defRPr baseline="0">
                <a:solidFill>
                  <a:schemeClr val="tx1"/>
                </a:solidFill>
              </a:defRPr>
            </a:lvl1pPr>
          </a:lstStyle>
          <a:p>
            <a:fld id="{A0E76CCD-2E37-464C-97F3-D65E704E281F}" type="datetime1">
              <a:rPr lang="en-US" smtClean="0"/>
              <a:pPr/>
              <a:t>4/15/2026</a:t>
            </a:fld>
            <a:endParaRPr lang="en-US" dirty="0"/>
          </a:p>
        </p:txBody>
      </p:sp>
      <p:sp>
        <p:nvSpPr>
          <p:cNvPr id="5" name="Footer Placeholder 4"/>
          <p:cNvSpPr>
            <a:spLocks noGrp="1"/>
          </p:cNvSpPr>
          <p:nvPr>
            <p:ph type="ftr" sz="quarter" idx="11"/>
          </p:nvPr>
        </p:nvSpPr>
        <p:spPr>
          <a:xfrm>
            <a:off x="4470400" y="6400803"/>
            <a:ext cx="3860800" cy="365125"/>
          </a:xfrm>
        </p:spPr>
        <p:txBody>
          <a:bodyPr/>
          <a:lstStyle>
            <a:lvl1pPr>
              <a:defRPr baseline="0">
                <a:solidFill>
                  <a:schemeClr val="tx1"/>
                </a:solidFill>
              </a:defRPr>
            </a:lvl1pPr>
          </a:lstStyle>
          <a:p>
            <a:endParaRPr lang="en-US" dirty="0"/>
          </a:p>
        </p:txBody>
      </p:sp>
      <p:sp>
        <p:nvSpPr>
          <p:cNvPr id="6" name="Slide Number Placeholder 5"/>
          <p:cNvSpPr>
            <a:spLocks noGrp="1"/>
          </p:cNvSpPr>
          <p:nvPr>
            <p:ph type="sldNum" sz="quarter" idx="12"/>
          </p:nvPr>
        </p:nvSpPr>
        <p:spPr>
          <a:xfrm>
            <a:off x="9144000" y="6416678"/>
            <a:ext cx="2844800" cy="365125"/>
          </a:xfrm>
        </p:spPr>
        <p:txBody>
          <a:bodyPr/>
          <a:lstStyle>
            <a:lvl1pPr>
              <a:defRPr baseline="0">
                <a:solidFill>
                  <a:schemeClr val="tx1"/>
                </a:solidFill>
              </a:defRPr>
            </a:lvl1pPr>
          </a:lstStyle>
          <a:p>
            <a:fld id="{B6F15528-21DE-4FAA-801E-634DDDAF4B2B}" type="slidenum">
              <a:rPr lang="en-US" smtClean="0"/>
              <a:pPr/>
              <a:t>‹#›</a:t>
            </a:fld>
            <a:endParaRPr lang="en-US" dirty="0"/>
          </a:p>
        </p:txBody>
      </p:sp>
      <p:pic>
        <p:nvPicPr>
          <p:cNvPr id="7" name="Picture 6" descr="A picture containing logo&#10;&#10;Description automatically generated">
            <a:extLst>
              <a:ext uri="{FF2B5EF4-FFF2-40B4-BE49-F238E27FC236}">
                <a16:creationId xmlns:a16="http://schemas.microsoft.com/office/drawing/2014/main" id="{E2B9B1AC-B6A7-6FAE-6D63-0D8C09C29074}"/>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470"/>
          <a:stretch/>
        </p:blipFill>
        <p:spPr>
          <a:xfrm>
            <a:off x="353517" y="291059"/>
            <a:ext cx="4092454" cy="1060132"/>
          </a:xfrm>
          <a:prstGeom prst="rect">
            <a:avLst/>
          </a:prstGeom>
        </p:spPr>
      </p:pic>
      <p:pic>
        <p:nvPicPr>
          <p:cNvPr id="9" name="Picture 6">
            <a:extLst>
              <a:ext uri="{FF2B5EF4-FFF2-40B4-BE49-F238E27FC236}">
                <a16:creationId xmlns:a16="http://schemas.microsoft.com/office/drawing/2014/main" id="{0A65C3CA-26D5-DE20-9949-0F493D4B0C37}"/>
              </a:ext>
            </a:extLst>
          </p:cNvPr>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l="22650" t="6158" r="21136" b="16891"/>
          <a:stretch/>
        </p:blipFill>
        <p:spPr bwMode="auto">
          <a:xfrm>
            <a:off x="10972800" y="362940"/>
            <a:ext cx="732966"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A5D0B7AA-87BA-7C79-3F66-EFFF4B90AEB7}"/>
              </a:ext>
            </a:extLst>
          </p:cNvPr>
          <p:cNvSpPr txBox="1"/>
          <p:nvPr userDrawn="1"/>
        </p:nvSpPr>
        <p:spPr>
          <a:xfrm>
            <a:off x="8610600" y="352934"/>
            <a:ext cx="2528256" cy="772006"/>
          </a:xfrm>
          <a:prstGeom prst="rect">
            <a:avLst/>
          </a:prstGeom>
        </p:spPr>
        <p:txBody>
          <a:bodyPr vert="horz" wrap="none" lIns="91440" tIns="45720" rIns="91440" bIns="45720" rtlCol="0">
            <a:spAutoFit/>
          </a:bodyPr>
          <a:lstStyle/>
          <a:p>
            <a:pPr>
              <a:spcBef>
                <a:spcPts val="500"/>
              </a:spcBef>
            </a:pPr>
            <a:r>
              <a:rPr lang="en-US" sz="2000" b="1" i="1" cap="small" baseline="0" dirty="0">
                <a:solidFill>
                  <a:schemeClr val="accent1">
                    <a:lumMod val="75000"/>
                  </a:schemeClr>
                </a:solidFill>
              </a:rPr>
              <a:t>E</a:t>
            </a:r>
            <a:r>
              <a:rPr lang="en-US" sz="2000" b="1" i="1" cap="small" baseline="0" dirty="0"/>
              <a:t>mbedded </a:t>
            </a:r>
            <a:r>
              <a:rPr lang="en-US" sz="2000" b="1" i="1" cap="small" baseline="0" dirty="0">
                <a:solidFill>
                  <a:schemeClr val="accent1">
                    <a:lumMod val="75000"/>
                  </a:schemeClr>
                </a:solidFill>
              </a:rPr>
              <a:t>M</a:t>
            </a:r>
            <a:r>
              <a:rPr lang="en-US" sz="2000" b="1" i="1" cap="small" baseline="0" dirty="0"/>
              <a:t>achine </a:t>
            </a:r>
          </a:p>
          <a:p>
            <a:pPr>
              <a:spcBef>
                <a:spcPts val="500"/>
              </a:spcBef>
            </a:pPr>
            <a:r>
              <a:rPr lang="en-US" sz="2000" b="1" i="1" cap="small" baseline="0" dirty="0">
                <a:solidFill>
                  <a:schemeClr val="accent1">
                    <a:lumMod val="75000"/>
                  </a:schemeClr>
                </a:solidFill>
              </a:rPr>
              <a:t>I</a:t>
            </a:r>
            <a:r>
              <a:rPr lang="en-US" sz="2000" b="1" i="1" cap="small" baseline="0" dirty="0"/>
              <a:t>ntelligence </a:t>
            </a:r>
            <a:r>
              <a:rPr lang="en-US" sz="2000" b="1" i="1" cap="small" baseline="0" dirty="0">
                <a:solidFill>
                  <a:schemeClr val="accent1">
                    <a:lumMod val="75000"/>
                  </a:schemeClr>
                </a:solidFill>
              </a:rPr>
              <a:t>L</a:t>
            </a:r>
            <a:r>
              <a:rPr lang="en-US" sz="2000" b="1" i="1" cap="small" baseline="0" dirty="0"/>
              <a:t>ab</a:t>
            </a:r>
          </a:p>
        </p:txBody>
      </p:sp>
    </p:spTree>
    <p:extLst>
      <p:ext uri="{BB962C8B-B14F-4D97-AF65-F5344CB8AC3E}">
        <p14:creationId xmlns:p14="http://schemas.microsoft.com/office/powerpoint/2010/main" val="6151105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Google Shape;344;g1f688af0ced_0_34">
            <a:extLst>
              <a:ext uri="{FF2B5EF4-FFF2-40B4-BE49-F238E27FC236}">
                <a16:creationId xmlns:a16="http://schemas.microsoft.com/office/drawing/2014/main" id="{EEA1ACE2-CCF0-DE52-662C-48F0C2434410}"/>
              </a:ext>
            </a:extLst>
          </p:cNvPr>
          <p:cNvSpPr txBox="1">
            <a:spLocks/>
          </p:cNvSpPr>
          <p:nvPr userDrawn="1"/>
        </p:nvSpPr>
        <p:spPr>
          <a:xfrm>
            <a:off x="228600" y="41278"/>
            <a:ext cx="11582400" cy="941707"/>
          </a:xfrm>
          <a:prstGeom prst="rect">
            <a:avLst/>
          </a:prstGeom>
          <a:solidFill>
            <a:srgbClr val="FFC000"/>
          </a:solidFill>
          <a:ln>
            <a:noFill/>
          </a:ln>
        </p:spPr>
        <p:txBody>
          <a:bodyPr spcFirstLastPara="1" vert="horz" wrap="square" lIns="91425" tIns="91425" rIns="91425" bIns="91425" rtlCol="0" anchor="t" anchorCtr="0">
            <a:noAutofit/>
          </a:bodyPr>
          <a:lstStyle>
            <a:lvl1pPr algn="l" defTabSz="914400" rtl="0" eaLnBrk="1" latinLnBrk="0" hangingPunct="1">
              <a:spcBef>
                <a:spcPct val="0"/>
              </a:spcBef>
              <a:buNone/>
              <a:defRPr sz="3600" b="1" kern="1200">
                <a:solidFill>
                  <a:schemeClr val="accent1">
                    <a:lumMod val="75000"/>
                  </a:schemeClr>
                </a:solidFill>
                <a:latin typeface="+mj-lt"/>
                <a:ea typeface="+mj-ea"/>
                <a:cs typeface="+mj-cs"/>
              </a:defRPr>
            </a:lvl1pPr>
          </a:lstStyle>
          <a:p>
            <a:pPr>
              <a:spcBef>
                <a:spcPts val="0"/>
              </a:spcBef>
              <a:buClr>
                <a:schemeClr val="dk1"/>
              </a:buClr>
              <a:buSzPts val="3200"/>
              <a:buFont typeface="Arial"/>
              <a:buNone/>
            </a:pPr>
            <a:endParaRPr lang="en-US" dirty="0"/>
          </a:p>
        </p:txBody>
      </p:sp>
      <p:sp>
        <p:nvSpPr>
          <p:cNvPr id="2" name="Title 1"/>
          <p:cNvSpPr>
            <a:spLocks noGrp="1"/>
          </p:cNvSpPr>
          <p:nvPr>
            <p:ph type="title"/>
          </p:nvPr>
        </p:nvSpPr>
        <p:spPr/>
        <p:txBody>
          <a:bodyPr/>
          <a:lstStyle>
            <a:lvl1pPr>
              <a:defRPr baseline="0">
                <a:solidFill>
                  <a:schemeClr val="tx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A33B2C0-5ED3-478B-8D46-2A2B06C4DD17}" type="datetime1">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7075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814BAF-3FA4-48E3-AD14-D051253FE824}" type="datetime1">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60800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0DB7ADC-F4D5-47AC-A73A-A98570A8C4B0}" type="datetime1">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23588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0C3E225-29D3-42EC-8E8A-F199605A2C2A}" type="datetime1">
              <a:rPr lang="en-US" smtClean="0"/>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8144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381D04C0-76D4-45A8-854F-2D93A077BDB9}" type="datetime1">
              <a:rPr lang="en-US" smtClean="0"/>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98893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2486B3-440D-4AA6-94E9-A4061E7370DF}" type="datetime1">
              <a:rPr lang="en-US" smtClean="0"/>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28348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D4D658-3A6C-4BF7-8923-4859BA852273}" type="datetime1">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75001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A3B38A-BC6C-43DB-A15A-DE94AE0AAE20}" type="datetime1">
              <a:rPr lang="en-US" smtClean="0"/>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1958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1A4589-0C0C-4ED4-BD89-C69F4BAE30E1}" type="datetime1">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92119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B0C035-D55B-4E2D-AB89-612E68EC87A6}" type="datetime1">
              <a:rPr lang="en-US" smtClean="0"/>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1862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41278"/>
            <a:ext cx="11582400" cy="927099"/>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066803"/>
            <a:ext cx="10972800" cy="50593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E0BA47-69B8-44FD-8EB4-204BEC5E3CBF}" type="datetime1">
              <a:rPr lang="en-US" smtClean="0"/>
              <a:t>4/15/2026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400">
                <a:solidFill>
                  <a:schemeClr val="tx1"/>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9420328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spcBef>
          <a:spcPct val="0"/>
        </a:spcBef>
        <a:buNone/>
        <a:defRPr sz="3600" b="1" kern="1200">
          <a:solidFill>
            <a:schemeClr val="accent1">
              <a:lumMod val="75000"/>
            </a:schemeClr>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000" kern="1200">
          <a:solidFill>
            <a:schemeClr val="tx1"/>
          </a:solidFill>
          <a:latin typeface="+mn-lt"/>
          <a:ea typeface="+mn-ea"/>
          <a:cs typeface="+mn-cs"/>
        </a:defRPr>
      </a:lvl1pPr>
      <a:lvl2pPr marL="742950" indent="-285750" algn="l" defTabSz="914400" rtl="0" eaLnBrk="1" latinLnBrk="0" hangingPunct="1">
        <a:spcBef>
          <a:spcPct val="20000"/>
        </a:spcBef>
        <a:buFont typeface="Wingdings" panose="05000000000000000000" pitchFamily="2" charset="2"/>
        <a:buChar char="§"/>
        <a:defRPr sz="26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02007-200B-2BD2-9EB0-5EE2A6A353A4}"/>
              </a:ext>
            </a:extLst>
          </p:cNvPr>
          <p:cNvSpPr>
            <a:spLocks noGrp="1"/>
          </p:cNvSpPr>
          <p:nvPr>
            <p:ph type="ctrTitle"/>
          </p:nvPr>
        </p:nvSpPr>
        <p:spPr>
          <a:xfrm>
            <a:off x="381000" y="1943537"/>
            <a:ext cx="11646909" cy="1866464"/>
          </a:xfrm>
        </p:spPr>
        <p:txBody>
          <a:bodyPr>
            <a:normAutofit/>
          </a:bodyPr>
          <a:lstStyle/>
          <a:p>
            <a:r>
              <a:rPr lang="en-US" sz="3200" i="0" dirty="0"/>
              <a:t>Topic: Finishing a Scoping Review</a:t>
            </a:r>
          </a:p>
        </p:txBody>
      </p:sp>
      <p:sp>
        <p:nvSpPr>
          <p:cNvPr id="3" name="Subtitle 2">
            <a:extLst>
              <a:ext uri="{FF2B5EF4-FFF2-40B4-BE49-F238E27FC236}">
                <a16:creationId xmlns:a16="http://schemas.microsoft.com/office/drawing/2014/main" id="{2BD4870A-6E84-74F0-C9B3-359F697B9799}"/>
              </a:ext>
            </a:extLst>
          </p:cNvPr>
          <p:cNvSpPr>
            <a:spLocks noGrp="1"/>
          </p:cNvSpPr>
          <p:nvPr>
            <p:ph type="subTitle" idx="1"/>
          </p:nvPr>
        </p:nvSpPr>
        <p:spPr>
          <a:xfrm>
            <a:off x="1390650" y="4038599"/>
            <a:ext cx="9486900" cy="2302205"/>
          </a:xfrm>
        </p:spPr>
        <p:txBody>
          <a:bodyPr>
            <a:noAutofit/>
          </a:bodyPr>
          <a:lstStyle/>
          <a:p>
            <a:pPr algn="ctr"/>
            <a:r>
              <a:rPr lang="en-US" sz="2200" dirty="0"/>
              <a:t>Eric Kim</a:t>
            </a:r>
          </a:p>
          <a:p>
            <a:pPr algn="ctr"/>
            <a:r>
              <a:rPr lang="en-US" sz="2200" dirty="0"/>
              <a:t>Embedded Machine Intelligence Lab (EMIL)</a:t>
            </a:r>
          </a:p>
          <a:p>
            <a:pPr algn="ctr"/>
            <a:r>
              <a:rPr lang="en-US" sz="2200" dirty="0"/>
              <a:t>College of Health Solutions, </a:t>
            </a:r>
            <a:r>
              <a:rPr lang="en-US" sz="2000" dirty="0"/>
              <a:t>Arizona State University</a:t>
            </a:r>
          </a:p>
        </p:txBody>
      </p:sp>
      <p:sp>
        <p:nvSpPr>
          <p:cNvPr id="6" name="TextBox 5">
            <a:extLst>
              <a:ext uri="{FF2B5EF4-FFF2-40B4-BE49-F238E27FC236}">
                <a16:creationId xmlns:a16="http://schemas.microsoft.com/office/drawing/2014/main" id="{603C231C-77BE-92CE-D4D5-B84E19B523A5}"/>
              </a:ext>
            </a:extLst>
          </p:cNvPr>
          <p:cNvSpPr txBox="1"/>
          <p:nvPr/>
        </p:nvSpPr>
        <p:spPr>
          <a:xfrm>
            <a:off x="-10849" y="5897336"/>
            <a:ext cx="2539083" cy="307777"/>
          </a:xfrm>
          <a:prstGeom prst="rect">
            <a:avLst/>
          </a:prstGeom>
        </p:spPr>
        <p:txBody>
          <a:bodyPr vert="horz" wrap="square" lIns="91440" tIns="45720" rIns="9144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err="1">
                <a:ln>
                  <a:noFill/>
                </a:ln>
                <a:solidFill>
                  <a:prstClr val="black"/>
                </a:solidFill>
                <a:effectLst/>
                <a:uLnTx/>
                <a:uFillTx/>
                <a:latin typeface="Arial" panose="020B0604020202020204"/>
                <a:ea typeface="+mn-ea"/>
                <a:cs typeface="+mn-cs"/>
              </a:rPr>
              <a:t>www.ghasemzadeh.com</a:t>
            </a:r>
            <a:endParaRPr kumimoji="0" lang="en-US" sz="1400" b="0" i="1" u="none" strike="noStrike" kern="1200" cap="none" spc="0" normalizeH="0" baseline="0" noProof="0" dirty="0">
              <a:ln>
                <a:noFill/>
              </a:ln>
              <a:solidFill>
                <a:prstClr val="black"/>
              </a:solidFill>
              <a:effectLst/>
              <a:uLnTx/>
              <a:uFillTx/>
              <a:latin typeface="Arial" panose="020B0604020202020204"/>
              <a:ea typeface="+mn-ea"/>
              <a:cs typeface="+mn-cs"/>
            </a:endParaRPr>
          </a:p>
        </p:txBody>
      </p:sp>
      <p:pic>
        <p:nvPicPr>
          <p:cNvPr id="1028" name="Picture 4" descr="The School of Computing and Augmented Intelligence at Arizona State  University is hiring for 13 open tenure and tenure-track faculty positions  - CRA">
            <a:extLst>
              <a:ext uri="{FF2B5EF4-FFF2-40B4-BE49-F238E27FC236}">
                <a16:creationId xmlns:a16="http://schemas.microsoft.com/office/drawing/2014/main" id="{B786F933-5D5D-1B3C-B989-F10EC88BDC0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703" b="5427"/>
          <a:stretch>
            <a:fillRect/>
          </a:stretch>
        </p:blipFill>
        <p:spPr bwMode="auto">
          <a:xfrm>
            <a:off x="228598" y="381000"/>
            <a:ext cx="4038600" cy="8382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FF8C207-EBDF-B132-BC73-F69070FD440A}"/>
              </a:ext>
            </a:extLst>
          </p:cNvPr>
          <p:cNvPicPr>
            <a:picLocks noChangeAspect="1"/>
          </p:cNvPicPr>
          <p:nvPr/>
        </p:nvPicPr>
        <p:blipFill>
          <a:blip r:embed="rId4"/>
          <a:stretch>
            <a:fillRect/>
          </a:stretch>
        </p:blipFill>
        <p:spPr>
          <a:xfrm>
            <a:off x="659729" y="4762935"/>
            <a:ext cx="1197929" cy="1193710"/>
          </a:xfrm>
          <a:prstGeom prst="rect">
            <a:avLst/>
          </a:prstGeom>
        </p:spPr>
      </p:pic>
    </p:spTree>
    <p:extLst>
      <p:ext uri="{BB962C8B-B14F-4D97-AF65-F5344CB8AC3E}">
        <p14:creationId xmlns:p14="http://schemas.microsoft.com/office/powerpoint/2010/main" val="295596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6C277-AB7B-C2B0-5AD1-FBA2B00B1185}"/>
              </a:ext>
            </a:extLst>
          </p:cNvPr>
          <p:cNvSpPr>
            <a:spLocks noGrp="1"/>
          </p:cNvSpPr>
          <p:nvPr>
            <p:ph type="title"/>
          </p:nvPr>
        </p:nvSpPr>
        <p:spPr/>
        <p:txBody>
          <a:bodyPr/>
          <a:lstStyle/>
          <a:p>
            <a:r>
              <a:rPr lang="en-US" dirty="0"/>
              <a:t>Where I left off last time…</a:t>
            </a:r>
          </a:p>
        </p:txBody>
      </p:sp>
      <p:sp>
        <p:nvSpPr>
          <p:cNvPr id="4" name="Slide Number Placeholder 3">
            <a:extLst>
              <a:ext uri="{FF2B5EF4-FFF2-40B4-BE49-F238E27FC236}">
                <a16:creationId xmlns:a16="http://schemas.microsoft.com/office/drawing/2014/main" id="{734459A9-5B93-C1B9-238B-EA8D21A0970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D12C8A46-FD83-73BA-180A-606EAA23C58E}"/>
              </a:ext>
            </a:extLst>
          </p:cNvPr>
          <p:cNvSpPr>
            <a:spLocks noGrp="1"/>
          </p:cNvSpPr>
          <p:nvPr>
            <p:ph idx="1"/>
          </p:nvPr>
        </p:nvSpPr>
        <p:spPr/>
        <p:txBody>
          <a:bodyPr>
            <a:normAutofit/>
          </a:bodyPr>
          <a:lstStyle/>
          <a:p>
            <a:r>
              <a:rPr lang="en-US" sz="2400" b="1" dirty="0"/>
              <a:t>Brief Recap</a:t>
            </a:r>
          </a:p>
          <a:p>
            <a:pPr lvl="1"/>
            <a:r>
              <a:rPr lang="en-US" sz="2000" b="1" dirty="0"/>
              <a:t>Completed my search strings</a:t>
            </a:r>
          </a:p>
          <a:p>
            <a:pPr lvl="1"/>
            <a:r>
              <a:rPr lang="en-US" sz="2000" b="1" dirty="0"/>
              <a:t>Completed my search</a:t>
            </a:r>
          </a:p>
          <a:p>
            <a:pPr lvl="1"/>
            <a:r>
              <a:rPr lang="en-US" sz="2000" b="1" dirty="0"/>
              <a:t>Deduplication completed</a:t>
            </a:r>
          </a:p>
          <a:p>
            <a:pPr lvl="1"/>
            <a:r>
              <a:rPr lang="en-US" sz="2000" b="1" dirty="0"/>
              <a:t>Initial screening was in progress</a:t>
            </a:r>
          </a:p>
          <a:p>
            <a:r>
              <a:rPr lang="en-US" sz="2400" b="1" dirty="0"/>
              <a:t>Now</a:t>
            </a:r>
          </a:p>
          <a:p>
            <a:pPr lvl="1"/>
            <a:r>
              <a:rPr lang="en-US" sz="2000" b="1" dirty="0"/>
              <a:t>Initial screening complete</a:t>
            </a:r>
          </a:p>
          <a:p>
            <a:pPr lvl="1"/>
            <a:r>
              <a:rPr lang="en-US" sz="2000" b="1" dirty="0"/>
              <a:t>Finial screening complete</a:t>
            </a:r>
          </a:p>
          <a:p>
            <a:pPr lvl="1"/>
            <a:r>
              <a:rPr lang="en-US" sz="2000" b="1" dirty="0"/>
              <a:t>Paper chaining in progress</a:t>
            </a:r>
          </a:p>
          <a:p>
            <a:pPr lvl="1"/>
            <a:r>
              <a:rPr lang="en-US" sz="2000" b="1" dirty="0"/>
              <a:t>Data extraction in progress</a:t>
            </a:r>
          </a:p>
          <a:p>
            <a:pPr lvl="1"/>
            <a:r>
              <a:rPr lang="en-US" sz="2000" b="1" dirty="0"/>
              <a:t>Data synthesis in progress</a:t>
            </a:r>
          </a:p>
          <a:p>
            <a:pPr lvl="1"/>
            <a:r>
              <a:rPr lang="en-US" sz="2000" b="1" dirty="0"/>
              <a:t>Paper writing in progress</a:t>
            </a:r>
          </a:p>
        </p:txBody>
      </p:sp>
    </p:spTree>
    <p:extLst>
      <p:ext uri="{BB962C8B-B14F-4D97-AF65-F5344CB8AC3E}">
        <p14:creationId xmlns:p14="http://schemas.microsoft.com/office/powerpoint/2010/main" val="2961856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1A710-BA53-A925-8A9B-C0E6F51711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5C50C7-F22C-A483-1A0D-8972324D771D}"/>
              </a:ext>
            </a:extLst>
          </p:cNvPr>
          <p:cNvSpPr>
            <a:spLocks noGrp="1"/>
          </p:cNvSpPr>
          <p:nvPr>
            <p:ph type="title"/>
          </p:nvPr>
        </p:nvSpPr>
        <p:spPr/>
        <p:txBody>
          <a:bodyPr/>
          <a:lstStyle/>
          <a:p>
            <a:r>
              <a:rPr lang="en-US" dirty="0"/>
              <a:t>Screening Criteria</a:t>
            </a:r>
          </a:p>
        </p:txBody>
      </p:sp>
      <p:sp>
        <p:nvSpPr>
          <p:cNvPr id="4" name="Slide Number Placeholder 3">
            <a:extLst>
              <a:ext uri="{FF2B5EF4-FFF2-40B4-BE49-F238E27FC236}">
                <a16:creationId xmlns:a16="http://schemas.microsoft.com/office/drawing/2014/main" id="{F9A411A5-F78B-83CE-3AF4-35CF2584722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FCA01F43-AEE4-951E-1FD2-D7DA5DFB51CE}"/>
              </a:ext>
            </a:extLst>
          </p:cNvPr>
          <p:cNvSpPr>
            <a:spLocks noGrp="1"/>
          </p:cNvSpPr>
          <p:nvPr>
            <p:ph idx="1"/>
          </p:nvPr>
        </p:nvSpPr>
        <p:spPr/>
        <p:txBody>
          <a:bodyPr>
            <a:normAutofit/>
          </a:bodyPr>
          <a:lstStyle/>
          <a:p>
            <a:r>
              <a:rPr lang="fr-FR" sz="2400" b="1" dirty="0"/>
              <a:t>Population Concept </a:t>
            </a:r>
            <a:r>
              <a:rPr lang="fr-FR" sz="2400" b="1" dirty="0" err="1"/>
              <a:t>Context</a:t>
            </a:r>
            <a:r>
              <a:rPr lang="fr-FR" sz="2400" b="1" dirty="0"/>
              <a:t> (PCC) - Inclusion/Exclusion </a:t>
            </a:r>
            <a:r>
              <a:rPr lang="fr-FR" sz="2400" b="1" dirty="0" err="1"/>
              <a:t>Criteria</a:t>
            </a:r>
            <a:endParaRPr lang="fr-FR" sz="2400" b="1" dirty="0"/>
          </a:p>
          <a:p>
            <a:pPr lvl="1"/>
            <a:r>
              <a:rPr lang="en-US" sz="2000" b="1" dirty="0"/>
              <a:t>Population: Human populations defined by well-characterized population units for which COVID-19 epidemiological outcomes are reported and can be meaningfully aligned with the wastewater catchment(s) used for inference.</a:t>
            </a:r>
          </a:p>
          <a:p>
            <a:pPr lvl="1"/>
            <a:r>
              <a:rPr lang="en-US" sz="2000" b="1" dirty="0"/>
              <a:t>Concept: Machine learning–based models that use wastewater data as inputs to estimate or predict COVID-19 epidemiological outcomes within the context of wastewater-based epidemiology…</a:t>
            </a:r>
          </a:p>
          <a:p>
            <a:pPr lvl="1"/>
            <a:r>
              <a:rPr lang="en-US" sz="2000" b="1" dirty="0"/>
              <a:t>Context: Studies conducted within the domain of wastewater based epidemiology, where wastewater derived data is used as a central data source for modeling of COVID-19 epidemiological outcomes…</a:t>
            </a:r>
            <a:endParaRPr lang="fr-FR" sz="2000" b="1" dirty="0"/>
          </a:p>
          <a:p>
            <a:r>
              <a:rPr lang="en-US" sz="2400" b="1" dirty="0"/>
              <a:t>Pre-Screening Rules </a:t>
            </a:r>
          </a:p>
          <a:p>
            <a:r>
              <a:rPr lang="en-US" sz="2400" b="1" dirty="0"/>
              <a:t>Exact Exclusion Reasons (In Order)</a:t>
            </a:r>
          </a:p>
        </p:txBody>
      </p:sp>
    </p:spTree>
    <p:extLst>
      <p:ext uri="{BB962C8B-B14F-4D97-AF65-F5344CB8AC3E}">
        <p14:creationId xmlns:p14="http://schemas.microsoft.com/office/powerpoint/2010/main" val="2463985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6E700-A3AA-0172-56A2-6E2889E62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9103D-FC90-DB4B-57F6-CA0B57B77C7D}"/>
              </a:ext>
            </a:extLst>
          </p:cNvPr>
          <p:cNvSpPr>
            <a:spLocks noGrp="1"/>
          </p:cNvSpPr>
          <p:nvPr>
            <p:ph type="title"/>
          </p:nvPr>
        </p:nvSpPr>
        <p:spPr/>
        <p:txBody>
          <a:bodyPr/>
          <a:lstStyle/>
          <a:p>
            <a:r>
              <a:rPr lang="en-US" dirty="0"/>
              <a:t>Final Screening &amp; Data Extraction</a:t>
            </a:r>
          </a:p>
        </p:txBody>
      </p:sp>
      <p:sp>
        <p:nvSpPr>
          <p:cNvPr id="4" name="Slide Number Placeholder 3">
            <a:extLst>
              <a:ext uri="{FF2B5EF4-FFF2-40B4-BE49-F238E27FC236}">
                <a16:creationId xmlns:a16="http://schemas.microsoft.com/office/drawing/2014/main" id="{FA770313-B3CF-3D45-3C81-77CEA0EAA5D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A81B19EE-3104-9AE8-1228-5DE6A9A4B5A0}"/>
              </a:ext>
            </a:extLst>
          </p:cNvPr>
          <p:cNvSpPr>
            <a:spLocks noGrp="1"/>
          </p:cNvSpPr>
          <p:nvPr>
            <p:ph idx="1"/>
          </p:nvPr>
        </p:nvSpPr>
        <p:spPr/>
        <p:txBody>
          <a:bodyPr>
            <a:normAutofit/>
          </a:bodyPr>
          <a:lstStyle/>
          <a:p>
            <a:r>
              <a:rPr lang="en-US" sz="2400" b="1" dirty="0"/>
              <a:t>Final Screening Approaches</a:t>
            </a:r>
          </a:p>
          <a:p>
            <a:pPr lvl="1"/>
            <a:r>
              <a:rPr lang="en-US" sz="2000" b="1" dirty="0"/>
              <a:t>Screen all the way</a:t>
            </a:r>
          </a:p>
          <a:p>
            <a:pPr lvl="1"/>
            <a:r>
              <a:rPr lang="en-US" sz="2000" b="1" dirty="0"/>
              <a:t>Screen and extract data</a:t>
            </a:r>
          </a:p>
          <a:p>
            <a:r>
              <a:rPr lang="en-US" sz="2400" b="1" dirty="0"/>
              <a:t>No More </a:t>
            </a:r>
            <a:r>
              <a:rPr lang="en-US" sz="2400" b="1" i="1" dirty="0"/>
              <a:t>Maybe</a:t>
            </a:r>
            <a:r>
              <a:rPr lang="en-US" sz="2400" b="1" dirty="0"/>
              <a:t> Papers</a:t>
            </a:r>
          </a:p>
          <a:p>
            <a:pPr lvl="1"/>
            <a:r>
              <a:rPr lang="en-US" sz="2000" b="1" dirty="0"/>
              <a:t>Make a new rule</a:t>
            </a:r>
          </a:p>
          <a:p>
            <a:pPr lvl="1"/>
            <a:r>
              <a:rPr lang="en-US" sz="2000" b="1" dirty="0"/>
              <a:t>Create an interpretation of an existing rule</a:t>
            </a:r>
          </a:p>
          <a:p>
            <a:r>
              <a:rPr lang="en-US" sz="2400" b="1" dirty="0"/>
              <a:t>Data Extraction Template</a:t>
            </a:r>
          </a:p>
          <a:p>
            <a:endParaRPr lang="en-US" sz="2400" b="1" dirty="0"/>
          </a:p>
        </p:txBody>
      </p:sp>
    </p:spTree>
    <p:extLst>
      <p:ext uri="{BB962C8B-B14F-4D97-AF65-F5344CB8AC3E}">
        <p14:creationId xmlns:p14="http://schemas.microsoft.com/office/powerpoint/2010/main" val="1416622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8E83E-27E2-873C-D1EB-0681D6952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DD6ED-2F11-E8FE-6541-B6DD47163C21}"/>
              </a:ext>
            </a:extLst>
          </p:cNvPr>
          <p:cNvSpPr>
            <a:spLocks noGrp="1"/>
          </p:cNvSpPr>
          <p:nvPr>
            <p:ph type="title"/>
          </p:nvPr>
        </p:nvSpPr>
        <p:spPr/>
        <p:txBody>
          <a:bodyPr/>
          <a:lstStyle/>
          <a:p>
            <a:r>
              <a:rPr lang="en-US" dirty="0"/>
              <a:t>Data Synthesis</a:t>
            </a:r>
          </a:p>
        </p:txBody>
      </p:sp>
      <p:sp>
        <p:nvSpPr>
          <p:cNvPr id="4" name="Slide Number Placeholder 3">
            <a:extLst>
              <a:ext uri="{FF2B5EF4-FFF2-40B4-BE49-F238E27FC236}">
                <a16:creationId xmlns:a16="http://schemas.microsoft.com/office/drawing/2014/main" id="{891C548A-2A22-5E3A-DCEE-DD3254C5B1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AF4F728A-DF92-32C6-EEDA-E6AEFA1E6C33}"/>
              </a:ext>
            </a:extLst>
          </p:cNvPr>
          <p:cNvSpPr>
            <a:spLocks noGrp="1"/>
          </p:cNvSpPr>
          <p:nvPr>
            <p:ph idx="1"/>
          </p:nvPr>
        </p:nvSpPr>
        <p:spPr/>
        <p:txBody>
          <a:bodyPr>
            <a:normAutofit/>
          </a:bodyPr>
          <a:lstStyle/>
          <a:p>
            <a:r>
              <a:rPr lang="en-US" sz="2400" b="1" dirty="0"/>
              <a:t>Not just summarization</a:t>
            </a:r>
          </a:p>
          <a:p>
            <a:r>
              <a:rPr lang="en-US" sz="2400" b="1" dirty="0"/>
              <a:t>Find patterns</a:t>
            </a:r>
          </a:p>
          <a:p>
            <a:r>
              <a:rPr lang="en-US" sz="2400" b="1" dirty="0"/>
              <a:t>Find trends</a:t>
            </a:r>
          </a:p>
          <a:p>
            <a:r>
              <a:rPr lang="en-US" sz="2400" b="1" dirty="0"/>
              <a:t>Find inconsistencies</a:t>
            </a:r>
          </a:p>
          <a:p>
            <a:r>
              <a:rPr lang="en-US" sz="2400" b="1" dirty="0"/>
              <a:t>Find gaps</a:t>
            </a:r>
          </a:p>
        </p:txBody>
      </p:sp>
      <p:pic>
        <p:nvPicPr>
          <p:cNvPr id="5" name="Picture 4">
            <a:extLst>
              <a:ext uri="{FF2B5EF4-FFF2-40B4-BE49-F238E27FC236}">
                <a16:creationId xmlns:a16="http://schemas.microsoft.com/office/drawing/2014/main" id="{7BF6616B-7DD9-2B53-13F7-F9795B7AC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91315" y="1198564"/>
            <a:ext cx="4919685" cy="4920629"/>
          </a:xfrm>
          <a:prstGeom prst="rect">
            <a:avLst/>
          </a:prstGeom>
        </p:spPr>
      </p:pic>
    </p:spTree>
    <p:extLst>
      <p:ext uri="{BB962C8B-B14F-4D97-AF65-F5344CB8AC3E}">
        <p14:creationId xmlns:p14="http://schemas.microsoft.com/office/powerpoint/2010/main" val="1587859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17474-FC69-9579-AA38-686178EB3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B02F6C-45F2-9A78-CE1D-EE4C8E1C8C11}"/>
              </a:ext>
            </a:extLst>
          </p:cNvPr>
          <p:cNvSpPr>
            <a:spLocks noGrp="1"/>
          </p:cNvSpPr>
          <p:nvPr>
            <p:ph type="title"/>
          </p:nvPr>
        </p:nvSpPr>
        <p:spPr/>
        <p:txBody>
          <a:bodyPr/>
          <a:lstStyle/>
          <a:p>
            <a:r>
              <a:rPr lang="en-US" dirty="0"/>
              <a:t>Paper Writing</a:t>
            </a:r>
          </a:p>
        </p:txBody>
      </p:sp>
      <p:sp>
        <p:nvSpPr>
          <p:cNvPr id="4" name="Slide Number Placeholder 3">
            <a:extLst>
              <a:ext uri="{FF2B5EF4-FFF2-40B4-BE49-F238E27FC236}">
                <a16:creationId xmlns:a16="http://schemas.microsoft.com/office/drawing/2014/main" id="{6576B20C-80A9-BC74-4FE2-9FF8848312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6D03DBA0-0AE0-B052-A6C1-FEB8A15611A0}"/>
              </a:ext>
            </a:extLst>
          </p:cNvPr>
          <p:cNvSpPr>
            <a:spLocks noGrp="1"/>
          </p:cNvSpPr>
          <p:nvPr>
            <p:ph idx="1"/>
          </p:nvPr>
        </p:nvSpPr>
        <p:spPr/>
        <p:txBody>
          <a:bodyPr>
            <a:normAutofit/>
          </a:bodyPr>
          <a:lstStyle/>
          <a:p>
            <a:r>
              <a:rPr lang="en-US" sz="2400" b="1" dirty="0"/>
              <a:t>Methods</a:t>
            </a:r>
          </a:p>
          <a:p>
            <a:r>
              <a:rPr lang="en-US" sz="2400" b="1" dirty="0"/>
              <a:t>Use Your Work So Far!~</a:t>
            </a:r>
          </a:p>
          <a:p>
            <a:r>
              <a:rPr lang="en-US" sz="2400" b="1" dirty="0"/>
              <a:t>Defend Your Reasoning</a:t>
            </a:r>
          </a:p>
          <a:p>
            <a:r>
              <a:rPr lang="en-US" sz="2400" b="1" dirty="0"/>
              <a:t>Flow Charts</a:t>
            </a:r>
          </a:p>
          <a:p>
            <a:r>
              <a:rPr lang="en-US" sz="2400" b="1" dirty="0"/>
              <a:t>Extraction &amp; Synthesis</a:t>
            </a:r>
          </a:p>
          <a:p>
            <a:endParaRPr lang="en-US" sz="2400" b="1" dirty="0"/>
          </a:p>
        </p:txBody>
      </p:sp>
      <p:pic>
        <p:nvPicPr>
          <p:cNvPr id="1030" name="Picture 6">
            <a:extLst>
              <a:ext uri="{FF2B5EF4-FFF2-40B4-BE49-F238E27FC236}">
                <a16:creationId xmlns:a16="http://schemas.microsoft.com/office/drawing/2014/main" id="{C1FD2C8E-E623-4226-6476-DACA84DC0F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54170" y="1378071"/>
            <a:ext cx="4756830" cy="456858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52FA0A7-36AD-B082-CFB0-9D2DA45C26C8}"/>
              </a:ext>
            </a:extLst>
          </p:cNvPr>
          <p:cNvSpPr txBox="1"/>
          <p:nvPr/>
        </p:nvSpPr>
        <p:spPr>
          <a:xfrm>
            <a:off x="3276600" y="6413701"/>
            <a:ext cx="8534400" cy="307777"/>
          </a:xfrm>
          <a:prstGeom prst="rect">
            <a:avLst/>
          </a:prstGeom>
          <a:noFill/>
        </p:spPr>
        <p:txBody>
          <a:bodyPr wrap="square">
            <a:spAutoFit/>
          </a:bodyPr>
          <a:lstStyle/>
          <a:p>
            <a:r>
              <a:rPr lang="pt-BR" sz="1400" dirty="0"/>
              <a:t>Atizinha, CC BY-SA 4.0 &lt;https://creativecommons.org/licenses/by-sa/4.0&gt;, via Wikimedia Commons</a:t>
            </a:r>
            <a:endParaRPr lang="en-US" sz="1400" dirty="0"/>
          </a:p>
        </p:txBody>
      </p:sp>
    </p:spTree>
    <p:extLst>
      <p:ext uri="{BB962C8B-B14F-4D97-AF65-F5344CB8AC3E}">
        <p14:creationId xmlns:p14="http://schemas.microsoft.com/office/powerpoint/2010/main" val="3631276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0611-C60B-3637-8124-CA108E77B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060FD-5E01-8B7B-BA50-DA6E036EBB1A}"/>
              </a:ext>
            </a:extLst>
          </p:cNvPr>
          <p:cNvSpPr>
            <a:spLocks noGrp="1"/>
          </p:cNvSpPr>
          <p:nvPr>
            <p:ph type="title"/>
          </p:nvPr>
        </p:nvSpPr>
        <p:spPr/>
        <p:txBody>
          <a:bodyPr/>
          <a:lstStyle/>
          <a:p>
            <a:r>
              <a:rPr lang="en-US" dirty="0"/>
              <a:t>Closing Notes</a:t>
            </a:r>
          </a:p>
        </p:txBody>
      </p:sp>
      <p:sp>
        <p:nvSpPr>
          <p:cNvPr id="4" name="Slide Number Placeholder 3">
            <a:extLst>
              <a:ext uri="{FF2B5EF4-FFF2-40B4-BE49-F238E27FC236}">
                <a16:creationId xmlns:a16="http://schemas.microsoft.com/office/drawing/2014/main" id="{D42A3468-C435-5FAB-5747-309ED8693D6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prstClr val="black"/>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Content Placeholder 5">
            <a:extLst>
              <a:ext uri="{FF2B5EF4-FFF2-40B4-BE49-F238E27FC236}">
                <a16:creationId xmlns:a16="http://schemas.microsoft.com/office/drawing/2014/main" id="{61540C4E-8142-A88E-989C-A2684F4F574D}"/>
              </a:ext>
            </a:extLst>
          </p:cNvPr>
          <p:cNvSpPr>
            <a:spLocks noGrp="1"/>
          </p:cNvSpPr>
          <p:nvPr>
            <p:ph idx="1"/>
          </p:nvPr>
        </p:nvSpPr>
        <p:spPr/>
        <p:txBody>
          <a:bodyPr>
            <a:normAutofit/>
          </a:bodyPr>
          <a:lstStyle/>
          <a:p>
            <a:r>
              <a:rPr lang="en-US" sz="2400" b="1" dirty="0"/>
              <a:t>Would I do this again?</a:t>
            </a:r>
          </a:p>
          <a:p>
            <a:r>
              <a:rPr lang="en-US" sz="2400" b="1" dirty="0"/>
              <a:t>Was it useful?</a:t>
            </a:r>
          </a:p>
          <a:p>
            <a:r>
              <a:rPr lang="en-US" sz="2400" b="1" dirty="0"/>
              <a:t>Questions?</a:t>
            </a:r>
          </a:p>
          <a:p>
            <a:endParaRPr lang="en-US" sz="2400" b="1" dirty="0"/>
          </a:p>
        </p:txBody>
      </p:sp>
    </p:spTree>
    <p:extLst>
      <p:ext uri="{BB962C8B-B14F-4D97-AF65-F5344CB8AC3E}">
        <p14:creationId xmlns:p14="http://schemas.microsoft.com/office/powerpoint/2010/main" val="499700727"/>
      </p:ext>
    </p:extLst>
  </p:cSld>
  <p:clrMapOvr>
    <a:masterClrMapping/>
  </p:clrMapOvr>
</p:sld>
</file>

<file path=ppt/theme/theme1.xml><?xml version="1.0" encoding="utf-8"?>
<a:theme xmlns:a="http://schemas.openxmlformats.org/drawingml/2006/main" name="1_Office Theme">
  <a:themeElements>
    <a:clrScheme name="Custom 4">
      <a:dk1>
        <a:sysClr val="windowText" lastClr="000000"/>
      </a:dk1>
      <a:lt1>
        <a:sysClr val="window" lastClr="FFFFFF"/>
      </a:lt1>
      <a:dk2>
        <a:srgbClr val="1F497D"/>
      </a:dk2>
      <a:lt2>
        <a:srgbClr val="EEECE1"/>
      </a:lt2>
      <a:accent1>
        <a:srgbClr val="A60F2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wrap="square" lIns="91440" tIns="45720" rIns="91440" bIns="45720" rtlCol="0">
        <a:spAutoFit/>
      </a:bodyPr>
      <a:lstStyle>
        <a:defPPr>
          <a:defRPr sz="2000" i="1" dirty="0"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904</TotalTime>
  <Words>1765</Words>
  <Application>Microsoft Office PowerPoint</Application>
  <PresentationFormat>Widescreen</PresentationFormat>
  <Paragraphs>157</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Wingdings</vt:lpstr>
      <vt:lpstr>1_Office Theme</vt:lpstr>
      <vt:lpstr>Topic: Finishing a Scoping Review</vt:lpstr>
      <vt:lpstr>Where I left off last time…</vt:lpstr>
      <vt:lpstr>Screening Criteria</vt:lpstr>
      <vt:lpstr>Final Screening &amp; Data Extraction</vt:lpstr>
      <vt:lpstr>Data Synthesis</vt:lpstr>
      <vt:lpstr>Paper Writing</vt:lpstr>
      <vt:lpstr>Closing 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 Kim</dc:creator>
  <cp:lastModifiedBy>Eric Kim</cp:lastModifiedBy>
  <cp:revision>1</cp:revision>
  <dcterms:created xsi:type="dcterms:W3CDTF">2025-12-10T04:47:16Z</dcterms:created>
  <dcterms:modified xsi:type="dcterms:W3CDTF">2026-04-15T17:11:31Z</dcterms:modified>
</cp:coreProperties>
</file>