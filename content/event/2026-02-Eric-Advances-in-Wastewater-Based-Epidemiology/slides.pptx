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1164" r:id="rId2"/>
    <p:sldId id="1221" r:id="rId3"/>
    <p:sldId id="1233" r:id="rId4"/>
    <p:sldId id="1234" r:id="rId5"/>
    <p:sldId id="1235" r:id="rId6"/>
    <p:sldId id="1236" r:id="rId7"/>
    <p:sldId id="1237" r:id="rId8"/>
    <p:sldId id="1238" r:id="rId9"/>
    <p:sldId id="1240" r:id="rId10"/>
    <p:sldId id="124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79103" autoAdjust="0"/>
  </p:normalViewPr>
  <p:slideViewPr>
    <p:cSldViewPr snapToGrid="0">
      <p:cViewPr varScale="1">
        <p:scale>
          <a:sx n="90" d="100"/>
          <a:sy n="90" d="100"/>
        </p:scale>
        <p:origin x="153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c Kim" userId="f3af028d46f0bb00" providerId="LiveId" clId="{65DA6EE4-C713-4EBA-B503-F8294E0DF8CB}"/>
    <pc:docChg chg="undo custSel modSld">
      <pc:chgData name="Eric Kim" userId="f3af028d46f0bb00" providerId="LiveId" clId="{65DA6EE4-C713-4EBA-B503-F8294E0DF8CB}" dt="2026-02-25T02:15:40.004" v="746" actId="20577"/>
      <pc:docMkLst>
        <pc:docMk/>
      </pc:docMkLst>
      <pc:sldChg chg="modSp mod modNotesTx">
        <pc:chgData name="Eric Kim" userId="f3af028d46f0bb00" providerId="LiveId" clId="{65DA6EE4-C713-4EBA-B503-F8294E0DF8CB}" dt="2026-02-25T02:15:40.004" v="746" actId="20577"/>
        <pc:sldMkLst>
          <pc:docMk/>
          <pc:sldMk cId="2961856518" sldId="1221"/>
        </pc:sldMkLst>
        <pc:spChg chg="mod">
          <ac:chgData name="Eric Kim" userId="f3af028d46f0bb00" providerId="LiveId" clId="{65DA6EE4-C713-4EBA-B503-F8294E0DF8CB}" dt="2026-02-25T02:15:40.004" v="746" actId="20577"/>
          <ac:spMkLst>
            <pc:docMk/>
            <pc:sldMk cId="2961856518" sldId="1221"/>
            <ac:spMk id="2" creationId="{E7A6C277-AB7B-C2B0-5AD1-FBA2B00B1185}"/>
          </ac:spMkLst>
        </pc:spChg>
        <pc:spChg chg="mod">
          <ac:chgData name="Eric Kim" userId="f3af028d46f0bb00" providerId="LiveId" clId="{65DA6EE4-C713-4EBA-B503-F8294E0DF8CB}" dt="2026-02-25T02:04:40.952" v="738" actId="404"/>
          <ac:spMkLst>
            <pc:docMk/>
            <pc:sldMk cId="2961856518" sldId="1221"/>
            <ac:spMk id="6" creationId="{D12C8A46-FD83-73BA-180A-606EAA23C58E}"/>
          </ac:spMkLst>
        </pc:spChg>
      </pc:sldChg>
    </pc:docChg>
  </pc:docChgLst>
  <pc:docChgLst>
    <pc:chgData name="Eric Kim" userId="f3af028d46f0bb00" providerId="LiveId" clId="{1E1C29BC-925D-412A-8126-C21905786C34}"/>
    <pc:docChg chg="undo custSel addSld delSld modSld sldOrd">
      <pc:chgData name="Eric Kim" userId="f3af028d46f0bb00" providerId="LiveId" clId="{1E1C29BC-925D-412A-8126-C21905786C34}" dt="2026-02-25T06:59:20.224" v="12712" actId="2711"/>
      <pc:docMkLst>
        <pc:docMk/>
      </pc:docMkLst>
      <pc:sldChg chg="modSp mod">
        <pc:chgData name="Eric Kim" userId="f3af028d46f0bb00" providerId="LiveId" clId="{1E1C29BC-925D-412A-8126-C21905786C34}" dt="2026-02-24T20:10:38.601" v="8203" actId="20577"/>
        <pc:sldMkLst>
          <pc:docMk/>
          <pc:sldMk cId="2955960054" sldId="1164"/>
        </pc:sldMkLst>
        <pc:spChg chg="mod">
          <ac:chgData name="Eric Kim" userId="f3af028d46f0bb00" providerId="LiveId" clId="{1E1C29BC-925D-412A-8126-C21905786C34}" dt="2026-02-24T20:10:38.601" v="8203" actId="20577"/>
          <ac:spMkLst>
            <pc:docMk/>
            <pc:sldMk cId="2955960054" sldId="1164"/>
            <ac:spMk id="2" creationId="{86502007-200B-2BD2-9EB0-5EE2A6A353A4}"/>
          </ac:spMkLst>
        </pc:spChg>
      </pc:sldChg>
      <pc:sldChg chg="delSp modSp mod delAnim modAnim modNotesTx">
        <pc:chgData name="Eric Kim" userId="f3af028d46f0bb00" providerId="LiveId" clId="{1E1C29BC-925D-412A-8126-C21905786C34}" dt="2026-02-25T06:59:20.224" v="12712" actId="2711"/>
        <pc:sldMkLst>
          <pc:docMk/>
          <pc:sldMk cId="2961856518" sldId="1221"/>
        </pc:sldMkLst>
        <pc:spChg chg="mod">
          <ac:chgData name="Eric Kim" userId="f3af028d46f0bb00" providerId="LiveId" clId="{1E1C29BC-925D-412A-8126-C21905786C34}" dt="2026-02-25T06:59:20.224" v="12712" actId="2711"/>
          <ac:spMkLst>
            <pc:docMk/>
            <pc:sldMk cId="2961856518" sldId="1221"/>
            <ac:spMk id="2" creationId="{E7A6C277-AB7B-C2B0-5AD1-FBA2B00B1185}"/>
          </ac:spMkLst>
        </pc:spChg>
        <pc:spChg chg="mod">
          <ac:chgData name="Eric Kim" userId="f3af028d46f0bb00" providerId="LiveId" clId="{1E1C29BC-925D-412A-8126-C21905786C34}" dt="2026-02-25T06:59:20.224" v="12712" actId="2711"/>
          <ac:spMkLst>
            <pc:docMk/>
            <pc:sldMk cId="2961856518" sldId="1221"/>
            <ac:spMk id="4" creationId="{734459A9-5B93-C1B9-238B-EA8D21A09709}"/>
          </ac:spMkLst>
        </pc:spChg>
        <pc:spChg chg="mod">
          <ac:chgData name="Eric Kim" userId="f3af028d46f0bb00" providerId="LiveId" clId="{1E1C29BC-925D-412A-8126-C21905786C34}" dt="2026-02-25T06:59:20.224" v="12712" actId="2711"/>
          <ac:spMkLst>
            <pc:docMk/>
            <pc:sldMk cId="2961856518" sldId="1221"/>
            <ac:spMk id="6" creationId="{D12C8A46-FD83-73BA-180A-606EAA23C58E}"/>
          </ac:spMkLst>
        </pc:spChg>
      </pc:sldChg>
      <pc:sldChg chg="del">
        <pc:chgData name="Eric Kim" userId="f3af028d46f0bb00" providerId="LiveId" clId="{1E1C29BC-925D-412A-8126-C21905786C34}" dt="2026-02-24T23:20:46.138" v="8257" actId="47"/>
        <pc:sldMkLst>
          <pc:docMk/>
          <pc:sldMk cId="2613995854" sldId="1222"/>
        </pc:sldMkLst>
      </pc:sldChg>
      <pc:sldChg chg="del">
        <pc:chgData name="Eric Kim" userId="f3af028d46f0bb00" providerId="LiveId" clId="{1E1C29BC-925D-412A-8126-C21905786C34}" dt="2026-02-24T23:20:47.319" v="8258" actId="47"/>
        <pc:sldMkLst>
          <pc:docMk/>
          <pc:sldMk cId="3233707881" sldId="1223"/>
        </pc:sldMkLst>
      </pc:sldChg>
      <pc:sldChg chg="del">
        <pc:chgData name="Eric Kim" userId="f3af028d46f0bb00" providerId="LiveId" clId="{1E1C29BC-925D-412A-8126-C21905786C34}" dt="2026-02-24T23:20:48.031" v="8259" actId="47"/>
        <pc:sldMkLst>
          <pc:docMk/>
          <pc:sldMk cId="2610431545" sldId="1224"/>
        </pc:sldMkLst>
      </pc:sldChg>
      <pc:sldChg chg="del">
        <pc:chgData name="Eric Kim" userId="f3af028d46f0bb00" providerId="LiveId" clId="{1E1C29BC-925D-412A-8126-C21905786C34}" dt="2026-02-24T23:20:48.587" v="8260" actId="47"/>
        <pc:sldMkLst>
          <pc:docMk/>
          <pc:sldMk cId="3903219413" sldId="1225"/>
        </pc:sldMkLst>
      </pc:sldChg>
      <pc:sldChg chg="del">
        <pc:chgData name="Eric Kim" userId="f3af028d46f0bb00" providerId="LiveId" clId="{1E1C29BC-925D-412A-8126-C21905786C34}" dt="2026-02-24T23:20:50.032" v="8261" actId="47"/>
        <pc:sldMkLst>
          <pc:docMk/>
          <pc:sldMk cId="1921974994" sldId="1226"/>
        </pc:sldMkLst>
      </pc:sldChg>
      <pc:sldChg chg="del">
        <pc:chgData name="Eric Kim" userId="f3af028d46f0bb00" providerId="LiveId" clId="{1E1C29BC-925D-412A-8126-C21905786C34}" dt="2026-02-24T23:20:50.695" v="8262" actId="47"/>
        <pc:sldMkLst>
          <pc:docMk/>
          <pc:sldMk cId="72928179" sldId="1227"/>
        </pc:sldMkLst>
      </pc:sldChg>
      <pc:sldChg chg="del">
        <pc:chgData name="Eric Kim" userId="f3af028d46f0bb00" providerId="LiveId" clId="{1E1C29BC-925D-412A-8126-C21905786C34}" dt="2026-02-24T23:20:51.533" v="8263" actId="47"/>
        <pc:sldMkLst>
          <pc:docMk/>
          <pc:sldMk cId="2153509314" sldId="1228"/>
        </pc:sldMkLst>
      </pc:sldChg>
      <pc:sldChg chg="del">
        <pc:chgData name="Eric Kim" userId="f3af028d46f0bb00" providerId="LiveId" clId="{1E1C29BC-925D-412A-8126-C21905786C34}" dt="2026-02-24T23:21:06.001" v="8284" actId="47"/>
        <pc:sldMkLst>
          <pc:docMk/>
          <pc:sldMk cId="2270176086" sldId="1229"/>
        </pc:sldMkLst>
      </pc:sldChg>
      <pc:sldChg chg="del">
        <pc:chgData name="Eric Kim" userId="f3af028d46f0bb00" providerId="LiveId" clId="{1E1C29BC-925D-412A-8126-C21905786C34}" dt="2026-02-24T23:21:06.758" v="8285" actId="47"/>
        <pc:sldMkLst>
          <pc:docMk/>
          <pc:sldMk cId="3481706199" sldId="1230"/>
        </pc:sldMkLst>
      </pc:sldChg>
      <pc:sldChg chg="del">
        <pc:chgData name="Eric Kim" userId="f3af028d46f0bb00" providerId="LiveId" clId="{1E1C29BC-925D-412A-8126-C21905786C34}" dt="2026-02-24T23:21:08.057" v="8286" actId="47"/>
        <pc:sldMkLst>
          <pc:docMk/>
          <pc:sldMk cId="2061418678" sldId="1231"/>
        </pc:sldMkLst>
      </pc:sldChg>
      <pc:sldChg chg="del">
        <pc:chgData name="Eric Kim" userId="f3af028d46f0bb00" providerId="LiveId" clId="{1E1C29BC-925D-412A-8126-C21905786C34}" dt="2026-02-24T23:21:11.896" v="8289" actId="47"/>
        <pc:sldMkLst>
          <pc:docMk/>
          <pc:sldMk cId="835365018" sldId="1232"/>
        </pc:sldMkLst>
      </pc:sldChg>
      <pc:sldChg chg="addSp modSp add mod modNotesTx">
        <pc:chgData name="Eric Kim" userId="f3af028d46f0bb00" providerId="LiveId" clId="{1E1C29BC-925D-412A-8126-C21905786C34}" dt="2026-02-25T06:59:15.947" v="12711" actId="2711"/>
        <pc:sldMkLst>
          <pc:docMk/>
          <pc:sldMk cId="2193057646" sldId="1233"/>
        </pc:sldMkLst>
        <pc:spChg chg="mod">
          <ac:chgData name="Eric Kim" userId="f3af028d46f0bb00" providerId="LiveId" clId="{1E1C29BC-925D-412A-8126-C21905786C34}" dt="2026-02-25T06:59:15.947" v="12711" actId="2711"/>
          <ac:spMkLst>
            <pc:docMk/>
            <pc:sldMk cId="2193057646" sldId="1233"/>
            <ac:spMk id="2" creationId="{1503AAA0-30A4-80FA-B67D-F8EED2587C7A}"/>
          </ac:spMkLst>
        </pc:spChg>
        <pc:spChg chg="add mod">
          <ac:chgData name="Eric Kim" userId="f3af028d46f0bb00" providerId="LiveId" clId="{1E1C29BC-925D-412A-8126-C21905786C34}" dt="2026-02-25T06:59:15.947" v="12711" actId="2711"/>
          <ac:spMkLst>
            <pc:docMk/>
            <pc:sldMk cId="2193057646" sldId="1233"/>
            <ac:spMk id="3" creationId="{3F7D56DD-6431-280C-143B-BECBFB4D1BF1}"/>
          </ac:spMkLst>
        </pc:spChg>
        <pc:spChg chg="mod">
          <ac:chgData name="Eric Kim" userId="f3af028d46f0bb00" providerId="LiveId" clId="{1E1C29BC-925D-412A-8126-C21905786C34}" dt="2026-02-25T06:59:15.947" v="12711" actId="2711"/>
          <ac:spMkLst>
            <pc:docMk/>
            <pc:sldMk cId="2193057646" sldId="1233"/>
            <ac:spMk id="4" creationId="{4126D73B-1188-9E45-C423-7111C4158841}"/>
          </ac:spMkLst>
        </pc:spChg>
        <pc:spChg chg="mod">
          <ac:chgData name="Eric Kim" userId="f3af028d46f0bb00" providerId="LiveId" clId="{1E1C29BC-925D-412A-8126-C21905786C34}" dt="2026-02-25T06:59:15.947" v="12711" actId="2711"/>
          <ac:spMkLst>
            <pc:docMk/>
            <pc:sldMk cId="2193057646" sldId="1233"/>
            <ac:spMk id="6" creationId="{961B779F-E553-F040-32C1-ABED1E7CFAD4}"/>
          </ac:spMkLst>
        </pc:spChg>
        <pc:picChg chg="add mod">
          <ac:chgData name="Eric Kim" userId="f3af028d46f0bb00" providerId="LiveId" clId="{1E1C29BC-925D-412A-8126-C21905786C34}" dt="2026-02-25T06:59:15.947" v="12711" actId="2711"/>
          <ac:picMkLst>
            <pc:docMk/>
            <pc:sldMk cId="2193057646" sldId="1233"/>
            <ac:picMk id="1026" creationId="{5F84B682-B11F-4914-15BB-BD9E9D0C5D70}"/>
          </ac:picMkLst>
        </pc:picChg>
      </pc:sldChg>
      <pc:sldChg chg="modSp add mod modNotesTx">
        <pc:chgData name="Eric Kim" userId="f3af028d46f0bb00" providerId="LiveId" clId="{1E1C29BC-925D-412A-8126-C21905786C34}" dt="2026-02-25T06:59:11.672" v="12710" actId="2711"/>
        <pc:sldMkLst>
          <pc:docMk/>
          <pc:sldMk cId="2581107415" sldId="1234"/>
        </pc:sldMkLst>
        <pc:spChg chg="mod">
          <ac:chgData name="Eric Kim" userId="f3af028d46f0bb00" providerId="LiveId" clId="{1E1C29BC-925D-412A-8126-C21905786C34}" dt="2026-02-25T06:59:11.672" v="12710" actId="2711"/>
          <ac:spMkLst>
            <pc:docMk/>
            <pc:sldMk cId="2581107415" sldId="1234"/>
            <ac:spMk id="2" creationId="{BCD53B61-2FF2-5B06-82A2-5DAF5197E9CB}"/>
          </ac:spMkLst>
        </pc:spChg>
        <pc:spChg chg="mod">
          <ac:chgData name="Eric Kim" userId="f3af028d46f0bb00" providerId="LiveId" clId="{1E1C29BC-925D-412A-8126-C21905786C34}" dt="2026-02-25T06:59:11.672" v="12710" actId="2711"/>
          <ac:spMkLst>
            <pc:docMk/>
            <pc:sldMk cId="2581107415" sldId="1234"/>
            <ac:spMk id="4" creationId="{3DBFB2D3-B2C7-E447-E387-601CBF0BFFBF}"/>
          </ac:spMkLst>
        </pc:spChg>
        <pc:spChg chg="mod">
          <ac:chgData name="Eric Kim" userId="f3af028d46f0bb00" providerId="LiveId" clId="{1E1C29BC-925D-412A-8126-C21905786C34}" dt="2026-02-25T06:59:11.672" v="12710" actId="2711"/>
          <ac:spMkLst>
            <pc:docMk/>
            <pc:sldMk cId="2581107415" sldId="1234"/>
            <ac:spMk id="6" creationId="{8CB25EB0-E715-20A6-76A7-DB33D75F517B}"/>
          </ac:spMkLst>
        </pc:spChg>
      </pc:sldChg>
      <pc:sldChg chg="addSp delSp modSp add mod modNotesTx">
        <pc:chgData name="Eric Kim" userId="f3af028d46f0bb00" providerId="LiveId" clId="{1E1C29BC-925D-412A-8126-C21905786C34}" dt="2026-02-25T06:59:07.909" v="12709" actId="2711"/>
        <pc:sldMkLst>
          <pc:docMk/>
          <pc:sldMk cId="523680633" sldId="1235"/>
        </pc:sldMkLst>
        <pc:spChg chg="mod">
          <ac:chgData name="Eric Kim" userId="f3af028d46f0bb00" providerId="LiveId" clId="{1E1C29BC-925D-412A-8126-C21905786C34}" dt="2026-02-25T06:59:07.909" v="12709" actId="2711"/>
          <ac:spMkLst>
            <pc:docMk/>
            <pc:sldMk cId="523680633" sldId="1235"/>
            <ac:spMk id="2" creationId="{B37EEA89-1422-55CA-49A8-DC12C8945DD1}"/>
          </ac:spMkLst>
        </pc:spChg>
        <pc:spChg chg="add mod">
          <ac:chgData name="Eric Kim" userId="f3af028d46f0bb00" providerId="LiveId" clId="{1E1C29BC-925D-412A-8126-C21905786C34}" dt="2026-02-25T06:59:07.909" v="12709" actId="2711"/>
          <ac:spMkLst>
            <pc:docMk/>
            <pc:sldMk cId="523680633" sldId="1235"/>
            <ac:spMk id="3" creationId="{0CA45D28-DBB2-A119-C82D-226FCCA6008C}"/>
          </ac:spMkLst>
        </pc:spChg>
        <pc:spChg chg="mod">
          <ac:chgData name="Eric Kim" userId="f3af028d46f0bb00" providerId="LiveId" clId="{1E1C29BC-925D-412A-8126-C21905786C34}" dt="2026-02-25T06:59:07.909" v="12709" actId="2711"/>
          <ac:spMkLst>
            <pc:docMk/>
            <pc:sldMk cId="523680633" sldId="1235"/>
            <ac:spMk id="4" creationId="{D39FCA90-E795-DFB1-86DB-5A6DFF9AEB49}"/>
          </ac:spMkLst>
        </pc:spChg>
        <pc:spChg chg="mod">
          <ac:chgData name="Eric Kim" userId="f3af028d46f0bb00" providerId="LiveId" clId="{1E1C29BC-925D-412A-8126-C21905786C34}" dt="2026-02-25T06:59:07.909" v="12709" actId="2711"/>
          <ac:spMkLst>
            <pc:docMk/>
            <pc:sldMk cId="523680633" sldId="1235"/>
            <ac:spMk id="6" creationId="{268CFD93-51D9-1903-36B8-2D2E066E4526}"/>
          </ac:spMkLst>
        </pc:spChg>
        <pc:picChg chg="add del">
          <ac:chgData name="Eric Kim" userId="f3af028d46f0bb00" providerId="LiveId" clId="{1E1C29BC-925D-412A-8126-C21905786C34}" dt="2026-02-25T05:17:58.737" v="10920" actId="478"/>
          <ac:picMkLst>
            <pc:docMk/>
            <pc:sldMk cId="523680633" sldId="1235"/>
            <ac:picMk id="2050" creationId="{8456C093-940A-0BCB-D744-2B5E63CC1142}"/>
          </ac:picMkLst>
        </pc:picChg>
        <pc:picChg chg="add del mod">
          <ac:chgData name="Eric Kim" userId="f3af028d46f0bb00" providerId="LiveId" clId="{1E1C29BC-925D-412A-8126-C21905786C34}" dt="2026-02-25T05:21:15.396" v="10926" actId="478"/>
          <ac:picMkLst>
            <pc:docMk/>
            <pc:sldMk cId="523680633" sldId="1235"/>
            <ac:picMk id="2052" creationId="{CF8EA6BB-9603-D696-FE70-4AA8B1B1092A}"/>
          </ac:picMkLst>
        </pc:picChg>
        <pc:picChg chg="add mod">
          <ac:chgData name="Eric Kim" userId="f3af028d46f0bb00" providerId="LiveId" clId="{1E1C29BC-925D-412A-8126-C21905786C34}" dt="2026-02-25T06:59:07.909" v="12709" actId="2711"/>
          <ac:picMkLst>
            <pc:docMk/>
            <pc:sldMk cId="523680633" sldId="1235"/>
            <ac:picMk id="2054" creationId="{6D1C6CBF-D46F-0CC6-5367-2078708B1C23}"/>
          </ac:picMkLst>
        </pc:picChg>
      </pc:sldChg>
      <pc:sldChg chg="addSp modSp add mod modNotesTx">
        <pc:chgData name="Eric Kim" userId="f3af028d46f0bb00" providerId="LiveId" clId="{1E1C29BC-925D-412A-8126-C21905786C34}" dt="2026-02-25T06:59:03.328" v="12708" actId="2711"/>
        <pc:sldMkLst>
          <pc:docMk/>
          <pc:sldMk cId="3614647568" sldId="1236"/>
        </pc:sldMkLst>
        <pc:spChg chg="mod">
          <ac:chgData name="Eric Kim" userId="f3af028d46f0bb00" providerId="LiveId" clId="{1E1C29BC-925D-412A-8126-C21905786C34}" dt="2026-02-25T06:59:03.328" v="12708" actId="2711"/>
          <ac:spMkLst>
            <pc:docMk/>
            <pc:sldMk cId="3614647568" sldId="1236"/>
            <ac:spMk id="2" creationId="{BD110260-F9CB-A03E-E2B4-3230C3586790}"/>
          </ac:spMkLst>
        </pc:spChg>
        <pc:spChg chg="mod">
          <ac:chgData name="Eric Kim" userId="f3af028d46f0bb00" providerId="LiveId" clId="{1E1C29BC-925D-412A-8126-C21905786C34}" dt="2026-02-25T06:59:03.328" v="12708" actId="2711"/>
          <ac:spMkLst>
            <pc:docMk/>
            <pc:sldMk cId="3614647568" sldId="1236"/>
            <ac:spMk id="4" creationId="{D5378466-E56C-3C85-ED44-FCA89FB7820E}"/>
          </ac:spMkLst>
        </pc:spChg>
        <pc:spChg chg="mod">
          <ac:chgData name="Eric Kim" userId="f3af028d46f0bb00" providerId="LiveId" clId="{1E1C29BC-925D-412A-8126-C21905786C34}" dt="2026-02-25T06:59:03.328" v="12708" actId="2711"/>
          <ac:spMkLst>
            <pc:docMk/>
            <pc:sldMk cId="3614647568" sldId="1236"/>
            <ac:spMk id="6" creationId="{DC14F8DA-D1E0-AD52-AA67-008A791512D8}"/>
          </ac:spMkLst>
        </pc:spChg>
        <pc:graphicFrameChg chg="add mod modGraphic">
          <ac:chgData name="Eric Kim" userId="f3af028d46f0bb00" providerId="LiveId" clId="{1E1C29BC-925D-412A-8126-C21905786C34}" dt="2026-02-25T05:44:36.931" v="11539" actId="1076"/>
          <ac:graphicFrameMkLst>
            <pc:docMk/>
            <pc:sldMk cId="3614647568" sldId="1236"/>
            <ac:graphicFrameMk id="3" creationId="{504ABD11-7815-C07E-B283-D623FE42B565}"/>
          </ac:graphicFrameMkLst>
        </pc:graphicFrameChg>
      </pc:sldChg>
      <pc:sldChg chg="addSp delSp modSp add mod modNotesTx">
        <pc:chgData name="Eric Kim" userId="f3af028d46f0bb00" providerId="LiveId" clId="{1E1C29BC-925D-412A-8126-C21905786C34}" dt="2026-02-25T06:58:59.943" v="12707" actId="2711"/>
        <pc:sldMkLst>
          <pc:docMk/>
          <pc:sldMk cId="3236485176" sldId="1237"/>
        </pc:sldMkLst>
        <pc:spChg chg="mod">
          <ac:chgData name="Eric Kim" userId="f3af028d46f0bb00" providerId="LiveId" clId="{1E1C29BC-925D-412A-8126-C21905786C34}" dt="2026-02-25T06:58:59.943" v="12707" actId="2711"/>
          <ac:spMkLst>
            <pc:docMk/>
            <pc:sldMk cId="3236485176" sldId="1237"/>
            <ac:spMk id="2" creationId="{9F460051-1841-6962-03A6-ADA1BD66F60F}"/>
          </ac:spMkLst>
        </pc:spChg>
        <pc:spChg chg="mod">
          <ac:chgData name="Eric Kim" userId="f3af028d46f0bb00" providerId="LiveId" clId="{1E1C29BC-925D-412A-8126-C21905786C34}" dt="2026-02-25T06:58:59.943" v="12707" actId="2711"/>
          <ac:spMkLst>
            <pc:docMk/>
            <pc:sldMk cId="3236485176" sldId="1237"/>
            <ac:spMk id="4" creationId="{CEA83199-FBB6-54D3-6512-2A8A82BAFCF5}"/>
          </ac:spMkLst>
        </pc:spChg>
        <pc:spChg chg="mod">
          <ac:chgData name="Eric Kim" userId="f3af028d46f0bb00" providerId="LiveId" clId="{1E1C29BC-925D-412A-8126-C21905786C34}" dt="2026-02-25T06:58:59.943" v="12707" actId="2711"/>
          <ac:spMkLst>
            <pc:docMk/>
            <pc:sldMk cId="3236485176" sldId="1237"/>
            <ac:spMk id="6" creationId="{E5C652DD-902D-C21F-C052-40DC836E6F91}"/>
          </ac:spMkLst>
        </pc:spChg>
        <pc:picChg chg="add del mod">
          <ac:chgData name="Eric Kim" userId="f3af028d46f0bb00" providerId="LiveId" clId="{1E1C29BC-925D-412A-8126-C21905786C34}" dt="2026-02-25T05:59:59.262" v="11858" actId="478"/>
          <ac:picMkLst>
            <pc:docMk/>
            <pc:sldMk cId="3236485176" sldId="1237"/>
            <ac:picMk id="5" creationId="{C2B05A9D-2ACF-3FA1-4ED7-3344BBC50F6E}"/>
          </ac:picMkLst>
        </pc:picChg>
        <pc:picChg chg="add del">
          <ac:chgData name="Eric Kim" userId="f3af028d46f0bb00" providerId="LiveId" clId="{1E1C29BC-925D-412A-8126-C21905786C34}" dt="2026-02-25T06:01:50.913" v="11862" actId="478"/>
          <ac:picMkLst>
            <pc:docMk/>
            <pc:sldMk cId="3236485176" sldId="1237"/>
            <ac:picMk id="3074" creationId="{C3FA321F-446D-18C7-204B-B1F0F50FCF32}"/>
          </ac:picMkLst>
        </pc:picChg>
        <pc:picChg chg="add mod">
          <ac:chgData name="Eric Kim" userId="f3af028d46f0bb00" providerId="LiveId" clId="{1E1C29BC-925D-412A-8126-C21905786C34}" dt="2026-02-25T06:58:59.943" v="12707" actId="2711"/>
          <ac:picMkLst>
            <pc:docMk/>
            <pc:sldMk cId="3236485176" sldId="1237"/>
            <ac:picMk id="3076" creationId="{1835E0F7-11BE-645F-AEBA-5371D3338F32}"/>
          </ac:picMkLst>
        </pc:picChg>
      </pc:sldChg>
      <pc:sldChg chg="modSp add mod modNotesTx">
        <pc:chgData name="Eric Kim" userId="f3af028d46f0bb00" providerId="LiveId" clId="{1E1C29BC-925D-412A-8126-C21905786C34}" dt="2026-02-25T06:58:56.319" v="12706" actId="2711"/>
        <pc:sldMkLst>
          <pc:docMk/>
          <pc:sldMk cId="2589839871" sldId="1238"/>
        </pc:sldMkLst>
        <pc:spChg chg="mod">
          <ac:chgData name="Eric Kim" userId="f3af028d46f0bb00" providerId="LiveId" clId="{1E1C29BC-925D-412A-8126-C21905786C34}" dt="2026-02-25T06:58:56.319" v="12706" actId="2711"/>
          <ac:spMkLst>
            <pc:docMk/>
            <pc:sldMk cId="2589839871" sldId="1238"/>
            <ac:spMk id="2" creationId="{31657C17-BCBF-99C1-B77B-AC800B3D8E2F}"/>
          </ac:spMkLst>
        </pc:spChg>
        <pc:spChg chg="mod">
          <ac:chgData name="Eric Kim" userId="f3af028d46f0bb00" providerId="LiveId" clId="{1E1C29BC-925D-412A-8126-C21905786C34}" dt="2026-02-25T06:58:56.319" v="12706" actId="2711"/>
          <ac:spMkLst>
            <pc:docMk/>
            <pc:sldMk cId="2589839871" sldId="1238"/>
            <ac:spMk id="4" creationId="{0C573D2C-0001-841F-A1CB-F880E7E9D5A0}"/>
          </ac:spMkLst>
        </pc:spChg>
        <pc:spChg chg="mod">
          <ac:chgData name="Eric Kim" userId="f3af028d46f0bb00" providerId="LiveId" clId="{1E1C29BC-925D-412A-8126-C21905786C34}" dt="2026-02-25T06:58:56.319" v="12706" actId="2711"/>
          <ac:spMkLst>
            <pc:docMk/>
            <pc:sldMk cId="2589839871" sldId="1238"/>
            <ac:spMk id="6" creationId="{B6388E47-130C-3A65-C29E-ADB1B107941F}"/>
          </ac:spMkLst>
        </pc:spChg>
      </pc:sldChg>
      <pc:sldChg chg="add del">
        <pc:chgData name="Eric Kim" userId="f3af028d46f0bb00" providerId="LiveId" clId="{1E1C29BC-925D-412A-8126-C21905786C34}" dt="2026-02-24T23:20:45.652" v="8256" actId="47"/>
        <pc:sldMkLst>
          <pc:docMk/>
          <pc:sldMk cId="2955184795" sldId="1238"/>
        </pc:sldMkLst>
      </pc:sldChg>
      <pc:sldChg chg="add del">
        <pc:chgData name="Eric Kim" userId="f3af028d46f0bb00" providerId="LiveId" clId="{1E1C29BC-925D-412A-8126-C21905786C34}" dt="2026-02-24T23:21:33.514" v="8320" actId="47"/>
        <pc:sldMkLst>
          <pc:docMk/>
          <pc:sldMk cId="3224119277" sldId="1239"/>
        </pc:sldMkLst>
      </pc:sldChg>
      <pc:sldChg chg="modSp add mod modNotesTx">
        <pc:chgData name="Eric Kim" userId="f3af028d46f0bb00" providerId="LiveId" clId="{1E1C29BC-925D-412A-8126-C21905786C34}" dt="2026-02-25T06:58:53.015" v="12705" actId="2711"/>
        <pc:sldMkLst>
          <pc:docMk/>
          <pc:sldMk cId="1074889706" sldId="1240"/>
        </pc:sldMkLst>
        <pc:spChg chg="mod">
          <ac:chgData name="Eric Kim" userId="f3af028d46f0bb00" providerId="LiveId" clId="{1E1C29BC-925D-412A-8126-C21905786C34}" dt="2026-02-25T06:58:53.015" v="12705" actId="2711"/>
          <ac:spMkLst>
            <pc:docMk/>
            <pc:sldMk cId="1074889706" sldId="1240"/>
            <ac:spMk id="2" creationId="{C1B8A424-357F-0AC4-08B3-4E6194877ED8}"/>
          </ac:spMkLst>
        </pc:spChg>
        <pc:spChg chg="mod">
          <ac:chgData name="Eric Kim" userId="f3af028d46f0bb00" providerId="LiveId" clId="{1E1C29BC-925D-412A-8126-C21905786C34}" dt="2026-02-25T06:58:53.015" v="12705" actId="2711"/>
          <ac:spMkLst>
            <pc:docMk/>
            <pc:sldMk cId="1074889706" sldId="1240"/>
            <ac:spMk id="4" creationId="{3D16B7B4-9CE5-0259-D9A3-077DD4B1B435}"/>
          </ac:spMkLst>
        </pc:spChg>
        <pc:spChg chg="mod">
          <ac:chgData name="Eric Kim" userId="f3af028d46f0bb00" providerId="LiveId" clId="{1E1C29BC-925D-412A-8126-C21905786C34}" dt="2026-02-25T06:58:53.015" v="12705" actId="2711"/>
          <ac:spMkLst>
            <pc:docMk/>
            <pc:sldMk cId="1074889706" sldId="1240"/>
            <ac:spMk id="6" creationId="{A33BD34C-1099-2280-F077-297B864F2B80}"/>
          </ac:spMkLst>
        </pc:spChg>
      </pc:sldChg>
      <pc:sldChg chg="modSp add mod">
        <pc:chgData name="Eric Kim" userId="f3af028d46f0bb00" providerId="LiveId" clId="{1E1C29BC-925D-412A-8126-C21905786C34}" dt="2026-02-25T06:58:47.526" v="12704" actId="2711"/>
        <pc:sldMkLst>
          <pc:docMk/>
          <pc:sldMk cId="4207104356" sldId="1241"/>
        </pc:sldMkLst>
        <pc:spChg chg="mod">
          <ac:chgData name="Eric Kim" userId="f3af028d46f0bb00" providerId="LiveId" clId="{1E1C29BC-925D-412A-8126-C21905786C34}" dt="2026-02-25T06:58:47.526" v="12704" actId="2711"/>
          <ac:spMkLst>
            <pc:docMk/>
            <pc:sldMk cId="4207104356" sldId="1241"/>
            <ac:spMk id="2" creationId="{006DF6CE-E13F-7D21-ABAF-BC736F4CC819}"/>
          </ac:spMkLst>
        </pc:spChg>
        <pc:spChg chg="mod">
          <ac:chgData name="Eric Kim" userId="f3af028d46f0bb00" providerId="LiveId" clId="{1E1C29BC-925D-412A-8126-C21905786C34}" dt="2026-02-25T06:58:47.526" v="12704" actId="2711"/>
          <ac:spMkLst>
            <pc:docMk/>
            <pc:sldMk cId="4207104356" sldId="1241"/>
            <ac:spMk id="4" creationId="{BCD27FD5-B19A-001F-E9A6-43AA65B912A8}"/>
          </ac:spMkLst>
        </pc:spChg>
        <pc:spChg chg="mod">
          <ac:chgData name="Eric Kim" userId="f3af028d46f0bb00" providerId="LiveId" clId="{1E1C29BC-925D-412A-8126-C21905786C34}" dt="2026-02-25T06:58:47.526" v="12704" actId="2711"/>
          <ac:spMkLst>
            <pc:docMk/>
            <pc:sldMk cId="4207104356" sldId="1241"/>
            <ac:spMk id="6" creationId="{74E739B0-CC3C-1FF8-0BF2-E46105FD1FE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DE4566-0CFC-47D4-8A17-19A8B9F77107}" type="datetimeFigureOut">
              <a:rPr lang="en-US" smtClean="0"/>
              <a:t>2/24/2026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9DA017-2F44-4592-94D8-18777622AEF3}" type="slidenum">
              <a:rPr lang="en-US" smtClean="0"/>
              <a:t>‹#›</a:t>
            </a:fld>
            <a:endParaRPr lang="en-US"/>
          </a:p>
        </p:txBody>
      </p:sp>
    </p:spTree>
    <p:extLst>
      <p:ext uri="{BB962C8B-B14F-4D97-AF65-F5344CB8AC3E}">
        <p14:creationId xmlns:p14="http://schemas.microsoft.com/office/powerpoint/2010/main" val="32122943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EB9CB0-8DBB-4A5D-B2E4-17BB9D895EB0}"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631988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rtl="0">
              <a:buFontTx/>
              <a:buNone/>
            </a:pPr>
            <a:r>
              <a:rPr lang="en-US" sz="1200" kern="1200" dirty="0">
                <a:solidFill>
                  <a:schemeClr val="tx1"/>
                </a:solidFill>
                <a:latin typeface="+mn-lt"/>
                <a:ea typeface="+mn-ea"/>
                <a:cs typeface="+mn-cs"/>
              </a:rPr>
              <a:t>The paper defines WBE as a surveillance approach that monitors community health by analyzing biological markers in wastewater rather than testing individuals directly. It evaluates aggregated signals collected from sewer systems.</a:t>
            </a:r>
          </a:p>
          <a:p>
            <a:pPr marL="0" indent="0" algn="l" rtl="0">
              <a:buFontTx/>
              <a:buNone/>
            </a:pPr>
            <a:r>
              <a:rPr lang="en-US" b="1" dirty="0"/>
              <a:t>Public health surveillance</a:t>
            </a:r>
            <a:r>
              <a:rPr lang="en-US" dirty="0"/>
              <a:t> is the continuous, systematic collection, analysis, interpretation, and dissemination of health-related data to monitor and prevent disease, injury, and other health threats in populations.</a:t>
            </a:r>
          </a:p>
          <a:p>
            <a:pPr marL="0" indent="0" algn="l" rtl="0">
              <a:buFontTx/>
              <a:buNone/>
            </a:pPr>
            <a:r>
              <a:rPr lang="en-US" sz="1200" kern="1200" dirty="0">
                <a:solidFill>
                  <a:schemeClr val="tx1"/>
                </a:solidFill>
                <a:latin typeface="+mn-lt"/>
                <a:ea typeface="+mn-ea"/>
                <a:cs typeface="+mn-cs"/>
              </a:rPr>
              <a:t>Ex. </a:t>
            </a:r>
            <a:r>
              <a:rPr lang="en-US" dirty="0"/>
              <a:t>Infectious Disease Surveillance | Monitoring </a:t>
            </a:r>
            <a:r>
              <a:rPr lang="en-US" b="1" dirty="0"/>
              <a:t>COVID-19 cases</a:t>
            </a:r>
            <a:r>
              <a:rPr lang="en-US" dirty="0"/>
              <a:t> by the Centers for Disease Control and Prevention or Tracking </a:t>
            </a:r>
            <a:r>
              <a:rPr lang="en-US" b="1" dirty="0"/>
              <a:t>influenza (flu)</a:t>
            </a:r>
            <a:r>
              <a:rPr lang="en-US" dirty="0"/>
              <a:t> activity through hospital reports</a:t>
            </a:r>
          </a:p>
          <a:p>
            <a:pPr marL="0" indent="0" algn="l" rtl="0">
              <a:buFontTx/>
              <a:buNone/>
            </a:pPr>
            <a:r>
              <a:rPr lang="en-US" dirty="0"/>
              <a:t>Chronic Disease Surveillance | Cancer registries tracking incidence rates or National surveys measuring diabetes prevalence</a:t>
            </a:r>
          </a:p>
          <a:p>
            <a:pPr marL="0" indent="0" algn="l" rtl="0">
              <a:buFontTx/>
              <a:buNone/>
            </a:pPr>
            <a:r>
              <a:rPr lang="en-US" dirty="0"/>
              <a:t>Environmental Health Surveillance | Air quality monitoring for pollution or Testing drinking water for contaminants</a:t>
            </a:r>
          </a:p>
          <a:p>
            <a:pPr marL="0" indent="0" algn="l" rtl="0">
              <a:buFontTx/>
              <a:buNone/>
            </a:pPr>
            <a:endParaRPr lang="en-US" sz="1200" kern="1200" dirty="0">
              <a:solidFill>
                <a:schemeClr val="tx1"/>
              </a:solidFill>
              <a:latin typeface="+mn-lt"/>
              <a:ea typeface="+mn-ea"/>
              <a:cs typeface="+mn-cs"/>
            </a:endParaRPr>
          </a:p>
          <a:p>
            <a:pPr marL="0" indent="0" algn="l" rtl="0">
              <a:buFontTx/>
              <a:buNone/>
            </a:pPr>
            <a:r>
              <a:rPr lang="en-US" sz="1200" kern="1200" dirty="0">
                <a:solidFill>
                  <a:schemeClr val="tx1"/>
                </a:solidFill>
                <a:latin typeface="+mn-lt"/>
                <a:ea typeface="+mn-ea"/>
                <a:cs typeface="+mn-cs"/>
              </a:rPr>
              <a:t>Infected individuals shed pathogens, such as SARS-CoV-2 RNA, through feces. These biological markers enter wastewater systems and can be detected and quantified using laboratory methods like qPCR and sequencing.</a:t>
            </a:r>
          </a:p>
          <a:p>
            <a:pPr marL="0" indent="0" algn="l" rtl="0">
              <a:buFontTx/>
              <a:buNone/>
            </a:pPr>
            <a:endParaRPr lang="en-US" sz="1200" kern="1200" dirty="0">
              <a:solidFill>
                <a:schemeClr val="tx1"/>
              </a:solidFill>
              <a:latin typeface="+mn-lt"/>
              <a:ea typeface="+mn-ea"/>
              <a:cs typeface="+mn-cs"/>
            </a:endParaRPr>
          </a:p>
          <a:p>
            <a:pPr marL="0" indent="0" algn="l" rtl="0">
              <a:buFontTx/>
              <a:buNone/>
            </a:pPr>
            <a:r>
              <a:rPr lang="en-US" sz="1200" kern="1200" dirty="0">
                <a:solidFill>
                  <a:schemeClr val="tx1"/>
                </a:solidFill>
                <a:latin typeface="+mn-lt"/>
                <a:ea typeface="+mn-ea"/>
                <a:cs typeface="+mn-cs"/>
              </a:rPr>
              <a:t>Because wastewater aggregates contributions from the sewer-connected population, measured pathogen concentrations reflect overall infection prevalence and temporal trends within a defined catchment area.</a:t>
            </a:r>
          </a:p>
          <a:p>
            <a:pPr marL="0" indent="0" algn="l" rtl="0">
              <a:buFontTx/>
              <a:buNone/>
            </a:pPr>
            <a:r>
              <a:rPr lang="en-US" sz="1200" kern="1200" dirty="0">
                <a:solidFill>
                  <a:schemeClr val="tx1"/>
                </a:solidFill>
                <a:latin typeface="+mn-lt"/>
                <a:ea typeface="+mn-ea"/>
                <a:cs typeface="+mn-cs"/>
              </a:rPr>
              <a:t>Usually this is a town, city or county.</a:t>
            </a:r>
          </a:p>
          <a:p>
            <a:pPr marL="0" indent="0" algn="l" rtl="0">
              <a:buFontTx/>
              <a:buNone/>
            </a:pPr>
            <a:r>
              <a:rPr lang="en-US" sz="1200" kern="1200" dirty="0">
                <a:solidFill>
                  <a:schemeClr val="tx1"/>
                </a:solidFill>
                <a:latin typeface="+mn-lt"/>
                <a:ea typeface="+mn-ea"/>
                <a:cs typeface="+mn-cs"/>
              </a:rPr>
              <a:t>This also means that we can determine infections rates in a city WITHOUT having to test each individual person or rely on clinical case reporting.</a:t>
            </a:r>
          </a:p>
          <a:p>
            <a:pPr marL="0" indent="0" algn="l" rtl="0">
              <a:buFontTx/>
              <a:buNone/>
            </a:pPr>
            <a:endParaRPr lang="en-US" sz="1200" kern="1200" dirty="0">
              <a:solidFill>
                <a:schemeClr val="tx1"/>
              </a:solidFill>
              <a:latin typeface="+mn-lt"/>
              <a:ea typeface="+mn-ea"/>
              <a:cs typeface="+mn-cs"/>
            </a:endParaRPr>
          </a:p>
          <a:p>
            <a:pPr marL="0" indent="0" algn="l" rtl="0">
              <a:buFontTx/>
              <a:buNone/>
            </a:pPr>
            <a:r>
              <a:rPr lang="en-US" sz="1200" kern="1200" dirty="0">
                <a:solidFill>
                  <a:schemeClr val="tx1"/>
                </a:solidFill>
                <a:latin typeface="+mn-lt"/>
                <a:ea typeface="+mn-ea"/>
                <a:cs typeface="+mn-cs"/>
              </a:rPr>
              <a:t>The paper emphasizes that WBE complements traditional clinical surveillance.</a:t>
            </a:r>
          </a:p>
          <a:p>
            <a:pPr marL="0" indent="0" algn="l" rtl="0">
              <a:buFontTx/>
              <a:buNone/>
            </a:pPr>
            <a:r>
              <a:rPr lang="en-US" sz="1200" kern="1200" dirty="0">
                <a:solidFill>
                  <a:schemeClr val="tx1"/>
                </a:solidFill>
                <a:latin typeface="+mn-lt"/>
                <a:ea typeface="+mn-ea"/>
                <a:cs typeface="+mn-cs"/>
              </a:rPr>
              <a:t>Because we still need data, like hospitalization rates and clinical case counts, to </a:t>
            </a:r>
            <a:r>
              <a:rPr lang="en-US" dirty="0"/>
              <a:t>assess </a:t>
            </a:r>
            <a:r>
              <a:rPr lang="en-US" sz="1200" kern="1200" dirty="0">
                <a:solidFill>
                  <a:schemeClr val="tx1"/>
                </a:solidFill>
                <a:latin typeface="+mn-lt"/>
                <a:ea typeface="+mn-ea"/>
                <a:cs typeface="+mn-cs"/>
              </a:rPr>
              <a:t>the disease severity and population level outcome.</a:t>
            </a:r>
          </a:p>
          <a:p>
            <a:pPr marL="0" indent="0" algn="l" rtl="0">
              <a:buFontTx/>
              <a:buNone/>
            </a:pPr>
            <a:r>
              <a:rPr lang="en-US" sz="1200" kern="1200" dirty="0">
                <a:solidFill>
                  <a:schemeClr val="tx1"/>
                </a:solidFill>
                <a:latin typeface="+mn-lt"/>
                <a:ea typeface="+mn-ea"/>
                <a:cs typeface="+mn-cs"/>
              </a:rPr>
              <a:t>It captures signals from symptomatic and asymptomatic individuals (because sometimes people don’t feel or look like they are infected) and can sometimes detect infection trends before increases are reflected in reported case data.</a:t>
            </a:r>
          </a:p>
          <a:p>
            <a:pPr marL="0" indent="0" algn="l" rtl="0">
              <a:buFontTx/>
              <a:buNone/>
            </a:pP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5"/>
          </p:nvPr>
        </p:nvSpPr>
        <p:spPr/>
        <p:txBody>
          <a:bodyPr/>
          <a:lstStyle/>
          <a:p>
            <a:fld id="{369DA017-2F44-4592-94D8-18777622AEF3}" type="slidenum">
              <a:rPr lang="en-US" smtClean="0"/>
              <a:t>2</a:t>
            </a:fld>
            <a:endParaRPr lang="en-US"/>
          </a:p>
        </p:txBody>
      </p:sp>
    </p:spTree>
    <p:extLst>
      <p:ext uri="{BB962C8B-B14F-4D97-AF65-F5344CB8AC3E}">
        <p14:creationId xmlns:p14="http://schemas.microsoft.com/office/powerpoint/2010/main" val="19376315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b="1" dirty="0"/>
              <a:t>Sampling defines the population being monitored. </a:t>
            </a:r>
          </a:p>
          <a:p>
            <a:pPr marL="0" indent="0">
              <a:buNone/>
            </a:pPr>
            <a:r>
              <a:rPr lang="en-US" sz="1200" b="1" dirty="0"/>
              <a:t>For example, a sewer catchment for the city of Tempe should correspond to the city of Tempe. Instead of Phoenix.</a:t>
            </a:r>
          </a:p>
          <a:p>
            <a:pPr marL="0" indent="0">
              <a:buNone/>
            </a:pPr>
            <a:r>
              <a:rPr lang="en-US" sz="1200" b="1" dirty="0"/>
              <a:t>Or if we were doing the county of Maricopa, using only the sewer catchment for Tempe would be incorrect.</a:t>
            </a:r>
          </a:p>
          <a:p>
            <a:pPr marL="0" indent="0">
              <a:buNone/>
            </a:pPr>
            <a:endParaRPr lang="en-US" sz="1200" b="1" dirty="0"/>
          </a:p>
          <a:p>
            <a:r>
              <a:rPr lang="en-US" b="1" dirty="0"/>
              <a:t>Pathogen detection defines what pathogen we are looking for and how we measure it in the lab. </a:t>
            </a:r>
          </a:p>
          <a:p>
            <a:r>
              <a:rPr lang="en-US" b="1" dirty="0"/>
              <a:t>For example, if we want to monitor COVID-19, the lab must test specifically for SARS-CoV-2. If the test instead targets influenza, the results would describe flu activity, not COVID-19.</a:t>
            </a:r>
          </a:p>
          <a:p>
            <a:r>
              <a:rPr lang="en-US" b="1" dirty="0"/>
              <a:t>In other words, sampling tells us who the signal represents, while pathogen detection tells us what disease the signal represents.</a:t>
            </a:r>
          </a:p>
          <a:p>
            <a:pPr marL="0" indent="0">
              <a:buNone/>
            </a:pPr>
            <a:endParaRPr lang="en-US" sz="1200" b="1" dirty="0"/>
          </a:p>
          <a:p>
            <a:pPr marL="0" indent="0">
              <a:buNone/>
            </a:pPr>
            <a:r>
              <a:rPr lang="en-US" sz="1200" b="1" dirty="0"/>
              <a:t>Data analysis encompasses preprocessing and predictive modeling. </a:t>
            </a:r>
          </a:p>
          <a:p>
            <a:pPr marL="0" indent="0">
              <a:buNone/>
            </a:pPr>
            <a:r>
              <a:rPr lang="en-US" sz="1200" b="1" dirty="0"/>
              <a:t>Data that we get from the lab have to be normalized and adjusted for use.</a:t>
            </a:r>
          </a:p>
          <a:p>
            <a:r>
              <a:rPr lang="en-US" b="1" dirty="0"/>
              <a:t>For example, measured viral concentrations may be adjusted for wastewater flow rate or population size so that values are comparable over time. </a:t>
            </a:r>
          </a:p>
          <a:p>
            <a:r>
              <a:rPr lang="en-US" b="1" dirty="0"/>
              <a:t>This helps ensure that an increase in concentration reflects a real rise in infections, rather than changes in dilution or sampling conditions.</a:t>
            </a:r>
          </a:p>
          <a:p>
            <a:r>
              <a:rPr lang="en-US" b="1" dirty="0"/>
              <a:t>After preprocessing, statistical or forecasting models can be applied to identify trends, detect outbreaks early, or predict future case counts.</a:t>
            </a:r>
          </a:p>
        </p:txBody>
      </p:sp>
      <p:sp>
        <p:nvSpPr>
          <p:cNvPr id="4" name="Slide Number Placeholder 3"/>
          <p:cNvSpPr>
            <a:spLocks noGrp="1"/>
          </p:cNvSpPr>
          <p:nvPr>
            <p:ph type="sldNum" sz="quarter" idx="5"/>
          </p:nvPr>
        </p:nvSpPr>
        <p:spPr/>
        <p:txBody>
          <a:bodyPr/>
          <a:lstStyle/>
          <a:p>
            <a:fld id="{369DA017-2F44-4592-94D8-18777622AEF3}" type="slidenum">
              <a:rPr lang="en-US" smtClean="0"/>
              <a:t>3</a:t>
            </a:fld>
            <a:endParaRPr lang="en-US"/>
          </a:p>
        </p:txBody>
      </p:sp>
    </p:spTree>
    <p:extLst>
      <p:ext uri="{BB962C8B-B14F-4D97-AF65-F5344CB8AC3E}">
        <p14:creationId xmlns:p14="http://schemas.microsoft.com/office/powerpoint/2010/main" val="40928023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b="1" dirty="0"/>
              <a:t>The main key factors in sampling are location, timing, and frequency. </a:t>
            </a:r>
          </a:p>
          <a:p>
            <a:pPr marL="0" indent="0">
              <a:buNone/>
            </a:pPr>
            <a:r>
              <a:rPr lang="en-US" sz="1200" b="1" dirty="0"/>
              <a:t>Location refers to where wastewater is collected. </a:t>
            </a:r>
          </a:p>
          <a:p>
            <a:pPr marL="0" indent="0">
              <a:buNone/>
            </a:pPr>
            <a:r>
              <a:rPr lang="en-US" sz="1200" b="1" dirty="0"/>
              <a:t>Samples are taken from defined wastewater catchments, such as treatment plants, that serve a large portion of the population. </a:t>
            </a:r>
          </a:p>
          <a:p>
            <a:pPr marL="0" indent="0">
              <a:buNone/>
            </a:pPr>
            <a:r>
              <a:rPr lang="en-US" sz="1200" b="1" dirty="0"/>
              <a:t>Clear catchment definition determines which population the infection signal represents.</a:t>
            </a:r>
          </a:p>
          <a:p>
            <a:pPr marL="0" indent="0">
              <a:buNone/>
            </a:pPr>
            <a:endParaRPr lang="en-US" sz="1200" b="1" dirty="0"/>
          </a:p>
          <a:p>
            <a:pPr marL="0" indent="0">
              <a:buNone/>
            </a:pPr>
            <a:r>
              <a:rPr lang="en-US" sz="1200" b="1" dirty="0"/>
              <a:t>Timing refers to when samples are collected. </a:t>
            </a:r>
          </a:p>
          <a:p>
            <a:pPr marL="0" indent="0">
              <a:buNone/>
            </a:pPr>
            <a:r>
              <a:rPr lang="en-US" sz="1200" b="1" dirty="0"/>
              <a:t>Wastewater flow varies throughout the day, so collection time affects how representative the sample is. </a:t>
            </a:r>
          </a:p>
          <a:p>
            <a:pPr marL="0" indent="0">
              <a:buNone/>
            </a:pPr>
            <a:r>
              <a:rPr lang="en-US" sz="1200" b="1" dirty="0"/>
              <a:t>Sampling strategies account for daily usage patterns.</a:t>
            </a:r>
          </a:p>
          <a:p>
            <a:pPr marL="0" indent="0">
              <a:buNone/>
            </a:pPr>
            <a:r>
              <a:rPr lang="en-US" sz="1200" b="1" dirty="0"/>
              <a:t>Like when most people use the bathroom/use toilets/sinks (for peak viral load)</a:t>
            </a:r>
          </a:p>
          <a:p>
            <a:pPr marL="0" indent="0">
              <a:buNone/>
            </a:pPr>
            <a:endParaRPr lang="en-US" sz="1200" b="1" dirty="0"/>
          </a:p>
          <a:p>
            <a:pPr marL="0" indent="0">
              <a:buNone/>
            </a:pPr>
            <a:r>
              <a:rPr lang="en-US" sz="1200" b="1" dirty="0"/>
              <a:t>Frequency refers to how often samples are collected. </a:t>
            </a:r>
          </a:p>
          <a:p>
            <a:pPr marL="0" indent="0">
              <a:buNone/>
            </a:pPr>
            <a:r>
              <a:rPr lang="en-US" sz="1200" b="1" dirty="0"/>
              <a:t>This depends on the illness being monitored and surveillance goals. </a:t>
            </a:r>
          </a:p>
          <a:p>
            <a:pPr marL="0" indent="0">
              <a:buNone/>
            </a:pPr>
            <a:r>
              <a:rPr lang="en-US" sz="1200" b="1" dirty="0"/>
              <a:t>During COVID-19, sampling was often conducted multiple times per week, and sometimes daily, to track infection trends closely.</a:t>
            </a:r>
          </a:p>
          <a:p>
            <a:pPr marL="0" indent="0">
              <a:buNone/>
            </a:pPr>
            <a:endParaRPr lang="en-US" sz="1200" b="1" dirty="0"/>
          </a:p>
          <a:p>
            <a:pPr marL="0" indent="0">
              <a:buNone/>
            </a:pPr>
            <a:r>
              <a:rPr lang="en-US" sz="1200" b="1" dirty="0"/>
              <a:t>There are two primary collection methods. </a:t>
            </a:r>
          </a:p>
          <a:p>
            <a:pPr marL="0" indent="0">
              <a:buNone/>
            </a:pPr>
            <a:r>
              <a:rPr lang="en-US" sz="1200" b="1" dirty="0"/>
              <a:t>Composite sampling collects wastewater over a defined time period and provides a more representative average signal. </a:t>
            </a:r>
          </a:p>
          <a:p>
            <a:pPr marL="0" indent="0">
              <a:buNone/>
            </a:pPr>
            <a:r>
              <a:rPr lang="en-US" sz="1200" b="1" dirty="0"/>
              <a:t>Grab sampling collects at a single point in time and reflects conditions at that specific moment. </a:t>
            </a:r>
          </a:p>
          <a:p>
            <a:pPr marL="0" indent="0">
              <a:buNone/>
            </a:pPr>
            <a:r>
              <a:rPr lang="en-US" sz="1200" b="1" dirty="0"/>
              <a:t>Composite sampling was commonly used during COVID-19 surveillance.</a:t>
            </a:r>
          </a:p>
          <a:p>
            <a:pPr marL="0" indent="0">
              <a:buNone/>
            </a:pPr>
            <a:endParaRPr lang="en-US" sz="1200" b="1" dirty="0"/>
          </a:p>
          <a:p>
            <a:pPr marL="0" indent="0">
              <a:buNone/>
            </a:pPr>
            <a:r>
              <a:rPr lang="en-US" sz="1200" b="1" dirty="0"/>
              <a:t>After collection, pathogen detection is performed. </a:t>
            </a:r>
          </a:p>
          <a:p>
            <a:pPr marL="0" indent="0">
              <a:buNone/>
            </a:pPr>
            <a:endParaRPr lang="en-US" sz="1200" b="1" dirty="0"/>
          </a:p>
          <a:p>
            <a:pPr marL="0" indent="0">
              <a:buNone/>
            </a:pPr>
            <a:r>
              <a:rPr lang="en-US" b="1" dirty="0"/>
              <a:t>After collection, pathogen detection is performed. </a:t>
            </a:r>
          </a:p>
          <a:p>
            <a:pPr marL="0" indent="0">
              <a:buNone/>
            </a:pPr>
            <a:r>
              <a:rPr lang="en-US" b="1" dirty="0"/>
              <a:t>Quantitative PCR, or qPCR, is a laboratory method that detects and amplifies specific segments of viral genetic material. </a:t>
            </a:r>
          </a:p>
          <a:p>
            <a:pPr marL="0" indent="0">
              <a:buNone/>
            </a:pPr>
            <a:r>
              <a:rPr lang="en-US" b="1" dirty="0"/>
              <a:t>In this case, it targets SARS-CoV-2 RNA present in the wastewater sample. </a:t>
            </a:r>
          </a:p>
          <a:p>
            <a:pPr marL="0" indent="0">
              <a:buNone/>
            </a:pPr>
            <a:r>
              <a:rPr lang="en-US" b="1" dirty="0"/>
              <a:t>By amplifying and measuring the amount of viral RNA, qPCR provides an estimate of how much virus is present in the community’s wastewater.</a:t>
            </a:r>
            <a:br>
              <a:rPr lang="en-US" dirty="0"/>
            </a:br>
            <a:endParaRPr lang="en-US" dirty="0"/>
          </a:p>
          <a:p>
            <a:pPr marL="0" indent="0">
              <a:buNone/>
            </a:pPr>
            <a:endParaRPr lang="en-US" sz="1200" b="1" dirty="0"/>
          </a:p>
          <a:p>
            <a:pPr rtl="0"/>
            <a:r>
              <a:rPr lang="en-US" sz="1200" b="1" kern="1200" dirty="0">
                <a:solidFill>
                  <a:schemeClr val="tx1"/>
                </a:solidFill>
                <a:latin typeface="+mn-lt"/>
                <a:ea typeface="+mn-ea"/>
                <a:cs typeface="+mn-cs"/>
              </a:rPr>
              <a:t>Sequencing goes further by determining the actual genetic sequence of viral material in the sample. </a:t>
            </a:r>
          </a:p>
          <a:p>
            <a:pPr rtl="0"/>
            <a:r>
              <a:rPr lang="en-US" sz="1200" b="1" kern="1200" dirty="0">
                <a:solidFill>
                  <a:schemeClr val="tx1"/>
                </a:solidFill>
                <a:latin typeface="+mn-lt"/>
                <a:ea typeface="+mn-ea"/>
                <a:cs typeface="+mn-cs"/>
              </a:rPr>
              <a:t>Amplicon sequencing targets specific regions of the viral genome to identify mutations in known areas, while metagenomic sequencing analyzes all genetic material present in the sample without targeting specific regions. </a:t>
            </a:r>
          </a:p>
          <a:p>
            <a:pPr rtl="0"/>
            <a:r>
              <a:rPr lang="en-US" sz="1200" b="1" kern="1200" dirty="0">
                <a:solidFill>
                  <a:schemeClr val="tx1"/>
                </a:solidFill>
                <a:latin typeface="+mn-lt"/>
                <a:ea typeface="+mn-ea"/>
                <a:cs typeface="+mn-cs"/>
              </a:rPr>
              <a:t>By reading the genetic code, sequencing allows identification of mutations and tracking of circulating variants within the population, including detection of emerging strains.</a:t>
            </a:r>
          </a:p>
        </p:txBody>
      </p:sp>
      <p:sp>
        <p:nvSpPr>
          <p:cNvPr id="4" name="Slide Number Placeholder 3"/>
          <p:cNvSpPr>
            <a:spLocks noGrp="1"/>
          </p:cNvSpPr>
          <p:nvPr>
            <p:ph type="sldNum" sz="quarter" idx="5"/>
          </p:nvPr>
        </p:nvSpPr>
        <p:spPr/>
        <p:txBody>
          <a:bodyPr/>
          <a:lstStyle/>
          <a:p>
            <a:fld id="{369DA017-2F44-4592-94D8-18777622AEF3}" type="slidenum">
              <a:rPr lang="en-US" smtClean="0"/>
              <a:t>4</a:t>
            </a:fld>
            <a:endParaRPr lang="en-US"/>
          </a:p>
        </p:txBody>
      </p:sp>
    </p:spTree>
    <p:extLst>
      <p:ext uri="{BB962C8B-B14F-4D97-AF65-F5344CB8AC3E}">
        <p14:creationId xmlns:p14="http://schemas.microsoft.com/office/powerpoint/2010/main" val="13254630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b="1" dirty="0"/>
              <a:t>The paper explains that raw viral RNA measurements from wastewater cannot be directly interpreted as infection levels. </a:t>
            </a:r>
          </a:p>
          <a:p>
            <a:pPr marL="0" indent="0">
              <a:buNone/>
            </a:pPr>
            <a:r>
              <a:rPr lang="en-US" sz="1200" b="1" dirty="0"/>
              <a:t>Concentrations vary due to changes in wastewater flow, rainfall, and other external factors, making raw values difficult to compare across time or locations.</a:t>
            </a:r>
          </a:p>
          <a:p>
            <a:pPr marL="0" indent="0">
              <a:buNone/>
            </a:pPr>
            <a:r>
              <a:rPr lang="en-US" sz="1200" b="1" dirty="0"/>
              <a:t>As you can see here, wastewater systems don’t just consist of sewage, but it can also include rainwater and runoff.</a:t>
            </a:r>
          </a:p>
          <a:p>
            <a:pPr marL="0" indent="0">
              <a:buNone/>
            </a:pPr>
            <a:endParaRPr lang="en-US" sz="1200" b="1" dirty="0"/>
          </a:p>
          <a:p>
            <a:pPr marL="0" indent="0">
              <a:buNone/>
            </a:pPr>
            <a:r>
              <a:rPr lang="en-US" sz="1200" b="1" dirty="0"/>
              <a:t>Normalization is applied to adjust for dilution and variability in wastewater composition. </a:t>
            </a:r>
          </a:p>
          <a:p>
            <a:pPr marL="0" indent="0">
              <a:buNone/>
            </a:pPr>
            <a:r>
              <a:rPr lang="en-US" sz="1200" b="1" dirty="0"/>
              <a:t>Factors such as changes in flow rate or stormwater input can artificially increase or decrease measured viral concentrations. </a:t>
            </a:r>
          </a:p>
          <a:p>
            <a:pPr marL="0" indent="0">
              <a:buNone/>
            </a:pPr>
            <a:r>
              <a:rPr lang="en-US" sz="1200" b="1" dirty="0"/>
              <a:t>Adjusting for these effects improves comparability of the signal.</a:t>
            </a:r>
          </a:p>
          <a:p>
            <a:pPr marL="0" indent="0">
              <a:buNone/>
            </a:pPr>
            <a:endParaRPr lang="en-US" sz="1200" b="1" dirty="0"/>
          </a:p>
          <a:p>
            <a:pPr marL="0" indent="0">
              <a:buNone/>
            </a:pPr>
            <a:r>
              <a:rPr lang="en-US" sz="1200" b="1" dirty="0"/>
              <a:t>Environmental and infrastructural factors influence viral persistence and measurement reliability. </a:t>
            </a:r>
          </a:p>
          <a:p>
            <a:pPr marL="0" indent="0">
              <a:buNone/>
            </a:pPr>
            <a:r>
              <a:rPr lang="en-US" sz="1200" b="1" dirty="0"/>
              <a:t>The paper notes that temperature, wastewater system characteristics, and other confounders affect RNA degradation and detection consistency. </a:t>
            </a:r>
          </a:p>
          <a:p>
            <a:pPr marL="0" indent="0">
              <a:buNone/>
            </a:pPr>
            <a:r>
              <a:rPr lang="en-US" sz="1200" b="1" dirty="0"/>
              <a:t>These must be considered before analysis.</a:t>
            </a:r>
          </a:p>
          <a:p>
            <a:pPr marL="0" indent="0">
              <a:buNone/>
            </a:pPr>
            <a:r>
              <a:rPr lang="en-US" sz="1200" b="1" dirty="0"/>
              <a:t>A little bit complicated for me, but high temperatures, like the ones we regularly experience in Arizona, makes covid-19 in wastewater decay faster!</a:t>
            </a:r>
          </a:p>
          <a:p>
            <a:pPr marL="0" indent="0">
              <a:buNone/>
            </a:pPr>
            <a:endParaRPr lang="en-US" sz="1200" b="1" dirty="0"/>
          </a:p>
          <a:p>
            <a:pPr marL="0" indent="0">
              <a:buNone/>
            </a:pPr>
            <a:r>
              <a:rPr lang="en-US" sz="1200" b="1" dirty="0"/>
              <a:t>After cleaning, normalization, and adjustment for confounders, the data better reflects true infection changes rather than wastewater system noise.</a:t>
            </a:r>
          </a:p>
        </p:txBody>
      </p:sp>
      <p:sp>
        <p:nvSpPr>
          <p:cNvPr id="4" name="Slide Number Placeholder 3"/>
          <p:cNvSpPr>
            <a:spLocks noGrp="1"/>
          </p:cNvSpPr>
          <p:nvPr>
            <p:ph type="sldNum" sz="quarter" idx="5"/>
          </p:nvPr>
        </p:nvSpPr>
        <p:spPr/>
        <p:txBody>
          <a:bodyPr/>
          <a:lstStyle/>
          <a:p>
            <a:fld id="{369DA017-2F44-4592-94D8-18777622AEF3}" type="slidenum">
              <a:rPr lang="en-US" smtClean="0"/>
              <a:t>5</a:t>
            </a:fld>
            <a:endParaRPr lang="en-US"/>
          </a:p>
        </p:txBody>
      </p:sp>
    </p:spTree>
    <p:extLst>
      <p:ext uri="{BB962C8B-B14F-4D97-AF65-F5344CB8AC3E}">
        <p14:creationId xmlns:p14="http://schemas.microsoft.com/office/powerpoint/2010/main" val="5899608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b="1" dirty="0"/>
              <a:t>Models in WBE start with the goal of *quantitatively relating wastewater measurements* (e.g., virus RNA concentration over time) to observed epidemiological outcomes, such as reported infection cases, hospitalizations, or outbreak indicators. </a:t>
            </a:r>
          </a:p>
          <a:p>
            <a:pPr marL="0" indent="0">
              <a:buNone/>
            </a:pPr>
            <a:r>
              <a:rPr lang="en-US" sz="1200" b="1" dirty="0"/>
              <a:t>Predictive modeling transforms the processed wastewater data into interpretable public health signals that can support decision-making. </a:t>
            </a:r>
          </a:p>
          <a:p>
            <a:pPr marL="0" indent="0">
              <a:buNone/>
            </a:pPr>
            <a:endParaRPr lang="en-US" sz="1200" b="1" dirty="0"/>
          </a:p>
          <a:p>
            <a:pPr marL="0" indent="0">
              <a:buNone/>
            </a:pPr>
            <a:r>
              <a:rPr lang="en-US" sz="1200" b="1" dirty="0"/>
              <a:t>Regression and simpler statistical approaches are widely used as baseline models. </a:t>
            </a:r>
          </a:p>
          <a:p>
            <a:pPr marL="0" indent="0">
              <a:buNone/>
            </a:pPr>
            <a:r>
              <a:rPr lang="en-US" sz="1200" b="1" dirty="0"/>
              <a:t>These include linear regression and similar frameworks that assume a direct, approximately linear relationship between wastewater biomarker levels and clinical indicators. </a:t>
            </a:r>
          </a:p>
          <a:p>
            <a:pPr marL="0" indent="0">
              <a:buNone/>
            </a:pPr>
            <a:r>
              <a:rPr lang="en-US" sz="1200" b="1" dirty="0"/>
              <a:t>These models are interpretable and computationally efficient, making them useful for initial trend estimation or when data volumes are limited. </a:t>
            </a:r>
          </a:p>
          <a:p>
            <a:pPr marL="0" indent="0">
              <a:buNone/>
            </a:pPr>
            <a:endParaRPr lang="en-US" sz="1200" b="1" dirty="0"/>
          </a:p>
          <a:p>
            <a:pPr marL="0" indent="0">
              <a:buNone/>
            </a:pPr>
            <a:r>
              <a:rPr lang="en-US" sz="1200" b="1" dirty="0"/>
              <a:t>Machine learning models like support vector regression, random forests, and neural networks are used when the relation between wastewater data and infection trends appears nonlinear or influenced by multiple interacting factors. These models can incorporate multiple features (e.g., time, environmental covariates) and can adapt to more complex signal patterns. </a:t>
            </a:r>
          </a:p>
          <a:p>
            <a:pPr marL="0" indent="0">
              <a:buNone/>
            </a:pPr>
            <a:r>
              <a:rPr lang="en-US" sz="1200" b="1" dirty="0"/>
              <a:t>The paper highlights that predictive modeling increasingly integrates machine learning techniques as part of advanced analytics.</a:t>
            </a:r>
          </a:p>
          <a:p>
            <a:pPr marL="0" indent="0">
              <a:buNone/>
            </a:pPr>
            <a:endParaRPr lang="en-US" sz="1200" b="1" dirty="0"/>
          </a:p>
          <a:p>
            <a:pPr marL="0" indent="0">
              <a:buNone/>
            </a:pPr>
            <a:r>
              <a:rPr lang="en-US" sz="1200" b="1" dirty="0"/>
              <a:t>Model outputs typically include *estimated infection prevalence* in the community, *predicted case counts at future time points*, and *early outbreak signals*. </a:t>
            </a:r>
          </a:p>
          <a:p>
            <a:pPr marL="0" indent="0">
              <a:buNone/>
            </a:pPr>
            <a:r>
              <a:rPr lang="en-US" sz="1200" b="1" dirty="0"/>
              <a:t>Some models can also assess temporal dynamics and short-term trend forecasts. </a:t>
            </a:r>
          </a:p>
          <a:p>
            <a:pPr marL="0" indent="0">
              <a:buNone/>
            </a:pPr>
            <a:r>
              <a:rPr lang="en-US" sz="1200" b="1" dirty="0"/>
              <a:t>The goal is to use wastewater surveillance data to predict epidemiological trends and support early warning systems.</a:t>
            </a:r>
          </a:p>
        </p:txBody>
      </p:sp>
      <p:sp>
        <p:nvSpPr>
          <p:cNvPr id="4" name="Slide Number Placeholder 3"/>
          <p:cNvSpPr>
            <a:spLocks noGrp="1"/>
          </p:cNvSpPr>
          <p:nvPr>
            <p:ph type="sldNum" sz="quarter" idx="5"/>
          </p:nvPr>
        </p:nvSpPr>
        <p:spPr/>
        <p:txBody>
          <a:bodyPr/>
          <a:lstStyle/>
          <a:p>
            <a:fld id="{369DA017-2F44-4592-94D8-18777622AEF3}" type="slidenum">
              <a:rPr lang="en-US" smtClean="0"/>
              <a:t>6</a:t>
            </a:fld>
            <a:endParaRPr lang="en-US"/>
          </a:p>
        </p:txBody>
      </p:sp>
    </p:spTree>
    <p:extLst>
      <p:ext uri="{BB962C8B-B14F-4D97-AF65-F5344CB8AC3E}">
        <p14:creationId xmlns:p14="http://schemas.microsoft.com/office/powerpoint/2010/main" val="38224169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b="1" dirty="0"/>
              <a:t>The paper explains that wastewater viral concentrations can increase before rises in reported clinical cases. </a:t>
            </a:r>
          </a:p>
          <a:p>
            <a:pPr marL="0" indent="0">
              <a:buNone/>
            </a:pPr>
            <a:r>
              <a:rPr lang="en-US" sz="1200" b="1" dirty="0"/>
              <a:t>Because individuals shed viral RNA regardless of testing status, wastewater monitoring can provide earlier signals of outbreak growth.</a:t>
            </a:r>
          </a:p>
          <a:p>
            <a:pPr marL="0" indent="0">
              <a:buNone/>
            </a:pPr>
            <a:endParaRPr lang="en-US" sz="1200" b="1" dirty="0"/>
          </a:p>
          <a:p>
            <a:pPr marL="0" indent="0">
              <a:buNone/>
            </a:pPr>
            <a:r>
              <a:rPr lang="en-US" sz="1200" b="1" dirty="0"/>
              <a:t>WBE enables continuous monitoring of infection trends over time. </a:t>
            </a:r>
          </a:p>
          <a:p>
            <a:pPr marL="0" indent="0">
              <a:buNone/>
            </a:pPr>
            <a:r>
              <a:rPr lang="en-US" sz="1200" b="1" dirty="0"/>
              <a:t>By tracking changes in viral concentration, public health officials can observe whether infection levels are increasing, stabilizing, or declining within a defined population.</a:t>
            </a:r>
          </a:p>
          <a:p>
            <a:pPr marL="0" indent="0">
              <a:buNone/>
            </a:pPr>
            <a:endParaRPr lang="en-US" sz="1200" b="1" dirty="0"/>
          </a:p>
          <a:p>
            <a:pPr marL="0" indent="0">
              <a:buNone/>
            </a:pPr>
            <a:r>
              <a:rPr lang="en-US" sz="1200" b="1" dirty="0"/>
              <a:t>Sequencing of wastewater samples allows identification of mutations and monitoring of circulating variants. </a:t>
            </a:r>
          </a:p>
          <a:p>
            <a:pPr marL="0" indent="0">
              <a:buNone/>
            </a:pPr>
            <a:r>
              <a:rPr lang="en-US" sz="1200" b="1" dirty="0"/>
              <a:t>This supports tracking of strain dynamics and detection of emerging variants at the community level.</a:t>
            </a:r>
          </a:p>
          <a:p>
            <a:pPr marL="0" indent="0">
              <a:buNone/>
            </a:pPr>
            <a:endParaRPr lang="en-US" sz="1200" b="1" dirty="0"/>
          </a:p>
          <a:p>
            <a:pPr marL="0" indent="0">
              <a:buNone/>
            </a:pPr>
            <a:r>
              <a:rPr lang="en-US" sz="1200" b="1" dirty="0"/>
              <a:t>Because wastewater aggregates signals from the entire sewer-connected population, it captures contributions from symptomatic, asymptomatic, and untested individuals. </a:t>
            </a:r>
          </a:p>
          <a:p>
            <a:pPr marL="0" indent="0">
              <a:buNone/>
            </a:pPr>
            <a:r>
              <a:rPr lang="en-US" sz="1200" b="1" dirty="0"/>
              <a:t>This reduces dependence on clinical testing behavior.</a:t>
            </a:r>
          </a:p>
          <a:p>
            <a:pPr marL="0" indent="0">
              <a:buNone/>
            </a:pPr>
            <a:endParaRPr lang="en-US" sz="1200" b="1" dirty="0"/>
          </a:p>
          <a:p>
            <a:pPr marL="0" indent="0">
              <a:buNone/>
            </a:pPr>
            <a:r>
              <a:rPr lang="en-US" sz="1200" b="1" dirty="0"/>
              <a:t>The paper emphasizes that these capabilities make WBE a complementary surveillance system that informs public health responses, resource allocation, and outbreak preparedness.</a:t>
            </a:r>
          </a:p>
          <a:p>
            <a:pPr marL="0" indent="0">
              <a:buNone/>
            </a:pPr>
            <a:endParaRPr lang="en-US" sz="1200" b="1" dirty="0"/>
          </a:p>
          <a:p>
            <a:pPr marL="0" indent="0">
              <a:buNone/>
            </a:pPr>
            <a:r>
              <a:rPr lang="en-US" sz="1200" b="1" dirty="0"/>
              <a:t>Look at CDC diagram.</a:t>
            </a:r>
          </a:p>
        </p:txBody>
      </p:sp>
      <p:sp>
        <p:nvSpPr>
          <p:cNvPr id="4" name="Slide Number Placeholder 3"/>
          <p:cNvSpPr>
            <a:spLocks noGrp="1"/>
          </p:cNvSpPr>
          <p:nvPr>
            <p:ph type="sldNum" sz="quarter" idx="5"/>
          </p:nvPr>
        </p:nvSpPr>
        <p:spPr/>
        <p:txBody>
          <a:bodyPr/>
          <a:lstStyle/>
          <a:p>
            <a:fld id="{369DA017-2F44-4592-94D8-18777622AEF3}" type="slidenum">
              <a:rPr lang="en-US" smtClean="0"/>
              <a:t>7</a:t>
            </a:fld>
            <a:endParaRPr lang="en-US"/>
          </a:p>
        </p:txBody>
      </p:sp>
    </p:spTree>
    <p:extLst>
      <p:ext uri="{BB962C8B-B14F-4D97-AF65-F5344CB8AC3E}">
        <p14:creationId xmlns:p14="http://schemas.microsoft.com/office/powerpoint/2010/main" val="40994749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b="1" dirty="0"/>
              <a:t>There is no universal standard for how wastewater is sampled, processed, or reported. </a:t>
            </a:r>
          </a:p>
          <a:p>
            <a:pPr marL="0" indent="0">
              <a:buNone/>
            </a:pPr>
            <a:r>
              <a:rPr lang="en-US" sz="1200" b="1" dirty="0"/>
              <a:t>Different locations use different sampling frequencies, laboratory methods, and normalization strategies. </a:t>
            </a:r>
          </a:p>
          <a:p>
            <a:pPr marL="0" indent="0">
              <a:buNone/>
            </a:pPr>
            <a:r>
              <a:rPr lang="en-US" sz="1200" b="1" dirty="0"/>
              <a:t>This makes results difficult to compare across regions and reduces consistency in interpretation.</a:t>
            </a:r>
          </a:p>
          <a:p>
            <a:pPr marL="0" indent="0">
              <a:buNone/>
            </a:pPr>
            <a:r>
              <a:rPr lang="en-US" sz="1200" b="1" dirty="0"/>
              <a:t>It might sound simple to make a single protocol to follow, but there are many factors to consider.</a:t>
            </a:r>
          </a:p>
          <a:p>
            <a:pPr marL="0" indent="0">
              <a:buNone/>
            </a:pPr>
            <a:r>
              <a:rPr lang="en-US" sz="1200" b="1" dirty="0"/>
              <a:t>Like equipment used, environment, type of disease and the most important of them all – which measurement system.</a:t>
            </a:r>
          </a:p>
          <a:p>
            <a:pPr marL="0" indent="0">
              <a:buNone/>
            </a:pPr>
            <a:endParaRPr lang="en-US" sz="1200" b="1" dirty="0"/>
          </a:p>
          <a:p>
            <a:pPr marL="0" indent="0">
              <a:buNone/>
            </a:pPr>
            <a:r>
              <a:rPr lang="en-US" sz="1200" b="1" dirty="0"/>
              <a:t>Measured viral concentrations are influenced by rainfall, changes in wastewater flow, and sewer system characteristics. </a:t>
            </a:r>
          </a:p>
          <a:p>
            <a:pPr marL="0" indent="0">
              <a:buNone/>
            </a:pPr>
            <a:r>
              <a:rPr lang="en-US" sz="1200" b="1" dirty="0"/>
              <a:t>These factors can dilute or concentrate samples, making it difficult to distinguish true infection changes from system-related variability.</a:t>
            </a:r>
          </a:p>
          <a:p>
            <a:pPr marL="0" indent="0">
              <a:buNone/>
            </a:pPr>
            <a:endParaRPr lang="en-US" sz="1200" b="1" dirty="0"/>
          </a:p>
          <a:p>
            <a:pPr marL="0" indent="0">
              <a:buNone/>
            </a:pPr>
            <a:r>
              <a:rPr lang="en-US" sz="1200" b="1" dirty="0"/>
              <a:t>Viral RNA in wastewater can degrade due to temperature and environmental conditions. </a:t>
            </a:r>
          </a:p>
          <a:p>
            <a:pPr marL="0" indent="0">
              <a:buNone/>
            </a:pPr>
            <a:r>
              <a:rPr lang="en-US" sz="1200" b="1" dirty="0"/>
              <a:t>This degradation affects measurement accuracy and adds uncertainty to the interpretation of viral concentrations.</a:t>
            </a:r>
          </a:p>
          <a:p>
            <a:pPr marL="0" indent="0">
              <a:buNone/>
            </a:pPr>
            <a:endParaRPr lang="en-US" sz="1200" b="1" dirty="0"/>
          </a:p>
          <a:p>
            <a:pPr marL="0" indent="0">
              <a:buNone/>
            </a:pPr>
            <a:r>
              <a:rPr lang="en-US" sz="1200" b="1" dirty="0"/>
              <a:t>Sequencing technologies and advanced modeling approaches require specialized laboratory equipment, trained personnel, and computational resources. </a:t>
            </a:r>
          </a:p>
          <a:p>
            <a:pPr marL="0" indent="0">
              <a:buNone/>
            </a:pPr>
            <a:r>
              <a:rPr lang="en-US" sz="1200" b="1" dirty="0"/>
              <a:t>These technical demands can limit implementation, particularly in settings with limited infrastructure.</a:t>
            </a:r>
          </a:p>
          <a:p>
            <a:pPr marL="0" indent="0">
              <a:buNone/>
            </a:pPr>
            <a:endParaRPr lang="en-US" sz="1200" b="1" dirty="0"/>
          </a:p>
          <a:p>
            <a:pPr marL="0" indent="0">
              <a:buNone/>
            </a:pPr>
            <a:r>
              <a:rPr lang="en-US" sz="1200" b="1" dirty="0"/>
              <a:t>Although wastewater data does not identify individuals, it represents defined communities. </a:t>
            </a:r>
          </a:p>
          <a:p>
            <a:pPr marL="0" indent="0">
              <a:buNone/>
            </a:pPr>
            <a:r>
              <a:rPr lang="en-US" sz="1200" b="1" dirty="0"/>
              <a:t>Surveillance at the community level raises questions about responsible data use, transparency, and public communication.</a:t>
            </a:r>
          </a:p>
        </p:txBody>
      </p:sp>
      <p:sp>
        <p:nvSpPr>
          <p:cNvPr id="4" name="Slide Number Placeholder 3"/>
          <p:cNvSpPr>
            <a:spLocks noGrp="1"/>
          </p:cNvSpPr>
          <p:nvPr>
            <p:ph type="sldNum" sz="quarter" idx="5"/>
          </p:nvPr>
        </p:nvSpPr>
        <p:spPr/>
        <p:txBody>
          <a:bodyPr/>
          <a:lstStyle/>
          <a:p>
            <a:fld id="{369DA017-2F44-4592-94D8-18777622AEF3}" type="slidenum">
              <a:rPr lang="en-US" smtClean="0"/>
              <a:t>8</a:t>
            </a:fld>
            <a:endParaRPr lang="en-US"/>
          </a:p>
        </p:txBody>
      </p:sp>
    </p:spTree>
    <p:extLst>
      <p:ext uri="{BB962C8B-B14F-4D97-AF65-F5344CB8AC3E}">
        <p14:creationId xmlns:p14="http://schemas.microsoft.com/office/powerpoint/2010/main" val="2482837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b="1" dirty="0"/>
              <a:t>Before building predictive models, I was advised to understand the entire wastewater-based epidemiology pipeline. </a:t>
            </a:r>
          </a:p>
          <a:p>
            <a:pPr marL="0" indent="0">
              <a:buNone/>
            </a:pPr>
            <a:r>
              <a:rPr lang="en-US" sz="1200" b="1" dirty="0"/>
              <a:t>This paper provided a structured overview of sampling, detection, preprocessing, modeling, and system-level challenges, giving me a clearer understanding of how each component affects downstream analysis.</a:t>
            </a:r>
          </a:p>
          <a:p>
            <a:pPr marL="0" indent="0">
              <a:buNone/>
            </a:pPr>
            <a:endParaRPr lang="en-US" sz="1200" b="1" dirty="0"/>
          </a:p>
          <a:p>
            <a:pPr marL="0" indent="0">
              <a:buNone/>
            </a:pPr>
            <a:r>
              <a:rPr lang="en-US" sz="1200" b="1" dirty="0"/>
              <a:t>The paper also highlights existing challenges in WBE, including variability, lack of standardization, and uncertainty in measurement. </a:t>
            </a:r>
          </a:p>
          <a:p>
            <a:pPr marL="0" indent="0">
              <a:buNone/>
            </a:pPr>
            <a:r>
              <a:rPr lang="en-US" sz="1200" b="1" dirty="0"/>
              <a:t>These issues directly impact modeling reliability and must be considered when developing predictive frameworks.</a:t>
            </a:r>
          </a:p>
          <a:p>
            <a:pPr marL="0" indent="0">
              <a:buNone/>
            </a:pPr>
            <a:r>
              <a:rPr lang="en-US" sz="1200" b="1" dirty="0"/>
              <a:t>Meaning, if I can solve problems earlier, like in the sampling step, I have to design a robust model that can take that into account. </a:t>
            </a:r>
          </a:p>
          <a:p>
            <a:pPr marL="0" indent="0">
              <a:buNone/>
            </a:pPr>
            <a:endParaRPr lang="en-US" sz="1200" b="1" dirty="0"/>
          </a:p>
          <a:p>
            <a:pPr marL="0" indent="0">
              <a:buNone/>
            </a:pPr>
            <a:r>
              <a:rPr lang="en-US" sz="1200" b="1" dirty="0"/>
              <a:t>Finally, the paper outlines the range of statistical and machine learning methods currently used in WBE, including regression, support vector regression, random forest, Bayesian methods, and neural networks. </a:t>
            </a:r>
          </a:p>
          <a:p>
            <a:pPr marL="0" indent="0">
              <a:buNone/>
            </a:pPr>
            <a:r>
              <a:rPr lang="en-US" sz="1200" b="1" dirty="0"/>
              <a:t>This situates Random Forest within a broader modeling landscape and informs how I approach its use in COVID-19 wastewater modeling.</a:t>
            </a:r>
          </a:p>
          <a:p>
            <a:pPr marL="0" indent="0">
              <a:buNone/>
            </a:pPr>
            <a:r>
              <a:rPr lang="en-US" sz="1200" b="1" dirty="0"/>
              <a:t>It also highlights a movement toward machine learning models, which is what my interests are in.</a:t>
            </a:r>
            <a:endParaRPr lang="en-US" sz="1100" dirty="0"/>
          </a:p>
          <a:p>
            <a:endParaRPr lang="en-US" dirty="0"/>
          </a:p>
        </p:txBody>
      </p:sp>
      <p:sp>
        <p:nvSpPr>
          <p:cNvPr id="4" name="Slide Number Placeholder 3"/>
          <p:cNvSpPr>
            <a:spLocks noGrp="1"/>
          </p:cNvSpPr>
          <p:nvPr>
            <p:ph type="sldNum" sz="quarter" idx="5"/>
          </p:nvPr>
        </p:nvSpPr>
        <p:spPr/>
        <p:txBody>
          <a:bodyPr/>
          <a:lstStyle/>
          <a:p>
            <a:fld id="{369DA017-2F44-4592-94D8-18777622AEF3}" type="slidenum">
              <a:rPr lang="en-US" smtClean="0"/>
              <a:t>9</a:t>
            </a:fld>
            <a:endParaRPr lang="en-US"/>
          </a:p>
        </p:txBody>
      </p:sp>
    </p:spTree>
    <p:extLst>
      <p:ext uri="{BB962C8B-B14F-4D97-AF65-F5344CB8AC3E}">
        <p14:creationId xmlns:p14="http://schemas.microsoft.com/office/powerpoint/2010/main" val="21838453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03DA5-0DE5-A35E-223D-BEE7F5060A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52B938-6973-C725-A45D-3681F1B1B5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B23D14-FB21-08B2-7A89-6C66CEC64174}"/>
              </a:ext>
            </a:extLst>
          </p:cNvPr>
          <p:cNvSpPr>
            <a:spLocks noGrp="1"/>
          </p:cNvSpPr>
          <p:nvPr>
            <p:ph type="body" idx="1"/>
          </p:nvPr>
        </p:nvSpPr>
        <p:spPr/>
        <p:txBody>
          <a:bodyPr/>
          <a:lstStyle/>
          <a:p>
            <a:pPr marL="0" indent="0">
              <a:buNone/>
            </a:pPr>
            <a:r>
              <a:rPr lang="en-US" sz="1200" b="1" dirty="0"/>
              <a:t>Before building predictive models, I was advised to understand the entire wastewater-based epidemiology pipeline. </a:t>
            </a:r>
          </a:p>
          <a:p>
            <a:pPr marL="0" indent="0">
              <a:buNone/>
            </a:pPr>
            <a:r>
              <a:rPr lang="en-US" sz="1200" b="1" dirty="0"/>
              <a:t>This paper provided a structured overview of sampling, detection, preprocessing, modeling, and system-level challenges, giving me a clearer understanding of how each component affects downstream analysis.</a:t>
            </a:r>
          </a:p>
          <a:p>
            <a:pPr marL="0" indent="0">
              <a:buNone/>
            </a:pPr>
            <a:endParaRPr lang="en-US" sz="1200" b="1" dirty="0"/>
          </a:p>
          <a:p>
            <a:pPr marL="0" indent="0">
              <a:buNone/>
            </a:pPr>
            <a:r>
              <a:rPr lang="en-US" sz="1200" b="1" dirty="0"/>
              <a:t>The paper also highlights existing challenges in WBE, including variability, lack of standardization, and uncertainty in measurement. </a:t>
            </a:r>
          </a:p>
          <a:p>
            <a:pPr marL="0" indent="0">
              <a:buNone/>
            </a:pPr>
            <a:r>
              <a:rPr lang="en-US" sz="1200" b="1" dirty="0"/>
              <a:t>These issues directly impact modeling reliability and must be considered when developing predictive frameworks.</a:t>
            </a:r>
          </a:p>
          <a:p>
            <a:pPr marL="0" indent="0">
              <a:buNone/>
            </a:pPr>
            <a:r>
              <a:rPr lang="en-US" sz="1200" b="1" dirty="0"/>
              <a:t>Meaning, if I can solve problems earlier, like in the sampling step, I have to design a robust model that can take that into account. </a:t>
            </a:r>
          </a:p>
          <a:p>
            <a:pPr marL="0" indent="0">
              <a:buNone/>
            </a:pPr>
            <a:endParaRPr lang="en-US" sz="1200" b="1" dirty="0"/>
          </a:p>
          <a:p>
            <a:pPr marL="0" indent="0">
              <a:buNone/>
            </a:pPr>
            <a:r>
              <a:rPr lang="en-US" sz="1200" b="1" dirty="0"/>
              <a:t>Finally, the paper outlines the range of statistical and machine learning methods currently used in WBE, including regression, support vector regression, random forest, Bayesian methods, and neural networks. </a:t>
            </a:r>
          </a:p>
          <a:p>
            <a:pPr marL="0" indent="0">
              <a:buNone/>
            </a:pPr>
            <a:r>
              <a:rPr lang="en-US" sz="1200" b="1" dirty="0"/>
              <a:t>This situates Random Forest within a broader modeling landscape and informs how I approach its use in COVID-19 wastewater modeling.</a:t>
            </a:r>
          </a:p>
          <a:p>
            <a:pPr marL="0" indent="0">
              <a:buNone/>
            </a:pPr>
            <a:r>
              <a:rPr lang="en-US" sz="1200" b="1" dirty="0"/>
              <a:t>It also highlights a movement toward machine learning models, which is what my interests are in.</a:t>
            </a:r>
            <a:endParaRPr lang="en-US" sz="1100" dirty="0"/>
          </a:p>
          <a:p>
            <a:endParaRPr lang="en-US" dirty="0"/>
          </a:p>
        </p:txBody>
      </p:sp>
      <p:sp>
        <p:nvSpPr>
          <p:cNvPr id="4" name="Slide Number Placeholder 3">
            <a:extLst>
              <a:ext uri="{FF2B5EF4-FFF2-40B4-BE49-F238E27FC236}">
                <a16:creationId xmlns:a16="http://schemas.microsoft.com/office/drawing/2014/main" id="{58509A3A-C19D-C418-CAAE-D7E0F182D6B2}"/>
              </a:ext>
            </a:extLst>
          </p:cNvPr>
          <p:cNvSpPr>
            <a:spLocks noGrp="1"/>
          </p:cNvSpPr>
          <p:nvPr>
            <p:ph type="sldNum" sz="quarter" idx="5"/>
          </p:nvPr>
        </p:nvSpPr>
        <p:spPr/>
        <p:txBody>
          <a:bodyPr/>
          <a:lstStyle/>
          <a:p>
            <a:fld id="{369DA017-2F44-4592-94D8-18777622AEF3}" type="slidenum">
              <a:rPr lang="en-US" smtClean="0"/>
              <a:t>10</a:t>
            </a:fld>
            <a:endParaRPr lang="en-US"/>
          </a:p>
        </p:txBody>
      </p:sp>
    </p:spTree>
    <p:extLst>
      <p:ext uri="{BB962C8B-B14F-4D97-AF65-F5344CB8AC3E}">
        <p14:creationId xmlns:p14="http://schemas.microsoft.com/office/powerpoint/2010/main" val="20766262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Google Shape;344;g1f688af0ced_0_34">
            <a:extLst>
              <a:ext uri="{FF2B5EF4-FFF2-40B4-BE49-F238E27FC236}">
                <a16:creationId xmlns:a16="http://schemas.microsoft.com/office/drawing/2014/main" id="{441A1850-1F29-F8F9-5615-5BC364EA9028}"/>
              </a:ext>
            </a:extLst>
          </p:cNvPr>
          <p:cNvSpPr txBox="1">
            <a:spLocks/>
          </p:cNvSpPr>
          <p:nvPr userDrawn="1"/>
        </p:nvSpPr>
        <p:spPr>
          <a:xfrm>
            <a:off x="0" y="6378572"/>
            <a:ext cx="12192000" cy="479428"/>
          </a:xfrm>
          <a:prstGeom prst="rect">
            <a:avLst/>
          </a:prstGeom>
          <a:solidFill>
            <a:srgbClr val="FFC000"/>
          </a:solidFill>
          <a:ln>
            <a:noFill/>
          </a:ln>
        </p:spPr>
        <p:txBody>
          <a:bodyPr spcFirstLastPara="1" vert="horz" wrap="square" lIns="91425" tIns="91425" rIns="91425" bIns="91425" rtlCol="0" anchor="t" anchorCtr="0">
            <a:noAutofit/>
          </a:bodyPr>
          <a:lstStyle>
            <a:lvl1pPr algn="l" defTabSz="914400" rtl="0" eaLnBrk="1" latinLnBrk="0" hangingPunct="1">
              <a:spcBef>
                <a:spcPct val="0"/>
              </a:spcBef>
              <a:buNone/>
              <a:defRPr sz="3600" b="1" kern="1200">
                <a:solidFill>
                  <a:schemeClr val="accent1">
                    <a:lumMod val="75000"/>
                  </a:schemeClr>
                </a:solidFill>
                <a:latin typeface="+mj-lt"/>
                <a:ea typeface="+mj-ea"/>
                <a:cs typeface="+mj-cs"/>
              </a:defRPr>
            </a:lvl1pPr>
          </a:lstStyle>
          <a:p>
            <a:pPr>
              <a:spcBef>
                <a:spcPts val="0"/>
              </a:spcBef>
              <a:buClr>
                <a:schemeClr val="dk1"/>
              </a:buClr>
              <a:buSzPts val="3200"/>
              <a:buFont typeface="Arial"/>
              <a:buNone/>
            </a:pPr>
            <a:endParaRPr lang="en-US" dirty="0"/>
          </a:p>
        </p:txBody>
      </p:sp>
      <p:sp>
        <p:nvSpPr>
          <p:cNvPr id="2" name="Title 1"/>
          <p:cNvSpPr>
            <a:spLocks noGrp="1"/>
          </p:cNvSpPr>
          <p:nvPr>
            <p:ph type="ctrTitle" hasCustomPrompt="1"/>
          </p:nvPr>
        </p:nvSpPr>
        <p:spPr>
          <a:xfrm>
            <a:off x="914400" y="1828803"/>
            <a:ext cx="10363200" cy="1470025"/>
          </a:xfrm>
        </p:spPr>
        <p:txBody>
          <a:bodyPr>
            <a:normAutofit/>
          </a:bodyPr>
          <a:lstStyle>
            <a:lvl1pPr marL="0" marR="0" indent="0" algn="ctr" defTabSz="914400" rtl="0" eaLnBrk="1" fontAlgn="auto" latinLnBrk="0" hangingPunct="1">
              <a:lnSpc>
                <a:spcPct val="100000"/>
              </a:lnSpc>
              <a:spcBef>
                <a:spcPct val="0"/>
              </a:spcBef>
              <a:spcAft>
                <a:spcPts val="0"/>
              </a:spcAft>
              <a:buClrTx/>
              <a:buSzTx/>
              <a:buFontTx/>
              <a:buNone/>
              <a:tabLst/>
              <a:defRPr sz="4000" i="1">
                <a:solidFill>
                  <a:schemeClr val="accent1">
                    <a:lumMod val="75000"/>
                  </a:schemeClr>
                </a:solidFill>
              </a:defRPr>
            </a:lvl1pPr>
          </a:lstStyle>
          <a:p>
            <a:r>
              <a:rPr lang="en-US" dirty="0"/>
              <a:t>Title</a:t>
            </a:r>
          </a:p>
        </p:txBody>
      </p:sp>
      <p:sp>
        <p:nvSpPr>
          <p:cNvPr id="3" name="Subtitle 2"/>
          <p:cNvSpPr>
            <a:spLocks noGrp="1"/>
          </p:cNvSpPr>
          <p:nvPr>
            <p:ph type="subTitle" idx="1" hasCustomPrompt="1"/>
          </p:nvPr>
        </p:nvSpPr>
        <p:spPr>
          <a:xfrm>
            <a:off x="353516" y="4191000"/>
            <a:ext cx="11352249" cy="1905000"/>
          </a:xfrm>
        </p:spPr>
        <p:txBody>
          <a:bodyPr>
            <a:normAutofit/>
          </a:bodyPr>
          <a:lstStyle>
            <a:lvl1pPr marL="0" indent="0" algn="l">
              <a:buNone/>
              <a:defRPr sz="3000" baseline="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Authors</a:t>
            </a:r>
          </a:p>
          <a:p>
            <a:r>
              <a:rPr lang="en-US" dirty="0"/>
              <a:t>Affiliations</a:t>
            </a:r>
          </a:p>
        </p:txBody>
      </p:sp>
      <p:sp>
        <p:nvSpPr>
          <p:cNvPr id="4" name="Date Placeholder 3"/>
          <p:cNvSpPr>
            <a:spLocks noGrp="1"/>
          </p:cNvSpPr>
          <p:nvPr>
            <p:ph type="dt" sz="half" idx="10"/>
          </p:nvPr>
        </p:nvSpPr>
        <p:spPr>
          <a:xfrm>
            <a:off x="304800" y="6400803"/>
            <a:ext cx="2844800" cy="365125"/>
          </a:xfrm>
        </p:spPr>
        <p:txBody>
          <a:bodyPr/>
          <a:lstStyle>
            <a:lvl1pPr>
              <a:defRPr baseline="0">
                <a:solidFill>
                  <a:schemeClr val="tx1"/>
                </a:solidFill>
              </a:defRPr>
            </a:lvl1pPr>
          </a:lstStyle>
          <a:p>
            <a:fld id="{A0E76CCD-2E37-464C-97F3-D65E704E281F}" type="datetime1">
              <a:rPr lang="en-US" smtClean="0"/>
              <a:pPr/>
              <a:t>2/24/2026</a:t>
            </a:fld>
            <a:endParaRPr lang="en-US" dirty="0"/>
          </a:p>
        </p:txBody>
      </p:sp>
      <p:sp>
        <p:nvSpPr>
          <p:cNvPr id="5" name="Footer Placeholder 4"/>
          <p:cNvSpPr>
            <a:spLocks noGrp="1"/>
          </p:cNvSpPr>
          <p:nvPr>
            <p:ph type="ftr" sz="quarter" idx="11"/>
          </p:nvPr>
        </p:nvSpPr>
        <p:spPr>
          <a:xfrm>
            <a:off x="4470400" y="6400803"/>
            <a:ext cx="3860800" cy="365125"/>
          </a:xfrm>
        </p:spPr>
        <p:txBody>
          <a:bodyPr/>
          <a:lstStyle>
            <a:lvl1pPr>
              <a:defRPr baseline="0">
                <a:solidFill>
                  <a:schemeClr val="tx1"/>
                </a:solidFill>
              </a:defRPr>
            </a:lvl1pPr>
          </a:lstStyle>
          <a:p>
            <a:endParaRPr lang="en-US" dirty="0"/>
          </a:p>
        </p:txBody>
      </p:sp>
      <p:sp>
        <p:nvSpPr>
          <p:cNvPr id="6" name="Slide Number Placeholder 5"/>
          <p:cNvSpPr>
            <a:spLocks noGrp="1"/>
          </p:cNvSpPr>
          <p:nvPr>
            <p:ph type="sldNum" sz="quarter" idx="12"/>
          </p:nvPr>
        </p:nvSpPr>
        <p:spPr>
          <a:xfrm>
            <a:off x="9144000" y="6416678"/>
            <a:ext cx="2844800" cy="365125"/>
          </a:xfrm>
        </p:spPr>
        <p:txBody>
          <a:bodyPr/>
          <a:lstStyle>
            <a:lvl1pPr>
              <a:defRPr baseline="0">
                <a:solidFill>
                  <a:schemeClr val="tx1"/>
                </a:solidFill>
              </a:defRPr>
            </a:lvl1pPr>
          </a:lstStyle>
          <a:p>
            <a:fld id="{B6F15528-21DE-4FAA-801E-634DDDAF4B2B}" type="slidenum">
              <a:rPr lang="en-US" smtClean="0"/>
              <a:pPr/>
              <a:t>‹#›</a:t>
            </a:fld>
            <a:endParaRPr lang="en-US" dirty="0"/>
          </a:p>
        </p:txBody>
      </p:sp>
      <p:pic>
        <p:nvPicPr>
          <p:cNvPr id="7" name="Picture 6" descr="A picture containing logo&#10;&#10;Description automatically generated">
            <a:extLst>
              <a:ext uri="{FF2B5EF4-FFF2-40B4-BE49-F238E27FC236}">
                <a16:creationId xmlns:a16="http://schemas.microsoft.com/office/drawing/2014/main" id="{E2B9B1AC-B6A7-6FAE-6D63-0D8C09C2907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470"/>
          <a:stretch/>
        </p:blipFill>
        <p:spPr>
          <a:xfrm>
            <a:off x="353517" y="291059"/>
            <a:ext cx="4092454" cy="1060132"/>
          </a:xfrm>
          <a:prstGeom prst="rect">
            <a:avLst/>
          </a:prstGeom>
        </p:spPr>
      </p:pic>
      <p:pic>
        <p:nvPicPr>
          <p:cNvPr id="9" name="Picture 6">
            <a:extLst>
              <a:ext uri="{FF2B5EF4-FFF2-40B4-BE49-F238E27FC236}">
                <a16:creationId xmlns:a16="http://schemas.microsoft.com/office/drawing/2014/main" id="{0A65C3CA-26D5-DE20-9949-0F493D4B0C37}"/>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22650" t="6158" r="21136" b="16891"/>
          <a:stretch/>
        </p:blipFill>
        <p:spPr bwMode="auto">
          <a:xfrm>
            <a:off x="10972800" y="362940"/>
            <a:ext cx="732966"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a:extLst>
              <a:ext uri="{FF2B5EF4-FFF2-40B4-BE49-F238E27FC236}">
                <a16:creationId xmlns:a16="http://schemas.microsoft.com/office/drawing/2014/main" id="{A5D0B7AA-87BA-7C79-3F66-EFFF4B90AEB7}"/>
              </a:ext>
            </a:extLst>
          </p:cNvPr>
          <p:cNvSpPr txBox="1"/>
          <p:nvPr userDrawn="1"/>
        </p:nvSpPr>
        <p:spPr>
          <a:xfrm>
            <a:off x="8610600" y="352934"/>
            <a:ext cx="2528256" cy="772006"/>
          </a:xfrm>
          <a:prstGeom prst="rect">
            <a:avLst/>
          </a:prstGeom>
        </p:spPr>
        <p:txBody>
          <a:bodyPr vert="horz" wrap="none" lIns="91440" tIns="45720" rIns="91440" bIns="45720" rtlCol="0">
            <a:spAutoFit/>
          </a:bodyPr>
          <a:lstStyle/>
          <a:p>
            <a:pPr>
              <a:spcBef>
                <a:spcPts val="500"/>
              </a:spcBef>
            </a:pPr>
            <a:r>
              <a:rPr lang="en-US" sz="2000" b="1" i="1" cap="small" baseline="0" dirty="0">
                <a:solidFill>
                  <a:schemeClr val="accent1">
                    <a:lumMod val="75000"/>
                  </a:schemeClr>
                </a:solidFill>
              </a:rPr>
              <a:t>E</a:t>
            </a:r>
            <a:r>
              <a:rPr lang="en-US" sz="2000" b="1" i="1" cap="small" baseline="0" dirty="0"/>
              <a:t>mbedded </a:t>
            </a:r>
            <a:r>
              <a:rPr lang="en-US" sz="2000" b="1" i="1" cap="small" baseline="0" dirty="0">
                <a:solidFill>
                  <a:schemeClr val="accent1">
                    <a:lumMod val="75000"/>
                  </a:schemeClr>
                </a:solidFill>
              </a:rPr>
              <a:t>M</a:t>
            </a:r>
            <a:r>
              <a:rPr lang="en-US" sz="2000" b="1" i="1" cap="small" baseline="0" dirty="0"/>
              <a:t>achine </a:t>
            </a:r>
          </a:p>
          <a:p>
            <a:pPr>
              <a:spcBef>
                <a:spcPts val="500"/>
              </a:spcBef>
            </a:pPr>
            <a:r>
              <a:rPr lang="en-US" sz="2000" b="1" i="1" cap="small" baseline="0" dirty="0">
                <a:solidFill>
                  <a:schemeClr val="accent1">
                    <a:lumMod val="75000"/>
                  </a:schemeClr>
                </a:solidFill>
              </a:rPr>
              <a:t>I</a:t>
            </a:r>
            <a:r>
              <a:rPr lang="en-US" sz="2000" b="1" i="1" cap="small" baseline="0" dirty="0"/>
              <a:t>ntelligence </a:t>
            </a:r>
            <a:r>
              <a:rPr lang="en-US" sz="2000" b="1" i="1" cap="small" baseline="0" dirty="0">
                <a:solidFill>
                  <a:schemeClr val="accent1">
                    <a:lumMod val="75000"/>
                  </a:schemeClr>
                </a:solidFill>
              </a:rPr>
              <a:t>L</a:t>
            </a:r>
            <a:r>
              <a:rPr lang="en-US" sz="2000" b="1" i="1" cap="small" baseline="0" dirty="0"/>
              <a:t>ab</a:t>
            </a:r>
          </a:p>
        </p:txBody>
      </p:sp>
    </p:spTree>
    <p:extLst>
      <p:ext uri="{BB962C8B-B14F-4D97-AF65-F5344CB8AC3E}">
        <p14:creationId xmlns:p14="http://schemas.microsoft.com/office/powerpoint/2010/main" val="6151105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Google Shape;344;g1f688af0ced_0_34">
            <a:extLst>
              <a:ext uri="{FF2B5EF4-FFF2-40B4-BE49-F238E27FC236}">
                <a16:creationId xmlns:a16="http://schemas.microsoft.com/office/drawing/2014/main" id="{EEA1ACE2-CCF0-DE52-662C-48F0C2434410}"/>
              </a:ext>
            </a:extLst>
          </p:cNvPr>
          <p:cNvSpPr txBox="1">
            <a:spLocks/>
          </p:cNvSpPr>
          <p:nvPr userDrawn="1"/>
        </p:nvSpPr>
        <p:spPr>
          <a:xfrm>
            <a:off x="228600" y="41278"/>
            <a:ext cx="11582400" cy="941707"/>
          </a:xfrm>
          <a:prstGeom prst="rect">
            <a:avLst/>
          </a:prstGeom>
          <a:solidFill>
            <a:srgbClr val="FFC000"/>
          </a:solidFill>
          <a:ln>
            <a:noFill/>
          </a:ln>
        </p:spPr>
        <p:txBody>
          <a:bodyPr spcFirstLastPara="1" vert="horz" wrap="square" lIns="91425" tIns="91425" rIns="91425" bIns="91425" rtlCol="0" anchor="t" anchorCtr="0">
            <a:noAutofit/>
          </a:bodyPr>
          <a:lstStyle>
            <a:lvl1pPr algn="l" defTabSz="914400" rtl="0" eaLnBrk="1" latinLnBrk="0" hangingPunct="1">
              <a:spcBef>
                <a:spcPct val="0"/>
              </a:spcBef>
              <a:buNone/>
              <a:defRPr sz="3600" b="1" kern="1200">
                <a:solidFill>
                  <a:schemeClr val="accent1">
                    <a:lumMod val="75000"/>
                  </a:schemeClr>
                </a:solidFill>
                <a:latin typeface="+mj-lt"/>
                <a:ea typeface="+mj-ea"/>
                <a:cs typeface="+mj-cs"/>
              </a:defRPr>
            </a:lvl1pPr>
          </a:lstStyle>
          <a:p>
            <a:pPr>
              <a:spcBef>
                <a:spcPts val="0"/>
              </a:spcBef>
              <a:buClr>
                <a:schemeClr val="dk1"/>
              </a:buClr>
              <a:buSzPts val="3200"/>
              <a:buFont typeface="Arial"/>
              <a:buNone/>
            </a:pPr>
            <a:endParaRPr lang="en-US" dirty="0"/>
          </a:p>
        </p:txBody>
      </p:sp>
      <p:sp>
        <p:nvSpPr>
          <p:cNvPr id="2" name="Title 1"/>
          <p:cNvSpPr>
            <a:spLocks noGrp="1"/>
          </p:cNvSpPr>
          <p:nvPr>
            <p:ph type="title"/>
          </p:nvPr>
        </p:nvSpPr>
        <p:spPr/>
        <p:txBody>
          <a:bodyPr/>
          <a:lstStyle>
            <a:lvl1pPr>
              <a:defRPr baseline="0">
                <a:solidFill>
                  <a:schemeClr val="tx1"/>
                </a:solidFil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A33B2C0-5ED3-478B-8D46-2A2B06C4DD17}" type="datetime1">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17075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1814BAF-3FA4-48E3-AD14-D051253FE824}" type="datetime1">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60800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0DB7ADC-F4D5-47AC-A73A-A98570A8C4B0}" type="datetime1">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235889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0C3E225-29D3-42EC-8E8A-F199605A2C2A}" type="datetime1">
              <a:rPr lang="en-US" smtClean="0"/>
              <a:t>2/24/2026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881446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381D04C0-76D4-45A8-854F-2D93A077BDB9}" type="datetime1">
              <a:rPr lang="en-US" smtClean="0"/>
              <a:t>2/24/2026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988932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2486B3-440D-4AA6-94E9-A4061E7370DF}" type="datetime1">
              <a:rPr lang="en-US" smtClean="0"/>
              <a:t>2/24/2026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28348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D4D658-3A6C-4BF7-8923-4859BA852273}" type="datetime1">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75001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7A3B38A-BC6C-43DB-A15A-DE94AE0AAE20}" type="datetime1">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919583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D1A4589-0C0C-4ED4-BD89-C69F4BAE30E1}" type="datetime1">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921193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BB0C035-D55B-4E2D-AB89-612E68EC87A6}" type="datetime1">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18628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8600" y="41278"/>
            <a:ext cx="11582400" cy="927099"/>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066803"/>
            <a:ext cx="10972800" cy="50593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E0BA47-69B8-44FD-8EB4-204BEC5E3CBF}" type="datetime1">
              <a:rPr lang="en-US" smtClean="0"/>
              <a:t>2/24/2026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400">
                <a:solidFill>
                  <a:schemeClr val="tx1"/>
                </a:solidFill>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9420328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spcBef>
          <a:spcPct val="0"/>
        </a:spcBef>
        <a:buNone/>
        <a:defRPr sz="3600" b="1" kern="1200">
          <a:solidFill>
            <a:schemeClr val="accent1">
              <a:lumMod val="75000"/>
            </a:schemeClr>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000" kern="1200">
          <a:solidFill>
            <a:schemeClr val="tx1"/>
          </a:solidFill>
          <a:latin typeface="+mn-lt"/>
          <a:ea typeface="+mn-ea"/>
          <a:cs typeface="+mn-cs"/>
        </a:defRPr>
      </a:lvl1pPr>
      <a:lvl2pPr marL="742950" indent="-285750" algn="l" defTabSz="914400" rtl="0" eaLnBrk="1" latinLnBrk="0" hangingPunct="1">
        <a:spcBef>
          <a:spcPct val="20000"/>
        </a:spcBef>
        <a:buFont typeface="Wingdings" panose="05000000000000000000" pitchFamily="2" charset="2"/>
        <a:buChar char="§"/>
        <a:defRPr sz="26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02007-200B-2BD2-9EB0-5EE2A6A353A4}"/>
              </a:ext>
            </a:extLst>
          </p:cNvPr>
          <p:cNvSpPr>
            <a:spLocks noGrp="1"/>
          </p:cNvSpPr>
          <p:nvPr>
            <p:ph type="ctrTitle"/>
          </p:nvPr>
        </p:nvSpPr>
        <p:spPr>
          <a:xfrm>
            <a:off x="381000" y="1943537"/>
            <a:ext cx="11646909" cy="1866464"/>
          </a:xfrm>
        </p:spPr>
        <p:txBody>
          <a:bodyPr>
            <a:normAutofit fontScale="90000"/>
          </a:bodyPr>
          <a:lstStyle/>
          <a:p>
            <a:r>
              <a:rPr lang="en-US" sz="3200" i="0" dirty="0"/>
              <a:t>Paper: </a:t>
            </a:r>
            <a:br>
              <a:rPr lang="en-US" sz="3200" i="0" dirty="0"/>
            </a:br>
            <a:r>
              <a:rPr lang="en-US" sz="3200" i="0" dirty="0"/>
              <a:t>Advances in Wastewater-Based Epidemiology for Pandemic Surveillance: Methodological Frameworks and Future Perspectives</a:t>
            </a:r>
          </a:p>
        </p:txBody>
      </p:sp>
      <p:sp>
        <p:nvSpPr>
          <p:cNvPr id="3" name="Subtitle 2">
            <a:extLst>
              <a:ext uri="{FF2B5EF4-FFF2-40B4-BE49-F238E27FC236}">
                <a16:creationId xmlns:a16="http://schemas.microsoft.com/office/drawing/2014/main" id="{2BD4870A-6E84-74F0-C9B3-359F697B9799}"/>
              </a:ext>
            </a:extLst>
          </p:cNvPr>
          <p:cNvSpPr>
            <a:spLocks noGrp="1"/>
          </p:cNvSpPr>
          <p:nvPr>
            <p:ph type="subTitle" idx="1"/>
          </p:nvPr>
        </p:nvSpPr>
        <p:spPr>
          <a:xfrm>
            <a:off x="1390650" y="4038599"/>
            <a:ext cx="9486900" cy="2302205"/>
          </a:xfrm>
        </p:spPr>
        <p:txBody>
          <a:bodyPr>
            <a:noAutofit/>
          </a:bodyPr>
          <a:lstStyle/>
          <a:p>
            <a:pPr algn="ctr"/>
            <a:r>
              <a:rPr lang="en-US" sz="2200" dirty="0"/>
              <a:t>Eric Kim</a:t>
            </a:r>
          </a:p>
          <a:p>
            <a:pPr algn="ctr"/>
            <a:r>
              <a:rPr lang="en-US" sz="2200" dirty="0"/>
              <a:t>Embedded Machine Intelligence Lab (EMIL)</a:t>
            </a:r>
          </a:p>
          <a:p>
            <a:pPr algn="ctr"/>
            <a:r>
              <a:rPr lang="en-US" sz="2200" dirty="0"/>
              <a:t>College of Health Solutions, </a:t>
            </a:r>
            <a:r>
              <a:rPr lang="en-US" sz="2000" dirty="0"/>
              <a:t>Arizona State University</a:t>
            </a:r>
          </a:p>
        </p:txBody>
      </p:sp>
      <p:sp>
        <p:nvSpPr>
          <p:cNvPr id="6" name="TextBox 5">
            <a:extLst>
              <a:ext uri="{FF2B5EF4-FFF2-40B4-BE49-F238E27FC236}">
                <a16:creationId xmlns:a16="http://schemas.microsoft.com/office/drawing/2014/main" id="{603C231C-77BE-92CE-D4D5-B84E19B523A5}"/>
              </a:ext>
            </a:extLst>
          </p:cNvPr>
          <p:cNvSpPr txBox="1"/>
          <p:nvPr/>
        </p:nvSpPr>
        <p:spPr>
          <a:xfrm>
            <a:off x="-10849" y="5897336"/>
            <a:ext cx="2539083" cy="307777"/>
          </a:xfrm>
          <a:prstGeom prst="rect">
            <a:avLst/>
          </a:prstGeom>
        </p:spPr>
        <p:txBody>
          <a:bodyPr vert="horz" wrap="squar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err="1">
                <a:ln>
                  <a:noFill/>
                </a:ln>
                <a:solidFill>
                  <a:prstClr val="black"/>
                </a:solidFill>
                <a:effectLst/>
                <a:uLnTx/>
                <a:uFillTx/>
                <a:latin typeface="Arial" panose="020B0604020202020204"/>
                <a:ea typeface="+mn-ea"/>
                <a:cs typeface="+mn-cs"/>
              </a:rPr>
              <a:t>www.ghasemzadeh.com</a:t>
            </a:r>
            <a:endParaRPr kumimoji="0" lang="en-US" sz="1400" b="0" i="1" u="none" strike="noStrike" kern="1200" cap="none" spc="0" normalizeH="0" baseline="0" noProof="0" dirty="0">
              <a:ln>
                <a:noFill/>
              </a:ln>
              <a:solidFill>
                <a:prstClr val="black"/>
              </a:solidFill>
              <a:effectLst/>
              <a:uLnTx/>
              <a:uFillTx/>
              <a:latin typeface="Arial" panose="020B0604020202020204"/>
              <a:ea typeface="+mn-ea"/>
              <a:cs typeface="+mn-cs"/>
            </a:endParaRPr>
          </a:p>
        </p:txBody>
      </p:sp>
      <p:pic>
        <p:nvPicPr>
          <p:cNvPr id="1028" name="Picture 4" descr="The School of Computing and Augmented Intelligence at Arizona State  University is hiring for 13 open tenure and tenure-track faculty positions  - CRA">
            <a:extLst>
              <a:ext uri="{FF2B5EF4-FFF2-40B4-BE49-F238E27FC236}">
                <a16:creationId xmlns:a16="http://schemas.microsoft.com/office/drawing/2014/main" id="{B786F933-5D5D-1B3C-B989-F10EC88BDC0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9703" b="5427"/>
          <a:stretch>
            <a:fillRect/>
          </a:stretch>
        </p:blipFill>
        <p:spPr bwMode="auto">
          <a:xfrm>
            <a:off x="228598" y="381000"/>
            <a:ext cx="4038600" cy="8382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DFF8C207-EBDF-B132-BC73-F69070FD440A}"/>
              </a:ext>
            </a:extLst>
          </p:cNvPr>
          <p:cNvPicPr>
            <a:picLocks noChangeAspect="1"/>
          </p:cNvPicPr>
          <p:nvPr/>
        </p:nvPicPr>
        <p:blipFill>
          <a:blip r:embed="rId4"/>
          <a:stretch>
            <a:fillRect/>
          </a:stretch>
        </p:blipFill>
        <p:spPr>
          <a:xfrm>
            <a:off x="659729" y="4762935"/>
            <a:ext cx="1197929" cy="1193710"/>
          </a:xfrm>
          <a:prstGeom prst="rect">
            <a:avLst/>
          </a:prstGeom>
        </p:spPr>
      </p:pic>
    </p:spTree>
    <p:extLst>
      <p:ext uri="{BB962C8B-B14F-4D97-AF65-F5344CB8AC3E}">
        <p14:creationId xmlns:p14="http://schemas.microsoft.com/office/powerpoint/2010/main" val="2955960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6C277-AB7B-C2B0-5AD1-FBA2B00B1185}"/>
              </a:ext>
            </a:extLst>
          </p:cNvPr>
          <p:cNvSpPr>
            <a:spLocks noGrp="1"/>
          </p:cNvSpPr>
          <p:nvPr>
            <p:ph type="title"/>
          </p:nvPr>
        </p:nvSpPr>
        <p:spPr/>
        <p:txBody>
          <a:bodyPr/>
          <a:lstStyle/>
          <a:p>
            <a:r>
              <a:rPr lang="en-US" dirty="0">
                <a:latin typeface="+mn-lt"/>
              </a:rPr>
              <a:t>What is WBE?</a:t>
            </a:r>
          </a:p>
        </p:txBody>
      </p:sp>
      <p:sp>
        <p:nvSpPr>
          <p:cNvPr id="4" name="Slide Number Placeholder 3">
            <a:extLst>
              <a:ext uri="{FF2B5EF4-FFF2-40B4-BE49-F238E27FC236}">
                <a16:creationId xmlns:a16="http://schemas.microsoft.com/office/drawing/2014/main" id="{734459A9-5B93-C1B9-238B-EA8D21A0970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4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400" b="0" i="0" u="none" strike="noStrike" kern="1200" cap="none" spc="0" normalizeH="0" baseline="0" noProof="0">
              <a:ln>
                <a:noFill/>
              </a:ln>
              <a:solidFill>
                <a:prstClr val="black"/>
              </a:solidFill>
              <a:effectLst/>
              <a:uLnTx/>
              <a:uFillTx/>
              <a:ea typeface="+mn-ea"/>
              <a:cs typeface="+mn-cs"/>
            </a:endParaRPr>
          </a:p>
        </p:txBody>
      </p:sp>
      <p:sp>
        <p:nvSpPr>
          <p:cNvPr id="6" name="Content Placeholder 5">
            <a:extLst>
              <a:ext uri="{FF2B5EF4-FFF2-40B4-BE49-F238E27FC236}">
                <a16:creationId xmlns:a16="http://schemas.microsoft.com/office/drawing/2014/main" id="{D12C8A46-FD83-73BA-180A-606EAA23C58E}"/>
              </a:ext>
            </a:extLst>
          </p:cNvPr>
          <p:cNvSpPr>
            <a:spLocks noGrp="1"/>
          </p:cNvSpPr>
          <p:nvPr>
            <p:ph idx="1"/>
          </p:nvPr>
        </p:nvSpPr>
        <p:spPr/>
        <p:txBody>
          <a:bodyPr>
            <a:normAutofit/>
          </a:bodyPr>
          <a:lstStyle/>
          <a:p>
            <a:pPr marL="0" indent="0">
              <a:buNone/>
            </a:pPr>
            <a:r>
              <a:rPr lang="en-US" sz="2800" b="1" dirty="0"/>
              <a:t>Public health surveillance using wastewater</a:t>
            </a:r>
          </a:p>
          <a:p>
            <a:pPr marL="0" indent="0">
              <a:buNone/>
            </a:pPr>
            <a:r>
              <a:rPr lang="en-US" sz="2800" b="1" dirty="0"/>
              <a:t>Detects pathogen biomarkers shed by infected individuals</a:t>
            </a:r>
          </a:p>
          <a:p>
            <a:pPr marL="0" indent="0">
              <a:buNone/>
            </a:pPr>
            <a:r>
              <a:rPr lang="en-US" sz="2800" b="1" dirty="0"/>
              <a:t>Infers population-level infection trends</a:t>
            </a:r>
          </a:p>
          <a:p>
            <a:pPr marL="0" indent="0">
              <a:buNone/>
            </a:pPr>
            <a:r>
              <a:rPr lang="en-US" sz="2800" b="1" dirty="0"/>
              <a:t>Complements clinical surveillance and may provide early warning</a:t>
            </a:r>
          </a:p>
        </p:txBody>
      </p:sp>
    </p:spTree>
    <p:extLst>
      <p:ext uri="{BB962C8B-B14F-4D97-AF65-F5344CB8AC3E}">
        <p14:creationId xmlns:p14="http://schemas.microsoft.com/office/powerpoint/2010/main" val="29618565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ED48B-B1FE-5E80-E6EF-6A00CC1031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03AAA0-30A4-80FA-B67D-F8EED2587C7A}"/>
              </a:ext>
            </a:extLst>
          </p:cNvPr>
          <p:cNvSpPr>
            <a:spLocks noGrp="1"/>
          </p:cNvSpPr>
          <p:nvPr>
            <p:ph type="title"/>
          </p:nvPr>
        </p:nvSpPr>
        <p:spPr/>
        <p:txBody>
          <a:bodyPr/>
          <a:lstStyle/>
          <a:p>
            <a:r>
              <a:rPr lang="en-US" dirty="0">
                <a:latin typeface="+mn-lt"/>
              </a:rPr>
              <a:t>Framework of Wastewater-Based Epidemiology</a:t>
            </a:r>
          </a:p>
        </p:txBody>
      </p:sp>
      <p:sp>
        <p:nvSpPr>
          <p:cNvPr id="4" name="Slide Number Placeholder 3">
            <a:extLst>
              <a:ext uri="{FF2B5EF4-FFF2-40B4-BE49-F238E27FC236}">
                <a16:creationId xmlns:a16="http://schemas.microsoft.com/office/drawing/2014/main" id="{4126D73B-1188-9E45-C423-7111C415884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4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400" b="0" i="0" u="none" strike="noStrike" kern="1200" cap="none" spc="0" normalizeH="0" baseline="0" noProof="0">
              <a:ln>
                <a:noFill/>
              </a:ln>
              <a:solidFill>
                <a:prstClr val="black"/>
              </a:solidFill>
              <a:effectLst/>
              <a:uLnTx/>
              <a:uFillTx/>
              <a:ea typeface="+mn-ea"/>
              <a:cs typeface="+mn-cs"/>
            </a:endParaRPr>
          </a:p>
        </p:txBody>
      </p:sp>
      <p:sp>
        <p:nvSpPr>
          <p:cNvPr id="6" name="Content Placeholder 5">
            <a:extLst>
              <a:ext uri="{FF2B5EF4-FFF2-40B4-BE49-F238E27FC236}">
                <a16:creationId xmlns:a16="http://schemas.microsoft.com/office/drawing/2014/main" id="{961B779F-E553-F040-32C1-ABED1E7CFAD4}"/>
              </a:ext>
            </a:extLst>
          </p:cNvPr>
          <p:cNvSpPr>
            <a:spLocks noGrp="1"/>
          </p:cNvSpPr>
          <p:nvPr>
            <p:ph idx="1"/>
          </p:nvPr>
        </p:nvSpPr>
        <p:spPr/>
        <p:txBody>
          <a:bodyPr>
            <a:normAutofit/>
          </a:bodyPr>
          <a:lstStyle/>
          <a:p>
            <a:pPr marL="0" indent="0">
              <a:buNone/>
            </a:pPr>
            <a:r>
              <a:rPr lang="en-US" sz="2400" b="1" dirty="0"/>
              <a:t>Sampling: collecting representative wastewater from a defined population</a:t>
            </a:r>
          </a:p>
          <a:p>
            <a:pPr marL="0" indent="0">
              <a:buNone/>
            </a:pPr>
            <a:r>
              <a:rPr lang="en-US" sz="2400" b="1" dirty="0"/>
              <a:t>Pathogen detection: measuring biological markers in collected samples</a:t>
            </a:r>
          </a:p>
          <a:p>
            <a:pPr marL="0" indent="0">
              <a:buNone/>
            </a:pPr>
            <a:r>
              <a:rPr lang="en-US" sz="2400" b="1" dirty="0"/>
              <a:t>Data analysis: transforming measurements into infection trend estimates</a:t>
            </a:r>
          </a:p>
          <a:p>
            <a:pPr marL="0" indent="0">
              <a:buNone/>
            </a:pPr>
            <a:endParaRPr lang="en-US" sz="2400" b="1" dirty="0"/>
          </a:p>
        </p:txBody>
      </p:sp>
      <p:pic>
        <p:nvPicPr>
          <p:cNvPr id="1026" name="Picture 2" descr="Figure 1">
            <a:extLst>
              <a:ext uri="{FF2B5EF4-FFF2-40B4-BE49-F238E27FC236}">
                <a16:creationId xmlns:a16="http://schemas.microsoft.com/office/drawing/2014/main" id="{5F84B682-B11F-4914-15BB-BD9E9D0C5D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0300" y="2632078"/>
            <a:ext cx="7391400" cy="372427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F7D56DD-6431-280C-143B-BECBFB4D1BF1}"/>
              </a:ext>
            </a:extLst>
          </p:cNvPr>
          <p:cNvSpPr txBox="1"/>
          <p:nvPr/>
        </p:nvSpPr>
        <p:spPr>
          <a:xfrm>
            <a:off x="1753304" y="6359372"/>
            <a:ext cx="8685391" cy="246221"/>
          </a:xfrm>
          <a:prstGeom prst="rect">
            <a:avLst/>
          </a:prstGeom>
        </p:spPr>
        <p:txBody>
          <a:bodyPr vert="horz" wrap="none" lIns="91440" tIns="45720" rIns="91440" bIns="45720" rtlCol="0">
            <a:spAutoFit/>
          </a:bodyPr>
          <a:lstStyle/>
          <a:p>
            <a:r>
              <a:rPr lang="en-US" sz="1000" dirty="0"/>
              <a:t>Reproduced from Kitamura K., et al., </a:t>
            </a:r>
            <a:r>
              <a:rPr lang="en-US" sz="1000" i="1" dirty="0"/>
              <a:t>Microorganisms</a:t>
            </a:r>
            <a:r>
              <a:rPr lang="en-US" sz="1000" dirty="0"/>
              <a:t>, 2025, 13(5):1169. https://doi.org/10.3390/microorganisms13051169. Licensed under CC BY 4.0.</a:t>
            </a:r>
            <a:endParaRPr lang="en-US" sz="1000" i="1" dirty="0"/>
          </a:p>
        </p:txBody>
      </p:sp>
    </p:spTree>
    <p:extLst>
      <p:ext uri="{BB962C8B-B14F-4D97-AF65-F5344CB8AC3E}">
        <p14:creationId xmlns:p14="http://schemas.microsoft.com/office/powerpoint/2010/main" val="21930576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590B5-861B-0584-E86D-8CB1070B86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D53B61-2FF2-5B06-82A2-5DAF5197E9CB}"/>
              </a:ext>
            </a:extLst>
          </p:cNvPr>
          <p:cNvSpPr>
            <a:spLocks noGrp="1"/>
          </p:cNvSpPr>
          <p:nvPr>
            <p:ph type="title"/>
          </p:nvPr>
        </p:nvSpPr>
        <p:spPr/>
        <p:txBody>
          <a:bodyPr/>
          <a:lstStyle/>
          <a:p>
            <a:r>
              <a:rPr lang="en-US" dirty="0">
                <a:latin typeface="+mn-lt"/>
              </a:rPr>
              <a:t>Sampling and Pathogen Detection</a:t>
            </a:r>
          </a:p>
        </p:txBody>
      </p:sp>
      <p:sp>
        <p:nvSpPr>
          <p:cNvPr id="4" name="Slide Number Placeholder 3">
            <a:extLst>
              <a:ext uri="{FF2B5EF4-FFF2-40B4-BE49-F238E27FC236}">
                <a16:creationId xmlns:a16="http://schemas.microsoft.com/office/drawing/2014/main" id="{3DBFB2D3-B2C7-E447-E387-601CBF0BFFB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4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400" b="0" i="0" u="none" strike="noStrike" kern="1200" cap="none" spc="0" normalizeH="0" baseline="0" noProof="0">
              <a:ln>
                <a:noFill/>
              </a:ln>
              <a:solidFill>
                <a:prstClr val="black"/>
              </a:solidFill>
              <a:effectLst/>
              <a:uLnTx/>
              <a:uFillTx/>
              <a:ea typeface="+mn-ea"/>
              <a:cs typeface="+mn-cs"/>
            </a:endParaRPr>
          </a:p>
        </p:txBody>
      </p:sp>
      <p:sp>
        <p:nvSpPr>
          <p:cNvPr id="6" name="Content Placeholder 5">
            <a:extLst>
              <a:ext uri="{FF2B5EF4-FFF2-40B4-BE49-F238E27FC236}">
                <a16:creationId xmlns:a16="http://schemas.microsoft.com/office/drawing/2014/main" id="{8CB25EB0-E715-20A6-76A7-DB33D75F517B}"/>
              </a:ext>
            </a:extLst>
          </p:cNvPr>
          <p:cNvSpPr>
            <a:spLocks noGrp="1"/>
          </p:cNvSpPr>
          <p:nvPr>
            <p:ph idx="1"/>
          </p:nvPr>
        </p:nvSpPr>
        <p:spPr/>
        <p:txBody>
          <a:bodyPr>
            <a:normAutofit/>
          </a:bodyPr>
          <a:lstStyle/>
          <a:p>
            <a:pPr marL="0" indent="0">
              <a:buNone/>
            </a:pPr>
            <a:r>
              <a:rPr lang="en-US" sz="2400" b="1" dirty="0"/>
              <a:t>Sampling depends on location, timing, and frequency</a:t>
            </a:r>
          </a:p>
          <a:p>
            <a:pPr marL="0" indent="0">
              <a:buNone/>
            </a:pPr>
            <a:r>
              <a:rPr lang="en-US" sz="2400" b="1" dirty="0"/>
              <a:t>Composite and grab sampling methods are used</a:t>
            </a:r>
          </a:p>
          <a:p>
            <a:pPr marL="0" indent="0">
              <a:buNone/>
            </a:pPr>
            <a:r>
              <a:rPr lang="en-US" sz="2400" b="1" dirty="0"/>
              <a:t>qPCR quantifies viral RNA in wastewater</a:t>
            </a:r>
          </a:p>
          <a:p>
            <a:pPr marL="0" indent="0">
              <a:buNone/>
            </a:pPr>
            <a:r>
              <a:rPr lang="en-US" sz="2400" b="1" dirty="0"/>
              <a:t>Sequencing enables variant identification and monitoring</a:t>
            </a:r>
          </a:p>
        </p:txBody>
      </p:sp>
    </p:spTree>
    <p:extLst>
      <p:ext uri="{BB962C8B-B14F-4D97-AF65-F5344CB8AC3E}">
        <p14:creationId xmlns:p14="http://schemas.microsoft.com/office/powerpoint/2010/main" val="2581107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2306B-0ABF-3F5A-641D-CEC974C9C9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7EEA89-1422-55CA-49A8-DC12C8945DD1}"/>
              </a:ext>
            </a:extLst>
          </p:cNvPr>
          <p:cNvSpPr>
            <a:spLocks noGrp="1"/>
          </p:cNvSpPr>
          <p:nvPr>
            <p:ph type="title"/>
          </p:nvPr>
        </p:nvSpPr>
        <p:spPr/>
        <p:txBody>
          <a:bodyPr/>
          <a:lstStyle/>
          <a:p>
            <a:r>
              <a:rPr lang="en-US" dirty="0">
                <a:latin typeface="+mn-lt"/>
              </a:rPr>
              <a:t>Data Preprocessing</a:t>
            </a:r>
          </a:p>
        </p:txBody>
      </p:sp>
      <p:sp>
        <p:nvSpPr>
          <p:cNvPr id="4" name="Slide Number Placeholder 3">
            <a:extLst>
              <a:ext uri="{FF2B5EF4-FFF2-40B4-BE49-F238E27FC236}">
                <a16:creationId xmlns:a16="http://schemas.microsoft.com/office/drawing/2014/main" id="{D39FCA90-E795-DFB1-86DB-5A6DFF9AEB4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4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400" b="0" i="0" u="none" strike="noStrike" kern="1200" cap="none" spc="0" normalizeH="0" baseline="0" noProof="0">
              <a:ln>
                <a:noFill/>
              </a:ln>
              <a:solidFill>
                <a:prstClr val="black"/>
              </a:solidFill>
              <a:effectLst/>
              <a:uLnTx/>
              <a:uFillTx/>
              <a:ea typeface="+mn-ea"/>
              <a:cs typeface="+mn-cs"/>
            </a:endParaRPr>
          </a:p>
        </p:txBody>
      </p:sp>
      <p:sp>
        <p:nvSpPr>
          <p:cNvPr id="6" name="Content Placeholder 5">
            <a:extLst>
              <a:ext uri="{FF2B5EF4-FFF2-40B4-BE49-F238E27FC236}">
                <a16:creationId xmlns:a16="http://schemas.microsoft.com/office/drawing/2014/main" id="{268CFD93-51D9-1903-36B8-2D2E066E4526}"/>
              </a:ext>
            </a:extLst>
          </p:cNvPr>
          <p:cNvSpPr>
            <a:spLocks noGrp="1"/>
          </p:cNvSpPr>
          <p:nvPr>
            <p:ph idx="1"/>
          </p:nvPr>
        </p:nvSpPr>
        <p:spPr>
          <a:xfrm>
            <a:off x="609600" y="1066803"/>
            <a:ext cx="6429375" cy="5059363"/>
          </a:xfrm>
        </p:spPr>
        <p:txBody>
          <a:bodyPr>
            <a:normAutofit/>
          </a:bodyPr>
          <a:lstStyle/>
          <a:p>
            <a:pPr marL="0" indent="0">
              <a:buNone/>
            </a:pPr>
            <a:r>
              <a:rPr lang="en-US" sz="2400" b="1" dirty="0"/>
              <a:t>Raw wastewater measurements are not directly comparable</a:t>
            </a:r>
          </a:p>
          <a:p>
            <a:pPr marL="0" indent="0">
              <a:buNone/>
            </a:pPr>
            <a:r>
              <a:rPr lang="en-US" sz="2400" b="1" dirty="0"/>
              <a:t>Normalization adjusts for dilution and wastewater variability</a:t>
            </a:r>
          </a:p>
          <a:p>
            <a:pPr marL="0" indent="0">
              <a:buNone/>
            </a:pPr>
            <a:r>
              <a:rPr lang="en-US" sz="2400" b="1" dirty="0"/>
              <a:t>Environmental and system factors must be accounted for</a:t>
            </a:r>
          </a:p>
          <a:p>
            <a:pPr marL="0" indent="0">
              <a:buNone/>
            </a:pPr>
            <a:r>
              <a:rPr lang="en-US" sz="2400" b="1" dirty="0"/>
              <a:t>Processed data becomes suitable for modeling</a:t>
            </a:r>
          </a:p>
        </p:txBody>
      </p:sp>
      <p:pic>
        <p:nvPicPr>
          <p:cNvPr id="2054" name="Picture 6">
            <a:extLst>
              <a:ext uri="{FF2B5EF4-FFF2-40B4-BE49-F238E27FC236}">
                <a16:creationId xmlns:a16="http://schemas.microsoft.com/office/drawing/2014/main" id="{6D1C6CBF-D46F-0CC6-5367-2078708B1C2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935"/>
          <a:stretch>
            <a:fillRect/>
          </a:stretch>
        </p:blipFill>
        <p:spPr bwMode="auto">
          <a:xfrm>
            <a:off x="7038975" y="1066803"/>
            <a:ext cx="4772025" cy="52895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CA45D28-DBB2-A119-C82D-226FCCA6008C}"/>
              </a:ext>
            </a:extLst>
          </p:cNvPr>
          <p:cNvSpPr txBox="1"/>
          <p:nvPr/>
        </p:nvSpPr>
        <p:spPr>
          <a:xfrm>
            <a:off x="3183947" y="6177923"/>
            <a:ext cx="8398453" cy="261610"/>
          </a:xfrm>
          <a:prstGeom prst="rect">
            <a:avLst/>
          </a:prstGeom>
        </p:spPr>
        <p:txBody>
          <a:bodyPr vert="horz" wrap="none" lIns="91440" tIns="45720" rIns="91440" bIns="45720" rtlCol="0">
            <a:spAutoFit/>
          </a:bodyPr>
          <a:lstStyle/>
          <a:p>
            <a:r>
              <a:rPr lang="en-US" sz="1100" dirty="0"/>
              <a:t>Image by Cleantwaterguru24, “Illustration of a combined sewer system (combined sewer overflows),” licensed under CC BY-SA 3.0.</a:t>
            </a:r>
            <a:endParaRPr lang="en-US" sz="1100" i="1" dirty="0"/>
          </a:p>
        </p:txBody>
      </p:sp>
    </p:spTree>
    <p:extLst>
      <p:ext uri="{BB962C8B-B14F-4D97-AF65-F5344CB8AC3E}">
        <p14:creationId xmlns:p14="http://schemas.microsoft.com/office/powerpoint/2010/main" val="523680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A8A9D-1C69-434E-560E-EA6CF1B7C5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110260-F9CB-A03E-E2B4-3230C3586790}"/>
              </a:ext>
            </a:extLst>
          </p:cNvPr>
          <p:cNvSpPr>
            <a:spLocks noGrp="1"/>
          </p:cNvSpPr>
          <p:nvPr>
            <p:ph type="title"/>
          </p:nvPr>
        </p:nvSpPr>
        <p:spPr/>
        <p:txBody>
          <a:bodyPr/>
          <a:lstStyle/>
          <a:p>
            <a:r>
              <a:rPr lang="en-US" dirty="0">
                <a:latin typeface="+mn-lt"/>
              </a:rPr>
              <a:t>Predictive Modeling</a:t>
            </a:r>
          </a:p>
        </p:txBody>
      </p:sp>
      <p:sp>
        <p:nvSpPr>
          <p:cNvPr id="4" name="Slide Number Placeholder 3">
            <a:extLst>
              <a:ext uri="{FF2B5EF4-FFF2-40B4-BE49-F238E27FC236}">
                <a16:creationId xmlns:a16="http://schemas.microsoft.com/office/drawing/2014/main" id="{D5378466-E56C-3C85-ED44-FCA89FB7820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4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400" b="0" i="0" u="none" strike="noStrike" kern="1200" cap="none" spc="0" normalizeH="0" baseline="0" noProof="0">
              <a:ln>
                <a:noFill/>
              </a:ln>
              <a:solidFill>
                <a:prstClr val="black"/>
              </a:solidFill>
              <a:effectLst/>
              <a:uLnTx/>
              <a:uFillTx/>
              <a:ea typeface="+mn-ea"/>
              <a:cs typeface="+mn-cs"/>
            </a:endParaRPr>
          </a:p>
        </p:txBody>
      </p:sp>
      <p:sp>
        <p:nvSpPr>
          <p:cNvPr id="6" name="Content Placeholder 5">
            <a:extLst>
              <a:ext uri="{FF2B5EF4-FFF2-40B4-BE49-F238E27FC236}">
                <a16:creationId xmlns:a16="http://schemas.microsoft.com/office/drawing/2014/main" id="{DC14F8DA-D1E0-AD52-AA67-008A791512D8}"/>
              </a:ext>
            </a:extLst>
          </p:cNvPr>
          <p:cNvSpPr>
            <a:spLocks noGrp="1"/>
          </p:cNvSpPr>
          <p:nvPr>
            <p:ph idx="1"/>
          </p:nvPr>
        </p:nvSpPr>
        <p:spPr>
          <a:xfrm>
            <a:off x="609600" y="1066803"/>
            <a:ext cx="4660900" cy="5059363"/>
          </a:xfrm>
        </p:spPr>
        <p:txBody>
          <a:bodyPr>
            <a:normAutofit/>
          </a:bodyPr>
          <a:lstStyle/>
          <a:p>
            <a:pPr marL="0" indent="0">
              <a:buNone/>
            </a:pPr>
            <a:r>
              <a:rPr lang="en-US" sz="2400" b="1" dirty="0"/>
              <a:t>Models link wastewater signals to epidemiological outcomes</a:t>
            </a:r>
          </a:p>
          <a:p>
            <a:pPr marL="0" indent="0">
              <a:buNone/>
            </a:pPr>
            <a:r>
              <a:rPr lang="en-US" sz="2400" b="1" dirty="0"/>
              <a:t>Regression and statistical models are widely used</a:t>
            </a:r>
          </a:p>
          <a:p>
            <a:pPr marL="0" indent="0">
              <a:buNone/>
            </a:pPr>
            <a:r>
              <a:rPr lang="en-US" sz="2400" b="1" dirty="0"/>
              <a:t>Machine learning models capture complex patterns</a:t>
            </a:r>
          </a:p>
          <a:p>
            <a:pPr marL="0" indent="0">
              <a:buNone/>
            </a:pPr>
            <a:r>
              <a:rPr lang="en-US" sz="2400" b="1" dirty="0"/>
              <a:t>Model outputs estimate prevalence and forecast trends</a:t>
            </a:r>
          </a:p>
        </p:txBody>
      </p:sp>
      <p:graphicFrame>
        <p:nvGraphicFramePr>
          <p:cNvPr id="3" name="Table 2">
            <a:extLst>
              <a:ext uri="{FF2B5EF4-FFF2-40B4-BE49-F238E27FC236}">
                <a16:creationId xmlns:a16="http://schemas.microsoft.com/office/drawing/2014/main" id="{504ABD11-7815-C07E-B283-D623FE42B565}"/>
              </a:ext>
            </a:extLst>
          </p:cNvPr>
          <p:cNvGraphicFramePr>
            <a:graphicFrameLocks noGrp="1"/>
          </p:cNvGraphicFramePr>
          <p:nvPr>
            <p:extLst>
              <p:ext uri="{D42A27DB-BD31-4B8C-83A1-F6EECF244321}">
                <p14:modId xmlns:p14="http://schemas.microsoft.com/office/powerpoint/2010/main" val="4147386874"/>
              </p:ext>
            </p:extLst>
          </p:nvPr>
        </p:nvGraphicFramePr>
        <p:xfrm>
          <a:off x="5613400" y="1104800"/>
          <a:ext cx="6197600" cy="5115129"/>
        </p:xfrm>
        <a:graphic>
          <a:graphicData uri="http://schemas.openxmlformats.org/drawingml/2006/table">
            <a:tbl>
              <a:tblPr firstRow="1" bandRow="1">
                <a:tableStyleId>{5C22544A-7EE6-4342-B048-85BDC9FD1C3A}</a:tableStyleId>
              </a:tblPr>
              <a:tblGrid>
                <a:gridCol w="1549400">
                  <a:extLst>
                    <a:ext uri="{9D8B030D-6E8A-4147-A177-3AD203B41FA5}">
                      <a16:colId xmlns:a16="http://schemas.microsoft.com/office/drawing/2014/main" val="2760624792"/>
                    </a:ext>
                  </a:extLst>
                </a:gridCol>
                <a:gridCol w="1549400">
                  <a:extLst>
                    <a:ext uri="{9D8B030D-6E8A-4147-A177-3AD203B41FA5}">
                      <a16:colId xmlns:a16="http://schemas.microsoft.com/office/drawing/2014/main" val="1692160367"/>
                    </a:ext>
                  </a:extLst>
                </a:gridCol>
                <a:gridCol w="1549400">
                  <a:extLst>
                    <a:ext uri="{9D8B030D-6E8A-4147-A177-3AD203B41FA5}">
                      <a16:colId xmlns:a16="http://schemas.microsoft.com/office/drawing/2014/main" val="3157987441"/>
                    </a:ext>
                  </a:extLst>
                </a:gridCol>
                <a:gridCol w="1549400">
                  <a:extLst>
                    <a:ext uri="{9D8B030D-6E8A-4147-A177-3AD203B41FA5}">
                      <a16:colId xmlns:a16="http://schemas.microsoft.com/office/drawing/2014/main" val="998650663"/>
                    </a:ext>
                  </a:extLst>
                </a:gridCol>
              </a:tblGrid>
              <a:tr h="485354">
                <a:tc>
                  <a:txBody>
                    <a:bodyPr/>
                    <a:lstStyle/>
                    <a:p>
                      <a:pPr algn="ctr" fontAlgn="t">
                        <a:buNone/>
                      </a:pPr>
                      <a:r>
                        <a:rPr lang="en-US" sz="1400" dirty="0">
                          <a:effectLst/>
                        </a:rPr>
                        <a:t>Method</a:t>
                      </a:r>
                    </a:p>
                  </a:txBody>
                  <a:tcPr marL="35712" marR="35712" marT="35712" marB="35712"/>
                </a:tc>
                <a:tc>
                  <a:txBody>
                    <a:bodyPr/>
                    <a:lstStyle/>
                    <a:p>
                      <a:pPr algn="ctr" fontAlgn="t">
                        <a:buNone/>
                      </a:pPr>
                      <a:r>
                        <a:rPr lang="en-US" sz="1400">
                          <a:effectLst/>
                        </a:rPr>
                        <a:t>Applicable Conditions</a:t>
                      </a:r>
                    </a:p>
                  </a:txBody>
                  <a:tcPr marL="35712" marR="35712" marT="35712" marB="35712"/>
                </a:tc>
                <a:tc>
                  <a:txBody>
                    <a:bodyPr/>
                    <a:lstStyle/>
                    <a:p>
                      <a:pPr algn="ctr" fontAlgn="t">
                        <a:buNone/>
                      </a:pPr>
                      <a:r>
                        <a:rPr lang="en-US" sz="1400">
                          <a:effectLst/>
                        </a:rPr>
                        <a:t>Advantages</a:t>
                      </a:r>
                    </a:p>
                  </a:txBody>
                  <a:tcPr marL="35712" marR="35712" marT="35712" marB="35712"/>
                </a:tc>
                <a:tc>
                  <a:txBody>
                    <a:bodyPr/>
                    <a:lstStyle/>
                    <a:p>
                      <a:pPr algn="ctr" fontAlgn="t">
                        <a:buNone/>
                      </a:pPr>
                      <a:r>
                        <a:rPr lang="en-US" sz="1400" dirty="0">
                          <a:effectLst/>
                        </a:rPr>
                        <a:t>Limitations</a:t>
                      </a:r>
                    </a:p>
                  </a:txBody>
                  <a:tcPr marL="35712" marR="35712" marT="35712" marB="35712"/>
                </a:tc>
                <a:extLst>
                  <a:ext uri="{0D108BD9-81ED-4DB2-BD59-A6C34878D82A}">
                    <a16:rowId xmlns:a16="http://schemas.microsoft.com/office/drawing/2014/main" val="4199504617"/>
                  </a:ext>
                </a:extLst>
              </a:tr>
              <a:tr h="700078">
                <a:tc>
                  <a:txBody>
                    <a:bodyPr/>
                    <a:lstStyle/>
                    <a:p>
                      <a:pPr algn="ctr" fontAlgn="t">
                        <a:buNone/>
                      </a:pPr>
                      <a:r>
                        <a:rPr lang="en-US" sz="1400" dirty="0">
                          <a:effectLst/>
                        </a:rPr>
                        <a:t>Simple Moving Average</a:t>
                      </a:r>
                    </a:p>
                  </a:txBody>
                  <a:tcPr marL="35712" marR="35712" marT="35712" marB="35712"/>
                </a:tc>
                <a:tc>
                  <a:txBody>
                    <a:bodyPr/>
                    <a:lstStyle/>
                    <a:p>
                      <a:pPr algn="ctr" fontAlgn="t">
                        <a:buNone/>
                      </a:pPr>
                      <a:r>
                        <a:rPr lang="en-US" sz="1400">
                          <a:effectLst/>
                        </a:rPr>
                        <a:t>Smoothing short-term date</a:t>
                      </a:r>
                    </a:p>
                  </a:txBody>
                  <a:tcPr marL="35712" marR="35712" marT="35712" marB="35712"/>
                </a:tc>
                <a:tc>
                  <a:txBody>
                    <a:bodyPr/>
                    <a:lstStyle/>
                    <a:p>
                      <a:pPr algn="ctr" fontAlgn="t">
                        <a:buNone/>
                      </a:pPr>
                      <a:r>
                        <a:rPr lang="en-US" sz="1400">
                          <a:effectLst/>
                        </a:rPr>
                        <a:t>Simple, stable, and easy to implement</a:t>
                      </a:r>
                    </a:p>
                  </a:txBody>
                  <a:tcPr marL="35712" marR="35712" marT="35712" marB="35712"/>
                </a:tc>
                <a:tc>
                  <a:txBody>
                    <a:bodyPr/>
                    <a:lstStyle/>
                    <a:p>
                      <a:pPr algn="ctr" fontAlgn="t">
                        <a:buNone/>
                      </a:pPr>
                      <a:r>
                        <a:rPr lang="en-US" sz="1400" dirty="0">
                          <a:effectLst/>
                        </a:rPr>
                        <a:t>Slow response to emergencies</a:t>
                      </a:r>
                    </a:p>
                  </a:txBody>
                  <a:tcPr marL="35712" marR="35712" marT="35712" marB="35712"/>
                </a:tc>
                <a:extLst>
                  <a:ext uri="{0D108BD9-81ED-4DB2-BD59-A6C34878D82A}">
                    <a16:rowId xmlns:a16="http://schemas.microsoft.com/office/drawing/2014/main" val="972394297"/>
                  </a:ext>
                </a:extLst>
              </a:tr>
              <a:tr h="700078">
                <a:tc>
                  <a:txBody>
                    <a:bodyPr/>
                    <a:lstStyle/>
                    <a:p>
                      <a:pPr algn="ctr" fontAlgn="t">
                        <a:buNone/>
                      </a:pPr>
                      <a:r>
                        <a:rPr lang="en-US" sz="1400" dirty="0">
                          <a:effectLst/>
                        </a:rPr>
                        <a:t>Locally Estimated Scatterplot Smoothing</a:t>
                      </a:r>
                    </a:p>
                  </a:txBody>
                  <a:tcPr marL="35712" marR="35712" marT="35712" marB="35712"/>
                </a:tc>
                <a:tc>
                  <a:txBody>
                    <a:bodyPr/>
                    <a:lstStyle/>
                    <a:p>
                      <a:pPr algn="ctr" fontAlgn="t">
                        <a:buNone/>
                      </a:pPr>
                      <a:r>
                        <a:rPr lang="en-US" sz="1400" dirty="0">
                          <a:effectLst/>
                        </a:rPr>
                        <a:t>Long-term and nonlinear data</a:t>
                      </a:r>
                    </a:p>
                  </a:txBody>
                  <a:tcPr marL="35712" marR="35712" marT="35712" marB="35712"/>
                </a:tc>
                <a:tc>
                  <a:txBody>
                    <a:bodyPr/>
                    <a:lstStyle/>
                    <a:p>
                      <a:pPr algn="ctr" fontAlgn="t">
                        <a:buNone/>
                      </a:pPr>
                      <a:r>
                        <a:rPr lang="en-US" sz="1400">
                          <a:effectLst/>
                        </a:rPr>
                        <a:t>No need to set parameters in advance</a:t>
                      </a:r>
                    </a:p>
                  </a:txBody>
                  <a:tcPr marL="35712" marR="35712" marT="35712" marB="35712"/>
                </a:tc>
                <a:tc>
                  <a:txBody>
                    <a:bodyPr/>
                    <a:lstStyle/>
                    <a:p>
                      <a:pPr algn="ctr" fontAlgn="t">
                        <a:buNone/>
                      </a:pPr>
                      <a:r>
                        <a:rPr lang="en-US" sz="1400">
                          <a:effectLst/>
                        </a:rPr>
                        <a:t>High computational complexity</a:t>
                      </a:r>
                    </a:p>
                  </a:txBody>
                  <a:tcPr marL="35712" marR="35712" marT="35712" marB="35712"/>
                </a:tc>
                <a:extLst>
                  <a:ext uri="{0D108BD9-81ED-4DB2-BD59-A6C34878D82A}">
                    <a16:rowId xmlns:a16="http://schemas.microsoft.com/office/drawing/2014/main" val="3511141119"/>
                  </a:ext>
                </a:extLst>
              </a:tr>
              <a:tr h="914802">
                <a:tc>
                  <a:txBody>
                    <a:bodyPr/>
                    <a:lstStyle/>
                    <a:p>
                      <a:pPr algn="ctr" fontAlgn="t">
                        <a:buNone/>
                      </a:pPr>
                      <a:r>
                        <a:rPr lang="en-US" sz="1400" dirty="0">
                          <a:effectLst/>
                        </a:rPr>
                        <a:t>Artificial Neural Networks</a:t>
                      </a:r>
                    </a:p>
                  </a:txBody>
                  <a:tcPr marL="35712" marR="35712" marT="35712" marB="35712"/>
                </a:tc>
                <a:tc>
                  <a:txBody>
                    <a:bodyPr/>
                    <a:lstStyle/>
                    <a:p>
                      <a:pPr algn="ctr" fontAlgn="t">
                        <a:buNone/>
                      </a:pPr>
                      <a:r>
                        <a:rPr lang="en-US" sz="1400">
                          <a:effectLst/>
                        </a:rPr>
                        <a:t>Large amounts of data and time-consuming process</a:t>
                      </a:r>
                    </a:p>
                  </a:txBody>
                  <a:tcPr marL="35712" marR="35712" marT="35712" marB="35712"/>
                </a:tc>
                <a:tc>
                  <a:txBody>
                    <a:bodyPr/>
                    <a:lstStyle/>
                    <a:p>
                      <a:pPr algn="ctr" fontAlgn="t">
                        <a:buNone/>
                      </a:pPr>
                      <a:r>
                        <a:rPr lang="en-US" sz="1400">
                          <a:effectLst/>
                        </a:rPr>
                        <a:t>Extract data features through deep structures</a:t>
                      </a:r>
                    </a:p>
                  </a:txBody>
                  <a:tcPr marL="35712" marR="35712" marT="35712" marB="35712"/>
                </a:tc>
                <a:tc>
                  <a:txBody>
                    <a:bodyPr/>
                    <a:lstStyle/>
                    <a:p>
                      <a:pPr algn="ctr" fontAlgn="t">
                        <a:buNone/>
                      </a:pPr>
                      <a:r>
                        <a:rPr lang="en-US" sz="1400">
                          <a:effectLst/>
                        </a:rPr>
                        <a:t>Time-consuming and poor interpretability of the results</a:t>
                      </a:r>
                    </a:p>
                  </a:txBody>
                  <a:tcPr marL="35712" marR="35712" marT="35712" marB="35712"/>
                </a:tc>
                <a:extLst>
                  <a:ext uri="{0D108BD9-81ED-4DB2-BD59-A6C34878D82A}">
                    <a16:rowId xmlns:a16="http://schemas.microsoft.com/office/drawing/2014/main" val="1557253956"/>
                  </a:ext>
                </a:extLst>
              </a:tr>
              <a:tr h="1344249">
                <a:tc>
                  <a:txBody>
                    <a:bodyPr/>
                    <a:lstStyle/>
                    <a:p>
                      <a:pPr algn="ctr" fontAlgn="t">
                        <a:buNone/>
                      </a:pPr>
                      <a:r>
                        <a:rPr lang="en-US" sz="1400">
                          <a:effectLst/>
                        </a:rPr>
                        <a:t>Random Forest</a:t>
                      </a:r>
                    </a:p>
                  </a:txBody>
                  <a:tcPr marL="35712" marR="35712" marT="35712" marB="35712"/>
                </a:tc>
                <a:tc>
                  <a:txBody>
                    <a:bodyPr/>
                    <a:lstStyle/>
                    <a:p>
                      <a:pPr algn="ctr" fontAlgn="t">
                        <a:buNone/>
                      </a:pPr>
                      <a:r>
                        <a:rPr lang="en-US" sz="1400" dirty="0">
                          <a:effectLst/>
                        </a:rPr>
                        <a:t>High-dimensional data with missing data or nonlinear relationships</a:t>
                      </a:r>
                    </a:p>
                  </a:txBody>
                  <a:tcPr marL="35712" marR="35712" marT="35712" marB="35712"/>
                </a:tc>
                <a:tc>
                  <a:txBody>
                    <a:bodyPr/>
                    <a:lstStyle/>
                    <a:p>
                      <a:pPr algn="ctr" fontAlgn="t">
                        <a:buNone/>
                      </a:pPr>
                      <a:r>
                        <a:rPr lang="en-US" sz="1400" dirty="0">
                          <a:effectLst/>
                        </a:rPr>
                        <a:t>Prevent overfitting</a:t>
                      </a:r>
                    </a:p>
                  </a:txBody>
                  <a:tcPr marL="35712" marR="35712" marT="35712" marB="35712"/>
                </a:tc>
                <a:tc>
                  <a:txBody>
                    <a:bodyPr/>
                    <a:lstStyle/>
                    <a:p>
                      <a:pPr algn="ctr" fontAlgn="t">
                        <a:buNone/>
                      </a:pPr>
                      <a:r>
                        <a:rPr lang="en-US" sz="1400">
                          <a:effectLst/>
                        </a:rPr>
                        <a:t>Relatively inefficient, resource-intensive, and difficult to interpret</a:t>
                      </a:r>
                    </a:p>
                  </a:txBody>
                  <a:tcPr marL="35712" marR="35712" marT="35712" marB="35712"/>
                </a:tc>
                <a:extLst>
                  <a:ext uri="{0D108BD9-81ED-4DB2-BD59-A6C34878D82A}">
                    <a16:rowId xmlns:a16="http://schemas.microsoft.com/office/drawing/2014/main" val="2288320825"/>
                  </a:ext>
                </a:extLst>
              </a:tr>
              <a:tr h="914802">
                <a:tc>
                  <a:txBody>
                    <a:bodyPr/>
                    <a:lstStyle/>
                    <a:p>
                      <a:pPr algn="ctr" fontAlgn="t">
                        <a:buNone/>
                      </a:pPr>
                      <a:r>
                        <a:rPr lang="en-US" sz="1400">
                          <a:effectLst/>
                        </a:rPr>
                        <a:t>Bayesian Model</a:t>
                      </a:r>
                    </a:p>
                  </a:txBody>
                  <a:tcPr marL="35712" marR="35712" marT="35712" marB="35712"/>
                </a:tc>
                <a:tc>
                  <a:txBody>
                    <a:bodyPr/>
                    <a:lstStyle/>
                    <a:p>
                      <a:pPr algn="ctr" fontAlgn="t">
                        <a:buNone/>
                      </a:pPr>
                      <a:r>
                        <a:rPr lang="en-US" sz="1400">
                          <a:effectLst/>
                        </a:rPr>
                        <a:t>Sample data are insufficient in low-dimensional spaces</a:t>
                      </a:r>
                    </a:p>
                  </a:txBody>
                  <a:tcPr marL="35712" marR="35712" marT="35712" marB="35712"/>
                </a:tc>
                <a:tc>
                  <a:txBody>
                    <a:bodyPr/>
                    <a:lstStyle/>
                    <a:p>
                      <a:pPr algn="ctr" fontAlgn="t">
                        <a:buNone/>
                      </a:pPr>
                      <a:r>
                        <a:rPr lang="en-US" sz="1400" dirty="0">
                          <a:effectLst/>
                        </a:rPr>
                        <a:t>Quantify the credibility of each possible outcome</a:t>
                      </a:r>
                    </a:p>
                  </a:txBody>
                  <a:tcPr marL="35712" marR="35712" marT="35712" marB="35712"/>
                </a:tc>
                <a:tc>
                  <a:txBody>
                    <a:bodyPr/>
                    <a:lstStyle/>
                    <a:p>
                      <a:pPr algn="ctr" fontAlgn="t">
                        <a:buNone/>
                      </a:pPr>
                      <a:r>
                        <a:rPr lang="en-US" sz="1400" dirty="0">
                          <a:effectLst/>
                        </a:rPr>
                        <a:t>Relies on the choice of priors and assumptions</a:t>
                      </a:r>
                    </a:p>
                  </a:txBody>
                  <a:tcPr marL="35712" marR="35712" marT="35712" marB="35712"/>
                </a:tc>
                <a:extLst>
                  <a:ext uri="{0D108BD9-81ED-4DB2-BD59-A6C34878D82A}">
                    <a16:rowId xmlns:a16="http://schemas.microsoft.com/office/drawing/2014/main" val="1267055109"/>
                  </a:ext>
                </a:extLst>
              </a:tr>
            </a:tbl>
          </a:graphicData>
        </a:graphic>
      </p:graphicFrame>
    </p:spTree>
    <p:extLst>
      <p:ext uri="{BB962C8B-B14F-4D97-AF65-F5344CB8AC3E}">
        <p14:creationId xmlns:p14="http://schemas.microsoft.com/office/powerpoint/2010/main" val="3614647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0A857-DA47-BA2A-F7CC-1B4502A4D3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460051-1841-6962-03A6-ADA1BD66F60F}"/>
              </a:ext>
            </a:extLst>
          </p:cNvPr>
          <p:cNvSpPr>
            <a:spLocks noGrp="1"/>
          </p:cNvSpPr>
          <p:nvPr>
            <p:ph type="title"/>
          </p:nvPr>
        </p:nvSpPr>
        <p:spPr/>
        <p:txBody>
          <a:bodyPr/>
          <a:lstStyle/>
          <a:p>
            <a:r>
              <a:rPr lang="en-US" dirty="0">
                <a:latin typeface="+mn-lt"/>
              </a:rPr>
              <a:t>Applications</a:t>
            </a:r>
          </a:p>
        </p:txBody>
      </p:sp>
      <p:sp>
        <p:nvSpPr>
          <p:cNvPr id="4" name="Slide Number Placeholder 3">
            <a:extLst>
              <a:ext uri="{FF2B5EF4-FFF2-40B4-BE49-F238E27FC236}">
                <a16:creationId xmlns:a16="http://schemas.microsoft.com/office/drawing/2014/main" id="{CEA83199-FBB6-54D3-6512-2A8A82BAFCF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4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400" b="0" i="0" u="none" strike="noStrike" kern="1200" cap="none" spc="0" normalizeH="0" baseline="0" noProof="0">
              <a:ln>
                <a:noFill/>
              </a:ln>
              <a:solidFill>
                <a:prstClr val="black"/>
              </a:solidFill>
              <a:effectLst/>
              <a:uLnTx/>
              <a:uFillTx/>
              <a:ea typeface="+mn-ea"/>
              <a:cs typeface="+mn-cs"/>
            </a:endParaRPr>
          </a:p>
        </p:txBody>
      </p:sp>
      <p:sp>
        <p:nvSpPr>
          <p:cNvPr id="6" name="Content Placeholder 5">
            <a:extLst>
              <a:ext uri="{FF2B5EF4-FFF2-40B4-BE49-F238E27FC236}">
                <a16:creationId xmlns:a16="http://schemas.microsoft.com/office/drawing/2014/main" id="{E5C652DD-902D-C21F-C052-40DC836E6F91}"/>
              </a:ext>
            </a:extLst>
          </p:cNvPr>
          <p:cNvSpPr>
            <a:spLocks noGrp="1"/>
          </p:cNvSpPr>
          <p:nvPr>
            <p:ph idx="1"/>
          </p:nvPr>
        </p:nvSpPr>
        <p:spPr>
          <a:xfrm>
            <a:off x="609600" y="1066803"/>
            <a:ext cx="6223000" cy="5059363"/>
          </a:xfrm>
        </p:spPr>
        <p:txBody>
          <a:bodyPr>
            <a:normAutofit/>
          </a:bodyPr>
          <a:lstStyle/>
          <a:p>
            <a:pPr marL="0" indent="0">
              <a:buNone/>
            </a:pPr>
            <a:r>
              <a:rPr lang="en-US" sz="2400" b="1" dirty="0"/>
              <a:t>Early detection of infection increases</a:t>
            </a:r>
          </a:p>
          <a:p>
            <a:pPr marL="0" indent="0">
              <a:buNone/>
            </a:pPr>
            <a:r>
              <a:rPr lang="en-US" sz="2400" b="1" dirty="0"/>
              <a:t>Trend monitoring over time</a:t>
            </a:r>
          </a:p>
          <a:p>
            <a:pPr marL="0" indent="0">
              <a:buNone/>
            </a:pPr>
            <a:r>
              <a:rPr lang="en-US" sz="2400" b="1" dirty="0"/>
              <a:t>Variant identification and surveillance</a:t>
            </a:r>
          </a:p>
          <a:p>
            <a:pPr marL="0" indent="0">
              <a:buNone/>
            </a:pPr>
            <a:r>
              <a:rPr lang="en-US" sz="2400" b="1" dirty="0"/>
              <a:t>Capturing asymptomatic and unreported cases</a:t>
            </a:r>
          </a:p>
          <a:p>
            <a:pPr marL="0" indent="0">
              <a:buNone/>
            </a:pPr>
            <a:r>
              <a:rPr lang="en-US" sz="2400" b="1" dirty="0"/>
              <a:t>Support for public health decision-making</a:t>
            </a:r>
          </a:p>
        </p:txBody>
      </p:sp>
      <p:pic>
        <p:nvPicPr>
          <p:cNvPr id="3076" name="Picture 4" descr="How can wastewater-informed hospitalization forecasting help communities infographic">
            <a:extLst>
              <a:ext uri="{FF2B5EF4-FFF2-40B4-BE49-F238E27FC236}">
                <a16:creationId xmlns:a16="http://schemas.microsoft.com/office/drawing/2014/main" id="{1835E0F7-11BE-645F-AEBA-5371D3338F3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955"/>
          <a:stretch>
            <a:fillRect/>
          </a:stretch>
        </p:blipFill>
        <p:spPr bwMode="auto">
          <a:xfrm>
            <a:off x="6832600" y="41278"/>
            <a:ext cx="4978400" cy="6315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6485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C5877-A23A-DBAC-2040-E392F0CA96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657C17-BCBF-99C1-B77B-AC800B3D8E2F}"/>
              </a:ext>
            </a:extLst>
          </p:cNvPr>
          <p:cNvSpPr>
            <a:spLocks noGrp="1"/>
          </p:cNvSpPr>
          <p:nvPr>
            <p:ph type="title"/>
          </p:nvPr>
        </p:nvSpPr>
        <p:spPr/>
        <p:txBody>
          <a:bodyPr/>
          <a:lstStyle/>
          <a:p>
            <a:r>
              <a:rPr lang="en-US" dirty="0">
                <a:latin typeface="+mn-lt"/>
              </a:rPr>
              <a:t>Challenges and Limitations</a:t>
            </a:r>
          </a:p>
        </p:txBody>
      </p:sp>
      <p:sp>
        <p:nvSpPr>
          <p:cNvPr id="4" name="Slide Number Placeholder 3">
            <a:extLst>
              <a:ext uri="{FF2B5EF4-FFF2-40B4-BE49-F238E27FC236}">
                <a16:creationId xmlns:a16="http://schemas.microsoft.com/office/drawing/2014/main" id="{0C573D2C-0001-841F-A1CB-F880E7E9D5A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4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400" b="0" i="0" u="none" strike="noStrike" kern="1200" cap="none" spc="0" normalizeH="0" baseline="0" noProof="0">
              <a:ln>
                <a:noFill/>
              </a:ln>
              <a:solidFill>
                <a:prstClr val="black"/>
              </a:solidFill>
              <a:effectLst/>
              <a:uLnTx/>
              <a:uFillTx/>
              <a:ea typeface="+mn-ea"/>
              <a:cs typeface="+mn-cs"/>
            </a:endParaRPr>
          </a:p>
        </p:txBody>
      </p:sp>
      <p:sp>
        <p:nvSpPr>
          <p:cNvPr id="6" name="Content Placeholder 5">
            <a:extLst>
              <a:ext uri="{FF2B5EF4-FFF2-40B4-BE49-F238E27FC236}">
                <a16:creationId xmlns:a16="http://schemas.microsoft.com/office/drawing/2014/main" id="{B6388E47-130C-3A65-C29E-ADB1B107941F}"/>
              </a:ext>
            </a:extLst>
          </p:cNvPr>
          <p:cNvSpPr>
            <a:spLocks noGrp="1"/>
          </p:cNvSpPr>
          <p:nvPr>
            <p:ph idx="1"/>
          </p:nvPr>
        </p:nvSpPr>
        <p:spPr/>
        <p:txBody>
          <a:bodyPr>
            <a:normAutofit/>
          </a:bodyPr>
          <a:lstStyle/>
          <a:p>
            <a:pPr marL="0" indent="0">
              <a:buNone/>
            </a:pPr>
            <a:r>
              <a:rPr lang="en-US" sz="2400" b="1" dirty="0"/>
              <a:t>Lack of standardized protocols across regions</a:t>
            </a:r>
          </a:p>
          <a:p>
            <a:pPr marL="0" indent="0">
              <a:buNone/>
            </a:pPr>
            <a:r>
              <a:rPr lang="en-US" sz="2400" b="1" dirty="0"/>
              <a:t>Environmental and system-driven variability</a:t>
            </a:r>
          </a:p>
          <a:p>
            <a:pPr marL="0" indent="0">
              <a:buNone/>
            </a:pPr>
            <a:r>
              <a:rPr lang="en-US" sz="2400" b="1" dirty="0"/>
              <a:t>RNA degradation and measurement uncertainty</a:t>
            </a:r>
          </a:p>
          <a:p>
            <a:pPr marL="0" indent="0">
              <a:buNone/>
            </a:pPr>
            <a:r>
              <a:rPr lang="en-US" sz="2400" b="1" dirty="0"/>
              <a:t>Resource and infrastructure requirements</a:t>
            </a:r>
          </a:p>
          <a:p>
            <a:pPr marL="0" indent="0">
              <a:buNone/>
            </a:pPr>
            <a:r>
              <a:rPr lang="en-US" sz="2400" b="1" dirty="0"/>
              <a:t>Ethical considerations in community surveillance</a:t>
            </a:r>
          </a:p>
        </p:txBody>
      </p:sp>
    </p:spTree>
    <p:extLst>
      <p:ext uri="{BB962C8B-B14F-4D97-AF65-F5344CB8AC3E}">
        <p14:creationId xmlns:p14="http://schemas.microsoft.com/office/powerpoint/2010/main" val="2589839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16CD7-FE91-D177-73BD-9306515230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B8A424-357F-0AC4-08B3-4E6194877ED8}"/>
              </a:ext>
            </a:extLst>
          </p:cNvPr>
          <p:cNvSpPr>
            <a:spLocks noGrp="1"/>
          </p:cNvSpPr>
          <p:nvPr>
            <p:ph type="title"/>
          </p:nvPr>
        </p:nvSpPr>
        <p:spPr/>
        <p:txBody>
          <a:bodyPr/>
          <a:lstStyle/>
          <a:p>
            <a:r>
              <a:rPr lang="en-US" dirty="0">
                <a:latin typeface="+mn-lt"/>
              </a:rPr>
              <a:t>Personal Relevance</a:t>
            </a:r>
          </a:p>
        </p:txBody>
      </p:sp>
      <p:sp>
        <p:nvSpPr>
          <p:cNvPr id="4" name="Slide Number Placeholder 3">
            <a:extLst>
              <a:ext uri="{FF2B5EF4-FFF2-40B4-BE49-F238E27FC236}">
                <a16:creationId xmlns:a16="http://schemas.microsoft.com/office/drawing/2014/main" id="{3D16B7B4-9CE5-0259-D9A3-077DD4B1B43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4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400" b="0" i="0" u="none" strike="noStrike" kern="1200" cap="none" spc="0" normalizeH="0" baseline="0" noProof="0">
              <a:ln>
                <a:noFill/>
              </a:ln>
              <a:solidFill>
                <a:prstClr val="black"/>
              </a:solidFill>
              <a:effectLst/>
              <a:uLnTx/>
              <a:uFillTx/>
              <a:ea typeface="+mn-ea"/>
              <a:cs typeface="+mn-cs"/>
            </a:endParaRPr>
          </a:p>
        </p:txBody>
      </p:sp>
      <p:sp>
        <p:nvSpPr>
          <p:cNvPr id="6" name="Content Placeholder 5">
            <a:extLst>
              <a:ext uri="{FF2B5EF4-FFF2-40B4-BE49-F238E27FC236}">
                <a16:creationId xmlns:a16="http://schemas.microsoft.com/office/drawing/2014/main" id="{A33BD34C-1099-2280-F077-297B864F2B80}"/>
              </a:ext>
            </a:extLst>
          </p:cNvPr>
          <p:cNvSpPr>
            <a:spLocks noGrp="1"/>
          </p:cNvSpPr>
          <p:nvPr>
            <p:ph idx="1"/>
          </p:nvPr>
        </p:nvSpPr>
        <p:spPr/>
        <p:txBody>
          <a:bodyPr>
            <a:normAutofit/>
          </a:bodyPr>
          <a:lstStyle/>
          <a:p>
            <a:pPr marL="0" indent="0">
              <a:buNone/>
            </a:pPr>
            <a:r>
              <a:rPr lang="en-US" sz="2400" b="1" dirty="0"/>
              <a:t>Understanding the full WBE pipeline before modeling</a:t>
            </a:r>
          </a:p>
          <a:p>
            <a:pPr marL="0" indent="0">
              <a:buNone/>
            </a:pPr>
            <a:r>
              <a:rPr lang="en-US" sz="2400" b="1" dirty="0"/>
              <a:t>Identifying current challenges in wastewater surveillance</a:t>
            </a:r>
          </a:p>
          <a:p>
            <a:pPr marL="0" indent="0">
              <a:buNone/>
            </a:pPr>
            <a:r>
              <a:rPr lang="en-US" sz="2400" b="1" dirty="0"/>
              <a:t>Situating Random Forest within existing modeling approaches</a:t>
            </a:r>
          </a:p>
          <a:p>
            <a:pPr marL="0" indent="0">
              <a:buNone/>
            </a:pPr>
            <a:r>
              <a:rPr lang="en-US" sz="2400" b="1" dirty="0"/>
              <a:t>Questions?</a:t>
            </a:r>
          </a:p>
        </p:txBody>
      </p:sp>
    </p:spTree>
    <p:extLst>
      <p:ext uri="{BB962C8B-B14F-4D97-AF65-F5344CB8AC3E}">
        <p14:creationId xmlns:p14="http://schemas.microsoft.com/office/powerpoint/2010/main" val="1074889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6BBFF-27DD-9755-34E0-7F4676A50D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6DF6CE-E13F-7D21-ABAF-BC736F4CC819}"/>
              </a:ext>
            </a:extLst>
          </p:cNvPr>
          <p:cNvSpPr>
            <a:spLocks noGrp="1"/>
          </p:cNvSpPr>
          <p:nvPr>
            <p:ph type="title"/>
          </p:nvPr>
        </p:nvSpPr>
        <p:spPr/>
        <p:txBody>
          <a:bodyPr/>
          <a:lstStyle/>
          <a:p>
            <a:r>
              <a:rPr lang="en-US" dirty="0">
                <a:latin typeface="+mn-lt"/>
              </a:rPr>
              <a:t>Citation</a:t>
            </a:r>
          </a:p>
        </p:txBody>
      </p:sp>
      <p:sp>
        <p:nvSpPr>
          <p:cNvPr id="4" name="Slide Number Placeholder 3">
            <a:extLst>
              <a:ext uri="{FF2B5EF4-FFF2-40B4-BE49-F238E27FC236}">
                <a16:creationId xmlns:a16="http://schemas.microsoft.com/office/drawing/2014/main" id="{BCD27FD5-B19A-001F-E9A6-43AA65B912A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4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400" b="0" i="0" u="none" strike="noStrike" kern="1200" cap="none" spc="0" normalizeH="0" baseline="0" noProof="0">
              <a:ln>
                <a:noFill/>
              </a:ln>
              <a:solidFill>
                <a:prstClr val="black"/>
              </a:solidFill>
              <a:effectLst/>
              <a:uLnTx/>
              <a:uFillTx/>
              <a:ea typeface="+mn-ea"/>
              <a:cs typeface="+mn-cs"/>
            </a:endParaRPr>
          </a:p>
        </p:txBody>
      </p:sp>
      <p:sp>
        <p:nvSpPr>
          <p:cNvPr id="6" name="Content Placeholder 5">
            <a:extLst>
              <a:ext uri="{FF2B5EF4-FFF2-40B4-BE49-F238E27FC236}">
                <a16:creationId xmlns:a16="http://schemas.microsoft.com/office/drawing/2014/main" id="{74E739B0-CC3C-1FF8-0BF2-E46105FD1FE2}"/>
              </a:ext>
            </a:extLst>
          </p:cNvPr>
          <p:cNvSpPr>
            <a:spLocks noGrp="1"/>
          </p:cNvSpPr>
          <p:nvPr>
            <p:ph idx="1"/>
          </p:nvPr>
        </p:nvSpPr>
        <p:spPr/>
        <p:txBody>
          <a:bodyPr>
            <a:normAutofit/>
          </a:bodyPr>
          <a:lstStyle/>
          <a:p>
            <a:pPr marL="0" indent="0">
              <a:buNone/>
            </a:pPr>
            <a:r>
              <a:rPr lang="en-US" dirty="0"/>
              <a:t>Zhu, W., Wang, D., Li, P., Deng, H., &amp; Deng, Z. (2025). Advances in Wastewater-Based Epidemiology for Pandemic Surveillance: Methodological Frameworks and Future Perspectives. </a:t>
            </a:r>
            <a:r>
              <a:rPr lang="en-US" i="1" dirty="0"/>
              <a:t>Microorganisms</a:t>
            </a:r>
            <a:r>
              <a:rPr lang="en-US" dirty="0"/>
              <a:t>, </a:t>
            </a:r>
            <a:r>
              <a:rPr lang="en-US" i="1" dirty="0"/>
              <a:t>13</a:t>
            </a:r>
            <a:r>
              <a:rPr lang="en-US" dirty="0"/>
              <a:t>(5), 1169. https://doi.org/10.3390/microorganisms13051169</a:t>
            </a:r>
            <a:endParaRPr lang="en-US" sz="2400" b="1" dirty="0"/>
          </a:p>
        </p:txBody>
      </p:sp>
    </p:spTree>
    <p:extLst>
      <p:ext uri="{BB962C8B-B14F-4D97-AF65-F5344CB8AC3E}">
        <p14:creationId xmlns:p14="http://schemas.microsoft.com/office/powerpoint/2010/main" val="4207104356"/>
      </p:ext>
    </p:extLst>
  </p:cSld>
  <p:clrMapOvr>
    <a:masterClrMapping/>
  </p:clrMapOvr>
</p:sld>
</file>

<file path=ppt/theme/theme1.xml><?xml version="1.0" encoding="utf-8"?>
<a:theme xmlns:a="http://schemas.openxmlformats.org/drawingml/2006/main" name="1_Office Theme">
  <a:themeElements>
    <a:clrScheme name="Custom 4">
      <a:dk1>
        <a:sysClr val="windowText" lastClr="000000"/>
      </a:dk1>
      <a:lt1>
        <a:sysClr val="window" lastClr="FFFFFF"/>
      </a:lt1>
      <a:dk2>
        <a:srgbClr val="1F497D"/>
      </a:dk2>
      <a:lt2>
        <a:srgbClr val="EEECE1"/>
      </a:lt2>
      <a:accent1>
        <a:srgbClr val="A60F2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vert="horz" wrap="square" lIns="91440" tIns="45720" rIns="91440" bIns="45720" rtlCol="0">
        <a:spAutoFit/>
      </a:bodyPr>
      <a:lstStyle>
        <a:defPPr>
          <a:defRPr sz="2000" i="1" dirty="0" smtClean="0"/>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1334</TotalTime>
  <Words>2558</Words>
  <Application>Microsoft Office PowerPoint</Application>
  <PresentationFormat>Widescreen</PresentationFormat>
  <Paragraphs>229</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Wingdings</vt:lpstr>
      <vt:lpstr>1_Office Theme</vt:lpstr>
      <vt:lpstr>Paper:  Advances in Wastewater-Based Epidemiology for Pandemic Surveillance: Methodological Frameworks and Future Perspectives</vt:lpstr>
      <vt:lpstr>What is WBE?</vt:lpstr>
      <vt:lpstr>Framework of Wastewater-Based Epidemiology</vt:lpstr>
      <vt:lpstr>Sampling and Pathogen Detection</vt:lpstr>
      <vt:lpstr>Data Preprocessing</vt:lpstr>
      <vt:lpstr>Predictive Modeling</vt:lpstr>
      <vt:lpstr>Applications</vt:lpstr>
      <vt:lpstr>Challenges and Limitations</vt:lpstr>
      <vt:lpstr>Personal Relevance</vt:lpstr>
      <vt:lpstr>Citation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Eric Kim</dc:creator>
  <cp:lastModifiedBy>Eric Kim</cp:lastModifiedBy>
  <cp:revision>1</cp:revision>
  <dcterms:created xsi:type="dcterms:W3CDTF">2025-12-10T04:47:16Z</dcterms:created>
  <dcterms:modified xsi:type="dcterms:W3CDTF">2026-02-25T06:59:22Z</dcterms:modified>
</cp:coreProperties>
</file>